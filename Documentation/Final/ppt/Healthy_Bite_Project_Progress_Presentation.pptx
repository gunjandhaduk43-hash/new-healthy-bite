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37"/>
  </p:notesMasterIdLst>
  <p:sldIdLst>
    <p:sldId id="323" r:id="rId2"/>
    <p:sldId id="342" r:id="rId3"/>
    <p:sldId id="324" r:id="rId4"/>
    <p:sldId id="343" r:id="rId5"/>
    <p:sldId id="325" r:id="rId6"/>
    <p:sldId id="350" r:id="rId7"/>
    <p:sldId id="326" r:id="rId8"/>
    <p:sldId id="327" r:id="rId9"/>
    <p:sldId id="353" r:id="rId10"/>
    <p:sldId id="354" r:id="rId11"/>
    <p:sldId id="355" r:id="rId12"/>
    <p:sldId id="356" r:id="rId13"/>
    <p:sldId id="357" r:id="rId14"/>
    <p:sldId id="358" r:id="rId15"/>
    <p:sldId id="359" r:id="rId16"/>
    <p:sldId id="360" r:id="rId17"/>
    <p:sldId id="361" r:id="rId18"/>
    <p:sldId id="362" r:id="rId19"/>
    <p:sldId id="363" r:id="rId20"/>
    <p:sldId id="364" r:id="rId21"/>
    <p:sldId id="365" r:id="rId22"/>
    <p:sldId id="366" r:id="rId23"/>
    <p:sldId id="367" r:id="rId24"/>
    <p:sldId id="368" r:id="rId25"/>
    <p:sldId id="369" r:id="rId26"/>
    <p:sldId id="328" r:id="rId27"/>
    <p:sldId id="345" r:id="rId28"/>
    <p:sldId id="329" r:id="rId29"/>
    <p:sldId id="330" r:id="rId30"/>
    <p:sldId id="346" r:id="rId31"/>
    <p:sldId id="347" r:id="rId32"/>
    <p:sldId id="351" r:id="rId33"/>
    <p:sldId id="348" r:id="rId34"/>
    <p:sldId id="349" r:id="rId35"/>
    <p:sldId id="264"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73F34E-01E6-424E-9B09-C3122745A52A}" v="39" dt="2026-10-05T07:51:53.2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60"/>
  </p:normalViewPr>
  <p:slideViewPr>
    <p:cSldViewPr>
      <p:cViewPr varScale="1">
        <p:scale>
          <a:sx n="82" d="100"/>
          <a:sy n="82" d="100"/>
        </p:scale>
        <p:origin x="1253"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njan Patel" userId="05827979715e9550" providerId="LiveId" clId="{9C592627-2F48-4F87-84D1-478FE362B464}"/>
    <pc:docChg chg="undo custSel addSld delSld modSld">
      <pc:chgData name="Gunjan Patel" userId="05827979715e9550" providerId="LiveId" clId="{9C592627-2F48-4F87-84D1-478FE362B464}" dt="2026-10-05T07:55:38.984" v="427" actId="47"/>
      <pc:docMkLst>
        <pc:docMk/>
      </pc:docMkLst>
      <pc:sldChg chg="modSp add del mod modTransition">
        <pc:chgData name="Gunjan Patel" userId="05827979715e9550" providerId="LiveId" clId="{9C592627-2F48-4F87-84D1-478FE362B464}" dt="2026-10-05T07:02:03.192" v="308"/>
        <pc:sldMkLst>
          <pc:docMk/>
          <pc:sldMk cId="0" sldId="257"/>
        </pc:sldMkLst>
        <pc:spChg chg="mod">
          <ac:chgData name="Gunjan Patel" userId="05827979715e9550" providerId="LiveId" clId="{9C592627-2F48-4F87-84D1-478FE362B464}" dt="2026-10-05T07:02:00.663" v="301" actId="14100"/>
          <ac:spMkLst>
            <pc:docMk/>
            <pc:sldMk cId="0" sldId="257"/>
            <ac:spMk id="2" creationId="{00000000-0000-0000-0000-000000000000}"/>
          </ac:spMkLst>
        </pc:spChg>
        <pc:spChg chg="mod">
          <ac:chgData name="Gunjan Patel" userId="05827979715e9550" providerId="LiveId" clId="{9C592627-2F48-4F87-84D1-478FE362B464}" dt="2026-10-05T07:01:59.673" v="298" actId="14100"/>
          <ac:spMkLst>
            <pc:docMk/>
            <pc:sldMk cId="0" sldId="257"/>
            <ac:spMk id="3" creationId="{00000000-0000-0000-0000-000000000000}"/>
          </ac:spMkLst>
        </pc:spChg>
        <pc:graphicFrameChg chg="mod modGraphic">
          <ac:chgData name="Gunjan Patel" userId="05827979715e9550" providerId="LiveId" clId="{9C592627-2F48-4F87-84D1-478FE362B464}" dt="2026-10-05T07:02:02.832" v="307" actId="404"/>
          <ac:graphicFrameMkLst>
            <pc:docMk/>
            <pc:sldMk cId="0" sldId="257"/>
            <ac:graphicFrameMk id="5" creationId="{00000000-0000-0000-0000-000000000000}"/>
          </ac:graphicFrameMkLst>
        </pc:graphicFrameChg>
      </pc:sldChg>
      <pc:sldChg chg="add del modTransition">
        <pc:chgData name="Gunjan Patel" userId="05827979715e9550" providerId="LiveId" clId="{9C592627-2F48-4F87-84D1-478FE362B464}" dt="2026-10-05T07:02:03.192" v="308"/>
        <pc:sldMkLst>
          <pc:docMk/>
          <pc:sldMk cId="0" sldId="258"/>
        </pc:sldMkLst>
      </pc:sldChg>
      <pc:sldChg chg="add del modTransition">
        <pc:chgData name="Gunjan Patel" userId="05827979715e9550" providerId="LiveId" clId="{9C592627-2F48-4F87-84D1-478FE362B464}" dt="2026-10-05T07:02:03.192" v="308"/>
        <pc:sldMkLst>
          <pc:docMk/>
          <pc:sldMk cId="0" sldId="259"/>
        </pc:sldMkLst>
      </pc:sldChg>
      <pc:sldChg chg="add del modTransition">
        <pc:chgData name="Gunjan Patel" userId="05827979715e9550" providerId="LiveId" clId="{9C592627-2F48-4F87-84D1-478FE362B464}" dt="2026-10-05T07:02:03.192" v="308"/>
        <pc:sldMkLst>
          <pc:docMk/>
          <pc:sldMk cId="0" sldId="260"/>
        </pc:sldMkLst>
      </pc:sldChg>
      <pc:sldChg chg="add del modTransition">
        <pc:chgData name="Gunjan Patel" userId="05827979715e9550" providerId="LiveId" clId="{9C592627-2F48-4F87-84D1-478FE362B464}" dt="2026-10-05T07:02:03.192" v="308"/>
        <pc:sldMkLst>
          <pc:docMk/>
          <pc:sldMk cId="0" sldId="261"/>
        </pc:sldMkLst>
      </pc:sldChg>
      <pc:sldChg chg="add del modTransition">
        <pc:chgData name="Gunjan Patel" userId="05827979715e9550" providerId="LiveId" clId="{9C592627-2F48-4F87-84D1-478FE362B464}" dt="2026-10-05T07:02:03.192" v="308"/>
        <pc:sldMkLst>
          <pc:docMk/>
          <pc:sldMk cId="0" sldId="262"/>
        </pc:sldMkLst>
      </pc:sldChg>
      <pc:sldChg chg="add del modTransition">
        <pc:chgData name="Gunjan Patel" userId="05827979715e9550" providerId="LiveId" clId="{9C592627-2F48-4F87-84D1-478FE362B464}" dt="2026-10-05T07:02:03.192" v="308"/>
        <pc:sldMkLst>
          <pc:docMk/>
          <pc:sldMk cId="0" sldId="263"/>
        </pc:sldMkLst>
      </pc:sldChg>
      <pc:sldChg chg="add del modTransition">
        <pc:chgData name="Gunjan Patel" userId="05827979715e9550" providerId="LiveId" clId="{9C592627-2F48-4F87-84D1-478FE362B464}" dt="2026-10-05T07:02:03.192" v="308"/>
        <pc:sldMkLst>
          <pc:docMk/>
          <pc:sldMk cId="0" sldId="265"/>
        </pc:sldMkLst>
      </pc:sldChg>
      <pc:sldChg chg="add del modTransition">
        <pc:chgData name="Gunjan Patel" userId="05827979715e9550" providerId="LiveId" clId="{9C592627-2F48-4F87-84D1-478FE362B464}" dt="2026-10-05T07:02:03.192" v="308"/>
        <pc:sldMkLst>
          <pc:docMk/>
          <pc:sldMk cId="0" sldId="266"/>
        </pc:sldMkLst>
      </pc:sldChg>
      <pc:sldChg chg="add del modTransition">
        <pc:chgData name="Gunjan Patel" userId="05827979715e9550" providerId="LiveId" clId="{9C592627-2F48-4F87-84D1-478FE362B464}" dt="2026-10-05T07:02:03.192" v="308"/>
        <pc:sldMkLst>
          <pc:docMk/>
          <pc:sldMk cId="0" sldId="267"/>
        </pc:sldMkLst>
      </pc:sldChg>
      <pc:sldChg chg="add del modTransition">
        <pc:chgData name="Gunjan Patel" userId="05827979715e9550" providerId="LiveId" clId="{9C592627-2F48-4F87-84D1-478FE362B464}" dt="2026-10-05T07:02:03.192" v="308"/>
        <pc:sldMkLst>
          <pc:docMk/>
          <pc:sldMk cId="0" sldId="268"/>
        </pc:sldMkLst>
      </pc:sldChg>
      <pc:sldChg chg="add del modTransition">
        <pc:chgData name="Gunjan Patel" userId="05827979715e9550" providerId="LiveId" clId="{9C592627-2F48-4F87-84D1-478FE362B464}" dt="2026-10-05T07:02:03.192" v="308"/>
        <pc:sldMkLst>
          <pc:docMk/>
          <pc:sldMk cId="0" sldId="269"/>
        </pc:sldMkLst>
      </pc:sldChg>
      <pc:sldChg chg="add del modTransition">
        <pc:chgData name="Gunjan Patel" userId="05827979715e9550" providerId="LiveId" clId="{9C592627-2F48-4F87-84D1-478FE362B464}" dt="2026-10-05T07:02:03.192" v="308"/>
        <pc:sldMkLst>
          <pc:docMk/>
          <pc:sldMk cId="0" sldId="270"/>
        </pc:sldMkLst>
      </pc:sldChg>
      <pc:sldChg chg="add del modTransition">
        <pc:chgData name="Gunjan Patel" userId="05827979715e9550" providerId="LiveId" clId="{9C592627-2F48-4F87-84D1-478FE362B464}" dt="2026-10-05T07:02:03.192" v="308"/>
        <pc:sldMkLst>
          <pc:docMk/>
          <pc:sldMk cId="0" sldId="271"/>
        </pc:sldMkLst>
      </pc:sldChg>
      <pc:sldChg chg="add del modTransition">
        <pc:chgData name="Gunjan Patel" userId="05827979715e9550" providerId="LiveId" clId="{9C592627-2F48-4F87-84D1-478FE362B464}" dt="2026-10-05T07:02:03.192" v="308"/>
        <pc:sldMkLst>
          <pc:docMk/>
          <pc:sldMk cId="0" sldId="272"/>
        </pc:sldMkLst>
      </pc:sldChg>
      <pc:sldChg chg="add del modTransition">
        <pc:chgData name="Gunjan Patel" userId="05827979715e9550" providerId="LiveId" clId="{9C592627-2F48-4F87-84D1-478FE362B464}" dt="2026-10-05T07:02:03.192" v="308"/>
        <pc:sldMkLst>
          <pc:docMk/>
          <pc:sldMk cId="0" sldId="273"/>
        </pc:sldMkLst>
      </pc:sldChg>
      <pc:sldChg chg="addSp modSp mod">
        <pc:chgData name="Gunjan Patel" userId="05827979715e9550" providerId="LiveId" clId="{9C592627-2F48-4F87-84D1-478FE362B464}" dt="2026-10-05T06:54:32.136" v="279" actId="1076"/>
        <pc:sldMkLst>
          <pc:docMk/>
          <pc:sldMk cId="351020433" sldId="323"/>
        </pc:sldMkLst>
        <pc:spChg chg="mod">
          <ac:chgData name="Gunjan Patel" userId="05827979715e9550" providerId="LiveId" clId="{9C592627-2F48-4F87-84D1-478FE362B464}" dt="2026-10-05T05:49:05.777" v="25" actId="20577"/>
          <ac:spMkLst>
            <pc:docMk/>
            <pc:sldMk cId="351020433" sldId="323"/>
            <ac:spMk id="2" creationId="{00000000-0000-0000-0000-000000000000}"/>
          </ac:spMkLst>
        </pc:spChg>
        <pc:spChg chg="mod">
          <ac:chgData name="Gunjan Patel" userId="05827979715e9550" providerId="LiveId" clId="{9C592627-2F48-4F87-84D1-478FE362B464}" dt="2026-10-05T06:54:28.921" v="278" actId="1076"/>
          <ac:spMkLst>
            <pc:docMk/>
            <pc:sldMk cId="351020433" sldId="323"/>
            <ac:spMk id="6" creationId="{00000000-0000-0000-0000-000000000000}"/>
          </ac:spMkLst>
        </pc:spChg>
        <pc:picChg chg="add mod">
          <ac:chgData name="Gunjan Patel" userId="05827979715e9550" providerId="LiveId" clId="{9C592627-2F48-4F87-84D1-478FE362B464}" dt="2026-10-05T06:54:32.136" v="279" actId="1076"/>
          <ac:picMkLst>
            <pc:docMk/>
            <pc:sldMk cId="351020433" sldId="323"/>
            <ac:picMk id="8" creationId="{60A08B98-B9AE-8C10-6BE8-7D03656EB22A}"/>
          </ac:picMkLst>
        </pc:picChg>
      </pc:sldChg>
      <pc:sldChg chg="modSp mod">
        <pc:chgData name="Gunjan Patel" userId="05827979715e9550" providerId="LiveId" clId="{9C592627-2F48-4F87-84D1-478FE362B464}" dt="2026-10-05T06:03:48.208" v="28" actId="404"/>
        <pc:sldMkLst>
          <pc:docMk/>
          <pc:sldMk cId="2473241302" sldId="324"/>
        </pc:sldMkLst>
        <pc:spChg chg="mod">
          <ac:chgData name="Gunjan Patel" userId="05827979715e9550" providerId="LiveId" clId="{9C592627-2F48-4F87-84D1-478FE362B464}" dt="2026-10-05T06:03:48.208" v="28" actId="404"/>
          <ac:spMkLst>
            <pc:docMk/>
            <pc:sldMk cId="2473241302" sldId="324"/>
            <ac:spMk id="3" creationId="{00000000-0000-0000-0000-000000000000}"/>
          </ac:spMkLst>
        </pc:spChg>
      </pc:sldChg>
      <pc:sldChg chg="modSp mod modClrScheme chgLayout">
        <pc:chgData name="Gunjan Patel" userId="05827979715e9550" providerId="LiveId" clId="{9C592627-2F48-4F87-84D1-478FE362B464}" dt="2026-10-05T07:53:38.935" v="421" actId="403"/>
        <pc:sldMkLst>
          <pc:docMk/>
          <pc:sldMk cId="204234253" sldId="325"/>
        </pc:sldMkLst>
        <pc:spChg chg="mod ord">
          <ac:chgData name="Gunjan Patel" userId="05827979715e9550" providerId="LiveId" clId="{9C592627-2F48-4F87-84D1-478FE362B464}" dt="2026-10-05T06:30:27.050" v="88" actId="700"/>
          <ac:spMkLst>
            <pc:docMk/>
            <pc:sldMk cId="204234253" sldId="325"/>
            <ac:spMk id="2" creationId="{00000000-0000-0000-0000-000000000000}"/>
          </ac:spMkLst>
        </pc:spChg>
        <pc:spChg chg="mod ord">
          <ac:chgData name="Gunjan Patel" userId="05827979715e9550" providerId="LiveId" clId="{9C592627-2F48-4F87-84D1-478FE362B464}" dt="2026-10-05T07:53:38.935" v="421" actId="403"/>
          <ac:spMkLst>
            <pc:docMk/>
            <pc:sldMk cId="204234253" sldId="325"/>
            <ac:spMk id="3" creationId="{00000000-0000-0000-0000-000000000000}"/>
          </ac:spMkLst>
        </pc:spChg>
      </pc:sldChg>
      <pc:sldChg chg="modSp mod">
        <pc:chgData name="Gunjan Patel" userId="05827979715e9550" providerId="LiveId" clId="{9C592627-2F48-4F87-84D1-478FE362B464}" dt="2026-10-05T06:33:39.124" v="120" actId="207"/>
        <pc:sldMkLst>
          <pc:docMk/>
          <pc:sldMk cId="200901747" sldId="326"/>
        </pc:sldMkLst>
        <pc:spChg chg="mod">
          <ac:chgData name="Gunjan Patel" userId="05827979715e9550" providerId="LiveId" clId="{9C592627-2F48-4F87-84D1-478FE362B464}" dt="2026-10-05T06:33:27.736" v="117" actId="1076"/>
          <ac:spMkLst>
            <pc:docMk/>
            <pc:sldMk cId="200901747" sldId="326"/>
            <ac:spMk id="2" creationId="{00000000-0000-0000-0000-000000000000}"/>
          </ac:spMkLst>
        </pc:spChg>
        <pc:spChg chg="mod">
          <ac:chgData name="Gunjan Patel" userId="05827979715e9550" providerId="LiveId" clId="{9C592627-2F48-4F87-84D1-478FE362B464}" dt="2026-10-05T06:33:39.124" v="120" actId="207"/>
          <ac:spMkLst>
            <pc:docMk/>
            <pc:sldMk cId="200901747" sldId="326"/>
            <ac:spMk id="3" creationId="{00000000-0000-0000-0000-000000000000}"/>
          </ac:spMkLst>
        </pc:spChg>
      </pc:sldChg>
      <pc:sldChg chg="addSp modSp mod">
        <pc:chgData name="Gunjan Patel" userId="05827979715e9550" providerId="LiveId" clId="{9C592627-2F48-4F87-84D1-478FE362B464}" dt="2026-10-05T06:34:15.880" v="129" actId="1076"/>
        <pc:sldMkLst>
          <pc:docMk/>
          <pc:sldMk cId="309923490" sldId="328"/>
        </pc:sldMkLst>
        <pc:spChg chg="mod">
          <ac:chgData name="Gunjan Patel" userId="05827979715e9550" providerId="LiveId" clId="{9C592627-2F48-4F87-84D1-478FE362B464}" dt="2026-10-05T06:34:15.880" v="129" actId="1076"/>
          <ac:spMkLst>
            <pc:docMk/>
            <pc:sldMk cId="309923490" sldId="328"/>
            <ac:spMk id="2" creationId="{00000000-0000-0000-0000-000000000000}"/>
          </ac:spMkLst>
        </pc:spChg>
        <pc:spChg chg="mod">
          <ac:chgData name="Gunjan Patel" userId="05827979715e9550" providerId="LiveId" clId="{9C592627-2F48-4F87-84D1-478FE362B464}" dt="2026-10-05T06:27:07.192" v="72" actId="6549"/>
          <ac:spMkLst>
            <pc:docMk/>
            <pc:sldMk cId="309923490" sldId="328"/>
            <ac:spMk id="3" creationId="{00000000-0000-0000-0000-000000000000}"/>
          </ac:spMkLst>
        </pc:spChg>
        <pc:graphicFrameChg chg="add mod modGraphic">
          <ac:chgData name="Gunjan Patel" userId="05827979715e9550" providerId="LiveId" clId="{9C592627-2F48-4F87-84D1-478FE362B464}" dt="2026-10-05T06:34:09.291" v="128" actId="404"/>
          <ac:graphicFrameMkLst>
            <pc:docMk/>
            <pc:sldMk cId="309923490" sldId="328"/>
            <ac:graphicFrameMk id="4" creationId="{6E622BE2-50B4-E132-0189-CD70B03D66EB}"/>
          </ac:graphicFrameMkLst>
        </pc:graphicFrameChg>
      </pc:sldChg>
      <pc:sldChg chg="delSp modSp mod">
        <pc:chgData name="Gunjan Patel" userId="05827979715e9550" providerId="LiveId" clId="{9C592627-2F48-4F87-84D1-478FE362B464}" dt="2026-10-05T06:36:25.019" v="148"/>
        <pc:sldMkLst>
          <pc:docMk/>
          <pc:sldMk cId="4176782129" sldId="329"/>
        </pc:sldMkLst>
        <pc:spChg chg="del mod">
          <ac:chgData name="Gunjan Patel" userId="05827979715e9550" providerId="LiveId" clId="{9C592627-2F48-4F87-84D1-478FE362B464}" dt="2026-10-05T06:36:25.019" v="148"/>
          <ac:spMkLst>
            <pc:docMk/>
            <pc:sldMk cId="4176782129" sldId="329"/>
            <ac:spMk id="2" creationId="{00000000-0000-0000-0000-000000000000}"/>
          </ac:spMkLst>
        </pc:spChg>
        <pc:picChg chg="mod">
          <ac:chgData name="Gunjan Patel" userId="05827979715e9550" providerId="LiveId" clId="{9C592627-2F48-4F87-84D1-478FE362B464}" dt="2026-10-05T06:36:24.257" v="146" actId="1076"/>
          <ac:picMkLst>
            <pc:docMk/>
            <pc:sldMk cId="4176782129" sldId="329"/>
            <ac:picMk id="5" creationId="{4175576A-A05B-45E2-11DB-102F32911607}"/>
          </ac:picMkLst>
        </pc:picChg>
      </pc:sldChg>
      <pc:sldChg chg="modSp mod">
        <pc:chgData name="Gunjan Patel" userId="05827979715e9550" providerId="LiveId" clId="{9C592627-2F48-4F87-84D1-478FE362B464}" dt="2026-10-05T06:10:18.097" v="36" actId="207"/>
        <pc:sldMkLst>
          <pc:docMk/>
          <pc:sldMk cId="4215993397" sldId="343"/>
        </pc:sldMkLst>
        <pc:spChg chg="mod">
          <ac:chgData name="Gunjan Patel" userId="05827979715e9550" providerId="LiveId" clId="{9C592627-2F48-4F87-84D1-478FE362B464}" dt="2026-10-05T06:10:18.097" v="36" actId="207"/>
          <ac:spMkLst>
            <pc:docMk/>
            <pc:sldMk cId="4215993397" sldId="343"/>
            <ac:spMk id="3" creationId="{00000000-0000-0000-0000-000000000000}"/>
          </ac:spMkLst>
        </pc:spChg>
      </pc:sldChg>
      <pc:sldChg chg="delSp modSp del mod">
        <pc:chgData name="Gunjan Patel" userId="05827979715e9550" providerId="LiveId" clId="{9C592627-2F48-4F87-84D1-478FE362B464}" dt="2026-10-05T06:15:30.611" v="43" actId="47"/>
        <pc:sldMkLst>
          <pc:docMk/>
          <pc:sldMk cId="1896386162" sldId="344"/>
        </pc:sldMkLst>
        <pc:picChg chg="del mod">
          <ac:chgData name="Gunjan Patel" userId="05827979715e9550" providerId="LiveId" clId="{9C592627-2F48-4F87-84D1-478FE362B464}" dt="2026-10-05T06:04:22.364" v="32" actId="478"/>
          <ac:picMkLst>
            <pc:docMk/>
            <pc:sldMk cId="1896386162" sldId="344"/>
            <ac:picMk id="8" creationId="{72A7EF0D-9C59-35A0-F3B3-1EE1890E177E}"/>
          </ac:picMkLst>
        </pc:picChg>
      </pc:sldChg>
      <pc:sldChg chg="modSp mod">
        <pc:chgData name="Gunjan Patel" userId="05827979715e9550" providerId="LiveId" clId="{9C592627-2F48-4F87-84D1-478FE362B464}" dt="2026-10-05T06:35:16.064" v="135" actId="14100"/>
        <pc:sldMkLst>
          <pc:docMk/>
          <pc:sldMk cId="244236632" sldId="345"/>
        </pc:sldMkLst>
        <pc:picChg chg="mod">
          <ac:chgData name="Gunjan Patel" userId="05827979715e9550" providerId="LiveId" clId="{9C592627-2F48-4F87-84D1-478FE362B464}" dt="2026-10-05T06:35:16.064" v="135" actId="14100"/>
          <ac:picMkLst>
            <pc:docMk/>
            <pc:sldMk cId="244236632" sldId="345"/>
            <ac:picMk id="3" creationId="{00000000-0000-0000-0000-000000000000}"/>
          </ac:picMkLst>
        </pc:picChg>
      </pc:sldChg>
      <pc:sldChg chg="addSp delSp modSp mod">
        <pc:chgData name="Gunjan Patel" userId="05827979715e9550" providerId="LiveId" clId="{9C592627-2F48-4F87-84D1-478FE362B464}" dt="2026-10-05T06:39:05.778" v="159" actId="14826"/>
        <pc:sldMkLst>
          <pc:docMk/>
          <pc:sldMk cId="3372653069" sldId="346"/>
        </pc:sldMkLst>
        <pc:spChg chg="mod">
          <ac:chgData name="Gunjan Patel" userId="05827979715e9550" providerId="LiveId" clId="{9C592627-2F48-4F87-84D1-478FE362B464}" dt="2026-10-05T06:38:33.815" v="157" actId="1076"/>
          <ac:spMkLst>
            <pc:docMk/>
            <pc:sldMk cId="3372653069" sldId="346"/>
            <ac:spMk id="2" creationId="{00000000-0000-0000-0000-000000000000}"/>
          </ac:spMkLst>
        </pc:spChg>
        <pc:picChg chg="add mod">
          <ac:chgData name="Gunjan Patel" userId="05827979715e9550" providerId="LiveId" clId="{9C592627-2F48-4F87-84D1-478FE362B464}" dt="2026-10-05T06:39:05.778" v="159" actId="14826"/>
          <ac:picMkLst>
            <pc:docMk/>
            <pc:sldMk cId="3372653069" sldId="346"/>
            <ac:picMk id="4" creationId="{92EA056A-A302-D6EA-7AFE-F3748DB60BDC}"/>
          </ac:picMkLst>
        </pc:picChg>
        <pc:picChg chg="del">
          <ac:chgData name="Gunjan Patel" userId="05827979715e9550" providerId="LiveId" clId="{9C592627-2F48-4F87-84D1-478FE362B464}" dt="2026-10-05T06:38:10.581" v="149" actId="478"/>
          <ac:picMkLst>
            <pc:docMk/>
            <pc:sldMk cId="3372653069" sldId="346"/>
            <ac:picMk id="5" creationId="{39196084-4037-080E-3524-36264A2AC0AC}"/>
          </ac:picMkLst>
        </pc:picChg>
      </pc:sldChg>
      <pc:sldChg chg="modSp mod">
        <pc:chgData name="Gunjan Patel" userId="05827979715e9550" providerId="LiveId" clId="{9C592627-2F48-4F87-84D1-478FE362B464}" dt="2026-10-05T06:40:14.271" v="162" actId="1076"/>
        <pc:sldMkLst>
          <pc:docMk/>
          <pc:sldMk cId="3391887224" sldId="347"/>
        </pc:sldMkLst>
        <pc:spChg chg="mod">
          <ac:chgData name="Gunjan Patel" userId="05827979715e9550" providerId="LiveId" clId="{9C592627-2F48-4F87-84D1-478FE362B464}" dt="2026-10-05T06:40:14.271" v="162" actId="1076"/>
          <ac:spMkLst>
            <pc:docMk/>
            <pc:sldMk cId="3391887224" sldId="347"/>
            <ac:spMk id="2" creationId="{00000000-0000-0000-0000-000000000000}"/>
          </ac:spMkLst>
        </pc:spChg>
        <pc:picChg chg="mod">
          <ac:chgData name="Gunjan Patel" userId="05827979715e9550" providerId="LiveId" clId="{9C592627-2F48-4F87-84D1-478FE362B464}" dt="2026-10-05T06:39:19.585" v="160" actId="14826"/>
          <ac:picMkLst>
            <pc:docMk/>
            <pc:sldMk cId="3391887224" sldId="347"/>
            <ac:picMk id="5" creationId="{E4C8CB4B-2FCE-C696-2C21-7F2C0E5E7DE1}"/>
          </ac:picMkLst>
        </pc:picChg>
      </pc:sldChg>
      <pc:sldChg chg="modSp mod">
        <pc:chgData name="Gunjan Patel" userId="05827979715e9550" providerId="LiveId" clId="{9C592627-2F48-4F87-84D1-478FE362B464}" dt="2026-10-05T06:47:06.668" v="251" actId="1076"/>
        <pc:sldMkLst>
          <pc:docMk/>
          <pc:sldMk cId="1919646332" sldId="348"/>
        </pc:sldMkLst>
        <pc:spChg chg="mod">
          <ac:chgData name="Gunjan Patel" userId="05827979715e9550" providerId="LiveId" clId="{9C592627-2F48-4F87-84D1-478FE362B464}" dt="2026-10-05T06:47:06.668" v="251" actId="1076"/>
          <ac:spMkLst>
            <pc:docMk/>
            <pc:sldMk cId="1919646332" sldId="348"/>
            <ac:spMk id="2" creationId="{00000000-0000-0000-0000-000000000000}"/>
          </ac:spMkLst>
        </pc:spChg>
        <pc:picChg chg="mod modCrop">
          <ac:chgData name="Gunjan Patel" userId="05827979715e9550" providerId="LiveId" clId="{9C592627-2F48-4F87-84D1-478FE362B464}" dt="2026-10-05T06:46:59.379" v="250" actId="14100"/>
          <ac:picMkLst>
            <pc:docMk/>
            <pc:sldMk cId="1919646332" sldId="348"/>
            <ac:picMk id="9" creationId="{46E0EBB4-DEBC-60A7-29E8-ED0A74AE66EF}"/>
          </ac:picMkLst>
        </pc:picChg>
      </pc:sldChg>
      <pc:sldChg chg="addSp delSp modSp mod">
        <pc:chgData name="Gunjan Patel" userId="05827979715e9550" providerId="LiveId" clId="{9C592627-2F48-4F87-84D1-478FE362B464}" dt="2026-10-05T06:25:39.547" v="69" actId="1076"/>
        <pc:sldMkLst>
          <pc:docMk/>
          <pc:sldMk cId="4031927809" sldId="349"/>
        </pc:sldMkLst>
        <pc:spChg chg="mod">
          <ac:chgData name="Gunjan Patel" userId="05827979715e9550" providerId="LiveId" clId="{9C592627-2F48-4F87-84D1-478FE362B464}" dt="2026-10-05T06:25:22.084" v="65" actId="1076"/>
          <ac:spMkLst>
            <pc:docMk/>
            <pc:sldMk cId="4031927809" sldId="349"/>
            <ac:spMk id="2" creationId="{00000000-0000-0000-0000-000000000000}"/>
          </ac:spMkLst>
        </pc:spChg>
        <pc:picChg chg="add mod">
          <ac:chgData name="Gunjan Patel" userId="05827979715e9550" providerId="LiveId" clId="{9C592627-2F48-4F87-84D1-478FE362B464}" dt="2026-10-05T06:25:39.547" v="69" actId="1076"/>
          <ac:picMkLst>
            <pc:docMk/>
            <pc:sldMk cId="4031927809" sldId="349"/>
            <ac:picMk id="4" creationId="{7B576956-F450-E278-D65F-88EB3BC48E6E}"/>
          </ac:picMkLst>
        </pc:picChg>
        <pc:picChg chg="del">
          <ac:chgData name="Gunjan Patel" userId="05827979715e9550" providerId="LiveId" clId="{9C592627-2F48-4F87-84D1-478FE362B464}" dt="2026-10-05T06:25:05.538" v="62" actId="478"/>
          <ac:picMkLst>
            <pc:docMk/>
            <pc:sldMk cId="4031927809" sldId="349"/>
            <ac:picMk id="5" creationId="{36B886EA-E6B3-D5AD-63ED-BFC357E1EBBA}"/>
          </ac:picMkLst>
        </pc:picChg>
      </pc:sldChg>
      <pc:sldChg chg="addSp delSp modSp new del mod chgLayout">
        <pc:chgData name="Gunjan Patel" userId="05827979715e9550" providerId="LiveId" clId="{9C592627-2F48-4F87-84D1-478FE362B464}" dt="2026-10-05T06:19:49.028" v="60" actId="47"/>
        <pc:sldMkLst>
          <pc:docMk/>
          <pc:sldMk cId="513317026" sldId="350"/>
        </pc:sldMkLst>
        <pc:spChg chg="add del mod">
          <ac:chgData name="Gunjan Patel" userId="05827979715e9550" providerId="LiveId" clId="{9C592627-2F48-4F87-84D1-478FE362B464}" dt="2026-10-05T06:19:42.321" v="57"/>
          <ac:spMkLst>
            <pc:docMk/>
            <pc:sldMk cId="513317026" sldId="350"/>
            <ac:spMk id="3" creationId="{B346503D-A66E-46A9-343C-74595E412FA3}"/>
          </ac:spMkLst>
        </pc:spChg>
      </pc:sldChg>
      <pc:sldChg chg="delSp modSp new mod">
        <pc:chgData name="Gunjan Patel" userId="05827979715e9550" providerId="LiveId" clId="{9C592627-2F48-4F87-84D1-478FE362B464}" dt="2026-10-05T07:53:46.551" v="426" actId="403"/>
        <pc:sldMkLst>
          <pc:docMk/>
          <pc:sldMk cId="1348057020" sldId="350"/>
        </pc:sldMkLst>
        <pc:spChg chg="del">
          <ac:chgData name="Gunjan Patel" userId="05827979715e9550" providerId="LiveId" clId="{9C592627-2F48-4F87-84D1-478FE362B464}" dt="2026-10-05T06:30:44.709" v="90" actId="478"/>
          <ac:spMkLst>
            <pc:docMk/>
            <pc:sldMk cId="1348057020" sldId="350"/>
            <ac:spMk id="2" creationId="{0A008322-E0CD-E414-D394-F52E53A93629}"/>
          </ac:spMkLst>
        </pc:spChg>
        <pc:spChg chg="mod">
          <ac:chgData name="Gunjan Patel" userId="05827979715e9550" providerId="LiveId" clId="{9C592627-2F48-4F87-84D1-478FE362B464}" dt="2026-10-05T07:53:46.551" v="426" actId="403"/>
          <ac:spMkLst>
            <pc:docMk/>
            <pc:sldMk cId="1348057020" sldId="350"/>
            <ac:spMk id="3" creationId="{5F523FF5-8D81-96BB-C4E2-D985EBF92DD2}"/>
          </ac:spMkLst>
        </pc:spChg>
      </pc:sldChg>
      <pc:sldChg chg="addSp delSp modSp new mod">
        <pc:chgData name="Gunjan Patel" userId="05827979715e9550" providerId="LiveId" clId="{9C592627-2F48-4F87-84D1-478FE362B464}" dt="2026-10-05T06:45:40.804" v="239" actId="1076"/>
        <pc:sldMkLst>
          <pc:docMk/>
          <pc:sldMk cId="2013556864" sldId="351"/>
        </pc:sldMkLst>
        <pc:spChg chg="add mod">
          <ac:chgData name="Gunjan Patel" userId="05827979715e9550" providerId="LiveId" clId="{9C592627-2F48-4F87-84D1-478FE362B464}" dt="2026-10-05T06:40:28.574" v="166" actId="1076"/>
          <ac:spMkLst>
            <pc:docMk/>
            <pc:sldMk cId="2013556864" sldId="351"/>
            <ac:spMk id="3" creationId="{D1B36656-0B7B-0A94-7771-639C3EBEDE54}"/>
          </ac:spMkLst>
        </pc:spChg>
        <pc:picChg chg="add mod">
          <ac:chgData name="Gunjan Patel" userId="05827979715e9550" providerId="LiveId" clId="{9C592627-2F48-4F87-84D1-478FE362B464}" dt="2026-10-05T06:45:40.804" v="239" actId="1076"/>
          <ac:picMkLst>
            <pc:docMk/>
            <pc:sldMk cId="2013556864" sldId="351"/>
            <ac:picMk id="5" creationId="{087FA83C-0D6A-C8AC-85DB-B04D91A4027B}"/>
          </ac:picMkLst>
        </pc:picChg>
        <pc:picChg chg="add mod">
          <ac:chgData name="Gunjan Patel" userId="05827979715e9550" providerId="LiveId" clId="{9C592627-2F48-4F87-84D1-478FE362B464}" dt="2026-10-05T06:44:59.508" v="234" actId="14100"/>
          <ac:picMkLst>
            <pc:docMk/>
            <pc:sldMk cId="2013556864" sldId="351"/>
            <ac:picMk id="7" creationId="{3BB8D665-32CD-3D8B-CE34-A77F6CD97B24}"/>
          </ac:picMkLst>
        </pc:picChg>
        <pc:picChg chg="add del mod">
          <ac:chgData name="Gunjan Patel" userId="05827979715e9550" providerId="LiveId" clId="{9C592627-2F48-4F87-84D1-478FE362B464}" dt="2026-10-05T06:41:32.611" v="179" actId="478"/>
          <ac:picMkLst>
            <pc:docMk/>
            <pc:sldMk cId="2013556864" sldId="351"/>
            <ac:picMk id="9" creationId="{807993C0-5FB4-9633-E176-78F1AABA3E18}"/>
          </ac:picMkLst>
        </pc:picChg>
        <pc:picChg chg="add del mod">
          <ac:chgData name="Gunjan Patel" userId="05827979715e9550" providerId="LiveId" clId="{9C592627-2F48-4F87-84D1-478FE362B464}" dt="2026-10-05T06:41:32.611" v="179" actId="478"/>
          <ac:picMkLst>
            <pc:docMk/>
            <pc:sldMk cId="2013556864" sldId="351"/>
            <ac:picMk id="11" creationId="{D9C79E9C-1223-A129-E98A-493A76DAD576}"/>
          </ac:picMkLst>
        </pc:picChg>
        <pc:picChg chg="add del mod">
          <ac:chgData name="Gunjan Patel" userId="05827979715e9550" providerId="LiveId" clId="{9C592627-2F48-4F87-84D1-478FE362B464}" dt="2026-10-05T06:41:32.611" v="179" actId="478"/>
          <ac:picMkLst>
            <pc:docMk/>
            <pc:sldMk cId="2013556864" sldId="351"/>
            <ac:picMk id="13" creationId="{B045956C-C96E-DE67-1588-A8FB85B2168B}"/>
          </ac:picMkLst>
        </pc:picChg>
        <pc:picChg chg="add mod">
          <ac:chgData name="Gunjan Patel" userId="05827979715e9550" providerId="LiveId" clId="{9C592627-2F48-4F87-84D1-478FE362B464}" dt="2026-10-05T06:45:07.613" v="236" actId="14100"/>
          <ac:picMkLst>
            <pc:docMk/>
            <pc:sldMk cId="2013556864" sldId="351"/>
            <ac:picMk id="15" creationId="{ADCAEF31-9D0F-CE34-D8D5-438883036C22}"/>
          </ac:picMkLst>
        </pc:picChg>
        <pc:picChg chg="add mod ord">
          <ac:chgData name="Gunjan Patel" userId="05827979715e9550" providerId="LiveId" clId="{9C592627-2F48-4F87-84D1-478FE362B464}" dt="2026-10-05T06:44:55.422" v="233" actId="14100"/>
          <ac:picMkLst>
            <pc:docMk/>
            <pc:sldMk cId="2013556864" sldId="351"/>
            <ac:picMk id="17" creationId="{3AC2FC20-1C3E-152F-2617-CA78DC03B67E}"/>
          </ac:picMkLst>
        </pc:picChg>
        <pc:picChg chg="add mod ord">
          <ac:chgData name="Gunjan Patel" userId="05827979715e9550" providerId="LiveId" clId="{9C592627-2F48-4F87-84D1-478FE362B464}" dt="2026-10-05T06:45:18.268" v="238" actId="14100"/>
          <ac:picMkLst>
            <pc:docMk/>
            <pc:sldMk cId="2013556864" sldId="351"/>
            <ac:picMk id="19" creationId="{2BA414F4-ED06-8359-EBA5-C24FBF5650C7}"/>
          </ac:picMkLst>
        </pc:picChg>
      </pc:sldChg>
      <pc:sldChg chg="new del">
        <pc:chgData name="Gunjan Patel" userId="05827979715e9550" providerId="LiveId" clId="{9C592627-2F48-4F87-84D1-478FE362B464}" dt="2026-10-05T07:55:38.984" v="427" actId="47"/>
        <pc:sldMkLst>
          <pc:docMk/>
          <pc:sldMk cId="3682227341" sldId="352"/>
        </pc:sldMkLst>
      </pc:sldChg>
      <pc:sldChg chg="addSp delSp modSp add del mod modTransition">
        <pc:chgData name="Gunjan Patel" userId="05827979715e9550" providerId="LiveId" clId="{9C592627-2F48-4F87-84D1-478FE362B464}" dt="2026-10-05T07:51:53.260" v="404"/>
        <pc:sldMkLst>
          <pc:docMk/>
          <pc:sldMk cId="0" sldId="353"/>
        </pc:sldMkLst>
        <pc:spChg chg="add del">
          <ac:chgData name="Gunjan Patel" userId="05827979715e9550" providerId="LiveId" clId="{9C592627-2F48-4F87-84D1-478FE362B464}" dt="2026-10-05T07:48:14.394" v="334" actId="478"/>
          <ac:spMkLst>
            <pc:docMk/>
            <pc:sldMk cId="0" sldId="353"/>
            <ac:spMk id="3" creationId="{00000000-0000-0000-0000-000000000000}"/>
          </ac:spMkLst>
        </pc:spChg>
        <pc:spChg chg="add del mod">
          <ac:chgData name="Gunjan Patel" userId="05827979715e9550" providerId="LiveId" clId="{9C592627-2F48-4F87-84D1-478FE362B464}" dt="2026-10-05T07:48:16.169" v="337" actId="1076"/>
          <ac:spMkLst>
            <pc:docMk/>
            <pc:sldMk cId="0" sldId="353"/>
            <ac:spMk id="4" creationId="{00000000-0000-0000-0000-000000000000}"/>
          </ac:spMkLst>
        </pc:spChg>
        <pc:spChg chg="mod">
          <ac:chgData name="Gunjan Patel" userId="05827979715e9550" providerId="LiveId" clId="{9C592627-2F48-4F87-84D1-478FE362B464}" dt="2026-10-05T07:48:14.942" v="335" actId="1076"/>
          <ac:spMkLst>
            <pc:docMk/>
            <pc:sldMk cId="0" sldId="353"/>
            <ac:spMk id="5" creationId="{00000000-0000-0000-0000-000000000000}"/>
          </ac:spMkLst>
        </pc:spChg>
        <pc:spChg chg="mod">
          <ac:chgData name="Gunjan Patel" userId="05827979715e9550" providerId="LiveId" clId="{9C592627-2F48-4F87-84D1-478FE362B464}" dt="2026-10-05T07:48:11.555" v="328" actId="1076"/>
          <ac:spMkLst>
            <pc:docMk/>
            <pc:sldMk cId="0" sldId="353"/>
            <ac:spMk id="6" creationId="{00000000-0000-0000-0000-000000000000}"/>
          </ac:spMkLst>
        </pc:spChg>
        <pc:spChg chg="add del">
          <ac:chgData name="Gunjan Patel" userId="05827979715e9550" providerId="LiveId" clId="{9C592627-2F48-4F87-84D1-478FE362B464}" dt="2026-10-05T07:48:12.012" v="329" actId="478"/>
          <ac:spMkLst>
            <pc:docMk/>
            <pc:sldMk cId="0" sldId="353"/>
            <ac:spMk id="7" creationId="{00000000-0000-0000-0000-000000000000}"/>
          </ac:spMkLst>
        </pc:spChg>
        <pc:graphicFrameChg chg="mod">
          <ac:chgData name="Gunjan Patel" userId="05827979715e9550" providerId="LiveId" clId="{9C592627-2F48-4F87-84D1-478FE362B464}" dt="2026-10-05T07:48:09.404" v="326" actId="1076"/>
          <ac:graphicFrameMkLst>
            <pc:docMk/>
            <pc:sldMk cId="0" sldId="353"/>
            <ac:graphicFrameMk id="8" creationId="{00000000-0000-0000-0000-000000000000}"/>
          </ac:graphicFrameMkLst>
        </pc:graphicFrameChg>
        <pc:picChg chg="mod">
          <ac:chgData name="Gunjan Patel" userId="05827979715e9550" providerId="LiveId" clId="{9C592627-2F48-4F87-84D1-478FE362B464}" dt="2026-10-05T07:48:10.076" v="327" actId="1076"/>
          <ac:picMkLst>
            <pc:docMk/>
            <pc:sldMk cId="0" sldId="353"/>
            <ac:picMk id="2" creationId="{00000000-0000-0000-0000-000000000000}"/>
          </ac:picMkLst>
        </pc:picChg>
      </pc:sldChg>
      <pc:sldChg chg="addSp delSp modSp new del mod">
        <pc:chgData name="Gunjan Patel" userId="05827979715e9550" providerId="LiveId" clId="{9C592627-2F48-4F87-84D1-478FE362B464}" dt="2026-10-05T07:00:50.460" v="280" actId="47"/>
        <pc:sldMkLst>
          <pc:docMk/>
          <pc:sldMk cId="2229133949" sldId="353"/>
        </pc:sldMkLst>
        <pc:spChg chg="del">
          <ac:chgData name="Gunjan Patel" userId="05827979715e9550" providerId="LiveId" clId="{9C592627-2F48-4F87-84D1-478FE362B464}" dt="2026-10-05T06:49:20.988" v="258" actId="478"/>
          <ac:spMkLst>
            <pc:docMk/>
            <pc:sldMk cId="2229133949" sldId="353"/>
            <ac:spMk id="2" creationId="{C2C48A66-847C-6819-F5AB-561E423C9676}"/>
          </ac:spMkLst>
        </pc:spChg>
        <pc:spChg chg="del mod">
          <ac:chgData name="Gunjan Patel" userId="05827979715e9550" providerId="LiveId" clId="{9C592627-2F48-4F87-84D1-478FE362B464}" dt="2026-10-05T06:49:23.731" v="259" actId="22"/>
          <ac:spMkLst>
            <pc:docMk/>
            <pc:sldMk cId="2229133949" sldId="353"/>
            <ac:spMk id="3" creationId="{4B7CF848-5BE7-34B5-F863-44B69A038F39}"/>
          </ac:spMkLst>
        </pc:spChg>
        <pc:spChg chg="add mod">
          <ac:chgData name="Gunjan Patel" userId="05827979715e9550" providerId="LiveId" clId="{9C592627-2F48-4F87-84D1-478FE362B464}" dt="2026-10-05T06:49:49.149" v="267" actId="478"/>
          <ac:spMkLst>
            <pc:docMk/>
            <pc:sldMk cId="2229133949" sldId="353"/>
            <ac:spMk id="7" creationId="{0D290C6D-AACC-8890-59C2-786D13DA4573}"/>
          </ac:spMkLst>
        </pc:spChg>
        <pc:picChg chg="add del mod ord">
          <ac:chgData name="Gunjan Patel" userId="05827979715e9550" providerId="LiveId" clId="{9C592627-2F48-4F87-84D1-478FE362B464}" dt="2026-10-05T06:49:49.149" v="267" actId="478"/>
          <ac:picMkLst>
            <pc:docMk/>
            <pc:sldMk cId="2229133949" sldId="353"/>
            <ac:picMk id="5" creationId="{FB9B30D7-3EAF-8A89-A133-957499B45A61}"/>
          </ac:picMkLst>
        </pc:picChg>
      </pc:sldChg>
      <pc:sldChg chg="addSp delSp modSp new del mod">
        <pc:chgData name="Gunjan Patel" userId="05827979715e9550" providerId="LiveId" clId="{9C592627-2F48-4F87-84D1-478FE362B464}" dt="2026-10-05T07:51:38.895" v="403" actId="47"/>
        <pc:sldMkLst>
          <pc:docMk/>
          <pc:sldMk cId="2523249777" sldId="353"/>
        </pc:sldMkLst>
        <pc:spChg chg="del">
          <ac:chgData name="Gunjan Patel" userId="05827979715e9550" providerId="LiveId" clId="{9C592627-2F48-4F87-84D1-478FE362B464}" dt="2026-10-05T07:48:36.711" v="342"/>
          <ac:spMkLst>
            <pc:docMk/>
            <pc:sldMk cId="2523249777" sldId="353"/>
            <ac:spMk id="2" creationId="{D3EADFA6-874D-66C3-CD2F-1691D56BAB1E}"/>
          </ac:spMkLst>
        </pc:spChg>
        <pc:spChg chg="add del">
          <ac:chgData name="Gunjan Patel" userId="05827979715e9550" providerId="LiveId" clId="{9C592627-2F48-4F87-84D1-478FE362B464}" dt="2026-10-05T07:51:27.569" v="391"/>
          <ac:spMkLst>
            <pc:docMk/>
            <pc:sldMk cId="2523249777" sldId="353"/>
            <ac:spMk id="3" creationId="{08FB03A2-893F-5F75-AB55-0497763F1D1B}"/>
          </ac:spMkLst>
        </pc:spChg>
        <pc:spChg chg="add del mod">
          <ac:chgData name="Gunjan Patel" userId="05827979715e9550" providerId="LiveId" clId="{9C592627-2F48-4F87-84D1-478FE362B464}" dt="2026-10-05T07:48:54.101" v="347" actId="478"/>
          <ac:spMkLst>
            <pc:docMk/>
            <pc:sldMk cId="2523249777" sldId="353"/>
            <ac:spMk id="4" creationId="{956215C5-FEAB-AAE1-FFA4-22EA85C591A2}"/>
          </ac:spMkLst>
        </pc:spChg>
        <pc:spChg chg="add del mod">
          <ac:chgData name="Gunjan Patel" userId="05827979715e9550" providerId="LiveId" clId="{9C592627-2F48-4F87-84D1-478FE362B464}" dt="2026-10-05T07:51:27.420" v="387"/>
          <ac:spMkLst>
            <pc:docMk/>
            <pc:sldMk cId="2523249777" sldId="353"/>
            <ac:spMk id="6" creationId="{0FE6C9EC-A5B8-BC3F-929F-8298970D7941}"/>
          </ac:spMkLst>
        </pc:spChg>
        <pc:spChg chg="add mod">
          <ac:chgData name="Gunjan Patel" userId="05827979715e9550" providerId="LiveId" clId="{9C592627-2F48-4F87-84D1-478FE362B464}" dt="2026-10-05T07:51:30.084" v="402" actId="403"/>
          <ac:spMkLst>
            <pc:docMk/>
            <pc:sldMk cId="2523249777" sldId="353"/>
            <ac:spMk id="8" creationId="{E3F76B59-2E58-E4E9-1F97-7552141889B0}"/>
          </ac:spMkLst>
        </pc:spChg>
        <pc:spChg chg="add del mod">
          <ac:chgData name="Gunjan Patel" userId="05827979715e9550" providerId="LiveId" clId="{9C592627-2F48-4F87-84D1-478FE362B464}" dt="2026-10-05T07:51:27.420" v="387"/>
          <ac:spMkLst>
            <pc:docMk/>
            <pc:sldMk cId="2523249777" sldId="353"/>
            <ac:spMk id="12" creationId="{AD965795-5094-82DE-74E6-258CD528C0B2}"/>
          </ac:spMkLst>
        </pc:spChg>
        <pc:spChg chg="add mod">
          <ac:chgData name="Gunjan Patel" userId="05827979715e9550" providerId="LiveId" clId="{9C592627-2F48-4F87-84D1-478FE362B464}" dt="2026-10-05T07:51:27.328" v="384"/>
          <ac:spMkLst>
            <pc:docMk/>
            <pc:sldMk cId="2523249777" sldId="353"/>
            <ac:spMk id="13" creationId="{2FCEA1A7-64BD-08CD-57B2-E3B0E1133498}"/>
          </ac:spMkLst>
        </pc:spChg>
        <pc:picChg chg="add mod">
          <ac:chgData name="Gunjan Patel" userId="05827979715e9550" providerId="LiveId" clId="{9C592627-2F48-4F87-84D1-478FE362B464}" dt="2026-10-05T07:50:31.092" v="373"/>
          <ac:picMkLst>
            <pc:docMk/>
            <pc:sldMk cId="2523249777" sldId="353"/>
            <ac:picMk id="9" creationId="{A0C89711-36EE-FDB7-0948-685F41C46BE9}"/>
          </ac:picMkLst>
        </pc:picChg>
        <pc:picChg chg="add mod">
          <ac:chgData name="Gunjan Patel" userId="05827979715e9550" providerId="LiveId" clId="{9C592627-2F48-4F87-84D1-478FE362B464}" dt="2026-10-05T07:50:16.638" v="365"/>
          <ac:picMkLst>
            <pc:docMk/>
            <pc:sldMk cId="2523249777" sldId="353"/>
            <ac:picMk id="10" creationId="{A0C89711-36EE-FDB7-0948-685F41C46BE9}"/>
          </ac:picMkLst>
        </pc:picChg>
        <pc:picChg chg="add mod">
          <ac:chgData name="Gunjan Patel" userId="05827979715e9550" providerId="LiveId" clId="{9C592627-2F48-4F87-84D1-478FE362B464}" dt="2026-10-05T07:51:27.569" v="391"/>
          <ac:picMkLst>
            <pc:docMk/>
            <pc:sldMk cId="2523249777" sldId="353"/>
            <ac:picMk id="11" creationId="{A0C89711-36EE-FDB7-0948-685F41C46BE9}"/>
          </ac:picMkLst>
        </pc:picChg>
      </pc:sldChg>
      <pc:sldChg chg="addSp delSp modSp add del mod">
        <pc:chgData name="Gunjan Patel" userId="05827979715e9550" providerId="LiveId" clId="{9C592627-2F48-4F87-84D1-478FE362B464}" dt="2026-10-05T07:51:53.260" v="404"/>
        <pc:sldMkLst>
          <pc:docMk/>
          <pc:sldMk cId="0" sldId="354"/>
        </pc:sldMkLst>
        <pc:spChg chg="add del">
          <ac:chgData name="Gunjan Patel" userId="05827979715e9550" providerId="LiveId" clId="{9C592627-2F48-4F87-84D1-478FE362B464}" dt="2026-10-05T07:48:13.644" v="332" actId="478"/>
          <ac:spMkLst>
            <pc:docMk/>
            <pc:sldMk cId="0" sldId="354"/>
            <ac:spMk id="3" creationId="{00000000-0000-0000-0000-000000000000}"/>
          </ac:spMkLst>
        </pc:spChg>
        <pc:spChg chg="add del">
          <ac:chgData name="Gunjan Patel" userId="05827979715e9550" providerId="LiveId" clId="{9C592627-2F48-4F87-84D1-478FE362B464}" dt="2026-10-05T07:48:14.024" v="333" actId="478"/>
          <ac:spMkLst>
            <pc:docMk/>
            <pc:sldMk cId="0" sldId="354"/>
            <ac:spMk id="4" creationId="{00000000-0000-0000-0000-000000000000}"/>
          </ac:spMkLst>
        </pc:spChg>
        <pc:spChg chg="add del mod">
          <ac:chgData name="Gunjan Patel" userId="05827979715e9550" providerId="LiveId" clId="{9C592627-2F48-4F87-84D1-478FE362B464}" dt="2026-10-05T07:48:13.146" v="331" actId="6549"/>
          <ac:spMkLst>
            <pc:docMk/>
            <pc:sldMk cId="0" sldId="354"/>
            <ac:spMk id="5" creationId="{00000000-0000-0000-0000-000000000000}"/>
          </ac:spMkLst>
        </pc:spChg>
      </pc:sldChg>
      <pc:sldChg chg="add del">
        <pc:chgData name="Gunjan Patel" userId="05827979715e9550" providerId="LiveId" clId="{9C592627-2F48-4F87-84D1-478FE362B464}" dt="2026-10-05T07:51:27.725" v="396"/>
        <pc:sldMkLst>
          <pc:docMk/>
          <pc:sldMk cId="868980590" sldId="354"/>
        </pc:sldMkLst>
      </pc:sldChg>
      <pc:sldChg chg="new del">
        <pc:chgData name="Gunjan Patel" userId="05827979715e9550" providerId="LiveId" clId="{9C592627-2F48-4F87-84D1-478FE362B464}" dt="2026-10-05T07:48:49.084" v="345" actId="47"/>
        <pc:sldMkLst>
          <pc:docMk/>
          <pc:sldMk cId="1685731808" sldId="354"/>
        </pc:sldMkLst>
      </pc:sldChg>
      <pc:sldChg chg="add del">
        <pc:chgData name="Gunjan Patel" userId="05827979715e9550" providerId="LiveId" clId="{9C592627-2F48-4F87-84D1-478FE362B464}" dt="2026-10-05T07:51:53.260" v="404"/>
        <pc:sldMkLst>
          <pc:docMk/>
          <pc:sldMk cId="0" sldId="355"/>
        </pc:sldMkLst>
      </pc:sldChg>
      <pc:sldChg chg="new del">
        <pc:chgData name="Gunjan Patel" userId="05827979715e9550" providerId="LiveId" clId="{9C592627-2F48-4F87-84D1-478FE362B464}" dt="2026-10-05T07:48:50.709" v="346" actId="47"/>
        <pc:sldMkLst>
          <pc:docMk/>
          <pc:sldMk cId="1298347735" sldId="355"/>
        </pc:sldMkLst>
      </pc:sldChg>
      <pc:sldChg chg="add del">
        <pc:chgData name="Gunjan Patel" userId="05827979715e9550" providerId="LiveId" clId="{9C592627-2F48-4F87-84D1-478FE362B464}" dt="2026-10-05T07:51:27.695" v="395"/>
        <pc:sldMkLst>
          <pc:docMk/>
          <pc:sldMk cId="3949633951" sldId="355"/>
        </pc:sldMkLst>
      </pc:sldChg>
      <pc:sldChg chg="add del">
        <pc:chgData name="Gunjan Patel" userId="05827979715e9550" providerId="LiveId" clId="{9C592627-2F48-4F87-84D1-478FE362B464}" dt="2026-10-05T07:51:53.260" v="404"/>
        <pc:sldMkLst>
          <pc:docMk/>
          <pc:sldMk cId="0" sldId="356"/>
        </pc:sldMkLst>
      </pc:sldChg>
      <pc:sldChg chg="add del">
        <pc:chgData name="Gunjan Patel" userId="05827979715e9550" providerId="LiveId" clId="{9C592627-2F48-4F87-84D1-478FE362B464}" dt="2026-10-05T07:51:27.662" v="394"/>
        <pc:sldMkLst>
          <pc:docMk/>
          <pc:sldMk cId="708140935" sldId="356"/>
        </pc:sldMkLst>
      </pc:sldChg>
      <pc:sldChg chg="add del">
        <pc:chgData name="Gunjan Patel" userId="05827979715e9550" providerId="LiveId" clId="{9C592627-2F48-4F87-84D1-478FE362B464}" dt="2026-10-05T07:51:53.260" v="404"/>
        <pc:sldMkLst>
          <pc:docMk/>
          <pc:sldMk cId="0" sldId="357"/>
        </pc:sldMkLst>
      </pc:sldChg>
      <pc:sldChg chg="add del">
        <pc:chgData name="Gunjan Patel" userId="05827979715e9550" providerId="LiveId" clId="{9C592627-2F48-4F87-84D1-478FE362B464}" dt="2026-10-05T07:51:27.633" v="393"/>
        <pc:sldMkLst>
          <pc:docMk/>
          <pc:sldMk cId="1565103460" sldId="357"/>
        </pc:sldMkLst>
      </pc:sldChg>
      <pc:sldChg chg="add del">
        <pc:chgData name="Gunjan Patel" userId="05827979715e9550" providerId="LiveId" clId="{9C592627-2F48-4F87-84D1-478FE362B464}" dt="2026-10-05T07:51:53.260" v="404"/>
        <pc:sldMkLst>
          <pc:docMk/>
          <pc:sldMk cId="0" sldId="358"/>
        </pc:sldMkLst>
      </pc:sldChg>
      <pc:sldChg chg="add del">
        <pc:chgData name="Gunjan Patel" userId="05827979715e9550" providerId="LiveId" clId="{9C592627-2F48-4F87-84D1-478FE362B464}" dt="2026-10-05T07:51:27.602" v="392"/>
        <pc:sldMkLst>
          <pc:docMk/>
          <pc:sldMk cId="3085713337" sldId="358"/>
        </pc:sldMkLst>
      </pc:sldChg>
      <pc:sldChg chg="add del">
        <pc:chgData name="Gunjan Patel" userId="05827979715e9550" providerId="LiveId" clId="{9C592627-2F48-4F87-84D1-478FE362B464}" dt="2026-10-05T07:51:53.260" v="404"/>
        <pc:sldMkLst>
          <pc:docMk/>
          <pc:sldMk cId="0" sldId="359"/>
        </pc:sldMkLst>
      </pc:sldChg>
      <pc:sldChg chg="add del">
        <pc:chgData name="Gunjan Patel" userId="05827979715e9550" providerId="LiveId" clId="{9C592627-2F48-4F87-84D1-478FE362B464}" dt="2026-10-05T07:51:53.260" v="404"/>
        <pc:sldMkLst>
          <pc:docMk/>
          <pc:sldMk cId="0" sldId="360"/>
        </pc:sldMkLst>
      </pc:sldChg>
      <pc:sldChg chg="add del">
        <pc:chgData name="Gunjan Patel" userId="05827979715e9550" providerId="LiveId" clId="{9C592627-2F48-4F87-84D1-478FE362B464}" dt="2026-10-05T07:51:53.260" v="404"/>
        <pc:sldMkLst>
          <pc:docMk/>
          <pc:sldMk cId="0" sldId="361"/>
        </pc:sldMkLst>
      </pc:sldChg>
      <pc:sldChg chg="add del">
        <pc:chgData name="Gunjan Patel" userId="05827979715e9550" providerId="LiveId" clId="{9C592627-2F48-4F87-84D1-478FE362B464}" dt="2026-10-05T07:51:53.260" v="404"/>
        <pc:sldMkLst>
          <pc:docMk/>
          <pc:sldMk cId="0" sldId="362"/>
        </pc:sldMkLst>
      </pc:sldChg>
      <pc:sldChg chg="add del">
        <pc:chgData name="Gunjan Patel" userId="05827979715e9550" providerId="LiveId" clId="{9C592627-2F48-4F87-84D1-478FE362B464}" dt="2026-10-05T07:51:53.260" v="404"/>
        <pc:sldMkLst>
          <pc:docMk/>
          <pc:sldMk cId="0" sldId="363"/>
        </pc:sldMkLst>
      </pc:sldChg>
      <pc:sldChg chg="add del">
        <pc:chgData name="Gunjan Patel" userId="05827979715e9550" providerId="LiveId" clId="{9C592627-2F48-4F87-84D1-478FE362B464}" dt="2026-10-05T07:51:53.260" v="404"/>
        <pc:sldMkLst>
          <pc:docMk/>
          <pc:sldMk cId="0" sldId="364"/>
        </pc:sldMkLst>
      </pc:sldChg>
      <pc:sldChg chg="add del">
        <pc:chgData name="Gunjan Patel" userId="05827979715e9550" providerId="LiveId" clId="{9C592627-2F48-4F87-84D1-478FE362B464}" dt="2026-10-05T07:51:53.260" v="404"/>
        <pc:sldMkLst>
          <pc:docMk/>
          <pc:sldMk cId="0" sldId="365"/>
        </pc:sldMkLst>
      </pc:sldChg>
      <pc:sldChg chg="add del">
        <pc:chgData name="Gunjan Patel" userId="05827979715e9550" providerId="LiveId" clId="{9C592627-2F48-4F87-84D1-478FE362B464}" dt="2026-10-05T07:51:53.260" v="404"/>
        <pc:sldMkLst>
          <pc:docMk/>
          <pc:sldMk cId="0" sldId="366"/>
        </pc:sldMkLst>
      </pc:sldChg>
      <pc:sldChg chg="add del">
        <pc:chgData name="Gunjan Patel" userId="05827979715e9550" providerId="LiveId" clId="{9C592627-2F48-4F87-84D1-478FE362B464}" dt="2026-10-05T07:51:53.260" v="404"/>
        <pc:sldMkLst>
          <pc:docMk/>
          <pc:sldMk cId="0" sldId="367"/>
        </pc:sldMkLst>
      </pc:sldChg>
      <pc:sldChg chg="add del">
        <pc:chgData name="Gunjan Patel" userId="05827979715e9550" providerId="LiveId" clId="{9C592627-2F48-4F87-84D1-478FE362B464}" dt="2026-10-05T07:51:53.260" v="404"/>
        <pc:sldMkLst>
          <pc:docMk/>
          <pc:sldMk cId="0" sldId="368"/>
        </pc:sldMkLst>
      </pc:sldChg>
      <pc:sldChg chg="delSp modSp add del mod">
        <pc:chgData name="Gunjan Patel" userId="05827979715e9550" providerId="LiveId" clId="{9C592627-2F48-4F87-84D1-478FE362B464}" dt="2026-10-05T07:52:52.878" v="417"/>
        <pc:sldMkLst>
          <pc:docMk/>
          <pc:sldMk cId="0" sldId="369"/>
        </pc:sldMkLst>
        <pc:spChg chg="del">
          <ac:chgData name="Gunjan Patel" userId="05827979715e9550" providerId="LiveId" clId="{9C592627-2F48-4F87-84D1-478FE362B464}" dt="2026-10-05T07:52:31.025" v="410" actId="478"/>
          <ac:spMkLst>
            <pc:docMk/>
            <pc:sldMk cId="0" sldId="369"/>
            <ac:spMk id="3" creationId="{00000000-0000-0000-0000-000000000000}"/>
          </ac:spMkLst>
        </pc:spChg>
        <pc:spChg chg="del">
          <ac:chgData name="Gunjan Patel" userId="05827979715e9550" providerId="LiveId" clId="{9C592627-2F48-4F87-84D1-478FE362B464}" dt="2026-10-05T07:52:03.281" v="405" actId="478"/>
          <ac:spMkLst>
            <pc:docMk/>
            <pc:sldMk cId="0" sldId="369"/>
            <ac:spMk id="4" creationId="{00000000-0000-0000-0000-000000000000}"/>
          </ac:spMkLst>
        </pc:spChg>
        <pc:spChg chg="del mod">
          <ac:chgData name="Gunjan Patel" userId="05827979715e9550" providerId="LiveId" clId="{9C592627-2F48-4F87-84D1-478FE362B464}" dt="2026-10-05T07:52:31.928" v="411" actId="478"/>
          <ac:spMkLst>
            <pc:docMk/>
            <pc:sldMk cId="0" sldId="369"/>
            <ac:spMk id="5" creationId="{00000000-0000-0000-0000-000000000000}"/>
          </ac:spMkLst>
        </pc:spChg>
        <pc:spChg chg="mod">
          <ac:chgData name="Gunjan Patel" userId="05827979715e9550" providerId="LiveId" clId="{9C592627-2F48-4F87-84D1-478FE362B464}" dt="2026-10-05T07:52:45.323" v="413" actId="14100"/>
          <ac:spMkLst>
            <pc:docMk/>
            <pc:sldMk cId="0" sldId="369"/>
            <ac:spMk id="6" creationId="{00000000-0000-0000-0000-000000000000}"/>
          </ac:spMkLst>
        </pc:spChg>
        <pc:spChg chg="del mod">
          <ac:chgData name="Gunjan Patel" userId="05827979715e9550" providerId="LiveId" clId="{9C592627-2F48-4F87-84D1-478FE362B464}" dt="2026-10-05T07:52:52.878" v="417"/>
          <ac:spMkLst>
            <pc:docMk/>
            <pc:sldMk cId="0" sldId="369"/>
            <ac:spMk id="7" creationId="{00000000-0000-0000-0000-000000000000}"/>
          </ac:spMkLst>
        </pc:spChg>
        <pc:graphicFrameChg chg="mod modGraphic">
          <ac:chgData name="Gunjan Patel" userId="05827979715e9550" providerId="LiveId" clId="{9C592627-2F48-4F87-84D1-478FE362B464}" dt="2026-10-05T07:52:39.692" v="412" actId="14100"/>
          <ac:graphicFrameMkLst>
            <pc:docMk/>
            <pc:sldMk cId="0" sldId="369"/>
            <ac:graphicFrameMk id="8"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E0ED5D-156B-4328-B2B6-19F5E0B39C9A}" type="datetimeFigureOut">
              <a:rPr lang="en-US" smtClean="0"/>
              <a:pPr/>
              <a:t>10/9/2026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7B38CB5-A905-412F-B0EE-DE7CDC822FEA}" type="slidenum">
              <a:rPr lang="en-US" smtClean="0"/>
              <a:pPr/>
              <a:t>‹#›</a:t>
            </a:fld>
            <a:endParaRPr lang="en-US" dirty="0"/>
          </a:p>
        </p:txBody>
      </p:sp>
    </p:spTree>
    <p:extLst>
      <p:ext uri="{BB962C8B-B14F-4D97-AF65-F5344CB8AC3E}">
        <p14:creationId xmlns:p14="http://schemas.microsoft.com/office/powerpoint/2010/main" val="357316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70A39B0B-54DB-4C30-A6D3-F2B3E6F9E9DF}" type="datetimeFigureOut">
              <a:rPr lang="en-US" smtClean="0"/>
              <a:pPr/>
              <a:t>10/9/2026</a:t>
            </a:fld>
            <a:endParaRPr lang="en-US" dirty="0"/>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dirty="0"/>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0512DCE4-C876-4A3A-86B1-6CEC78176006}" type="slidenum">
              <a:rPr lang="en-US" smtClean="0"/>
              <a:pPr/>
              <a:t>‹#›</a:t>
            </a:fld>
            <a:endParaRPr lang="en-US" dirty="0"/>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ransition advTm="5000">
    <p:wheel spokes="2"/>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A39B0B-54DB-4C30-A6D3-F2B3E6F9E9DF}"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12DCE4-C876-4A3A-86B1-6CEC78176006}" type="slidenum">
              <a:rPr lang="en-US" smtClean="0"/>
              <a:pPr/>
              <a:t>‹#›</a:t>
            </a:fld>
            <a:endParaRPr lang="en-US" dirty="0"/>
          </a:p>
        </p:txBody>
      </p:sp>
    </p:spTree>
  </p:cSld>
  <p:clrMapOvr>
    <a:masterClrMapping/>
  </p:clrMapOvr>
  <p:transition advTm="5000">
    <p:wheel spokes="2"/>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A39B0B-54DB-4C30-A6D3-F2B3E6F9E9DF}"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12DCE4-C876-4A3A-86B1-6CEC78176006}" type="slidenum">
              <a:rPr lang="en-US" smtClean="0"/>
              <a:pPr/>
              <a:t>‹#›</a:t>
            </a:fld>
            <a:endParaRPr lang="en-US" dirty="0"/>
          </a:p>
        </p:txBody>
      </p:sp>
    </p:spTree>
  </p:cSld>
  <p:clrMapOvr>
    <a:masterClrMapping/>
  </p:clrMapOvr>
  <p:transition advTm="5000">
    <p:wheel spokes="2"/>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70A39B0B-54DB-4C30-A6D3-F2B3E6F9E9DF}" type="datetimeFigureOut">
              <a:rPr lang="en-US" smtClean="0"/>
              <a:pPr/>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12DCE4-C876-4A3A-86B1-6CEC78176006}" type="slidenum">
              <a:rPr lang="en-US" smtClean="0"/>
              <a:pPr/>
              <a:t>‹#›</a:t>
            </a:fld>
            <a:endParaRPr lang="en-US" dirty="0"/>
          </a:p>
        </p:txBody>
      </p:sp>
      <p:sp>
        <p:nvSpPr>
          <p:cNvPr id="9" name="Content Placeholder 8"/>
          <p:cNvSpPr>
            <a:spLocks noGrp="1"/>
          </p:cNvSpPr>
          <p:nvPr>
            <p:ph sz="quarter" idx="13"/>
          </p:nvPr>
        </p:nvSpPr>
        <p:spPr>
          <a:xfrm>
            <a:off x="1042416" y="2313432"/>
            <a:ext cx="3419856" cy="3493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advTm="5000">
    <p:wheel spokes="2"/>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A39B0B-54DB-4C30-A6D3-F2B3E6F9E9DF}" type="datetimeFigureOut">
              <a:rPr lang="en-US" smtClean="0"/>
              <a:pPr/>
              <a:t>10/9/2026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512DCE4-C876-4A3A-86B1-6CEC78176006}" type="slidenum">
              <a:rPr lang="en-US" smtClean="0"/>
              <a:pPr/>
              <a:t>‹#›</a:t>
            </a:fld>
            <a:endParaRPr lang="en-US" dirty="0"/>
          </a:p>
        </p:txBody>
      </p:sp>
    </p:spTree>
  </p:cSld>
  <p:clrMapOvr>
    <a:masterClrMapping/>
  </p:clrMapOvr>
  <p:transition advTm="5000">
    <p:wheel spokes="2"/>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0A39B0B-54DB-4C30-A6D3-F2B3E6F9E9DF}" type="datetimeFigureOut">
              <a:rPr lang="en-US" smtClean="0"/>
              <a:pPr/>
              <a:t>10/9/2026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512DCE4-C876-4A3A-86B1-6CEC78176006}" type="slidenum">
              <a:rPr lang="en-US" smtClean="0"/>
              <a:pPr/>
              <a:t>‹#›</a:t>
            </a:fld>
            <a:endParaRPr lang="en-US" dirty="0"/>
          </a:p>
        </p:txBody>
      </p:sp>
    </p:spTree>
  </p:cSld>
  <p:clrMapOvr>
    <a:masterClrMapping/>
  </p:clrMapOvr>
  <p:transition advTm="5000">
    <p:wheel spokes="2"/>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A39B0B-54DB-4C30-A6D3-F2B3E6F9E9DF}" type="datetimeFigureOut">
              <a:rPr lang="en-US" smtClean="0"/>
              <a:pPr/>
              <a:t>10/9/2026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512DCE4-C876-4A3A-86B1-6CEC78176006}" type="slidenum">
              <a:rPr lang="en-US" smtClean="0"/>
              <a:pPr/>
              <a:t>‹#›</a:t>
            </a:fld>
            <a:endParaRPr lang="en-US" dirty="0"/>
          </a:p>
        </p:txBody>
      </p:sp>
    </p:spTree>
  </p:cSld>
  <p:clrMapOvr>
    <a:masterClrMapping/>
  </p:clrMapOvr>
  <p:transition advTm="5000">
    <p:wheel spokes="2"/>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p:cNvSpPr>
            <a:spLocks noGrp="1"/>
          </p:cNvSpPr>
          <p:nvPr>
            <p:ph type="dt" sz="half" idx="10"/>
          </p:nvPr>
        </p:nvSpPr>
        <p:spPr/>
        <p:txBody>
          <a:bodyPr/>
          <a:lstStyle/>
          <a:p>
            <a:fld id="{70A39B0B-54DB-4C30-A6D3-F2B3E6F9E9DF}" type="datetimeFigureOut">
              <a:rPr lang="en-US" smtClean="0"/>
              <a:pPr/>
              <a:t>10/9/2026</a:t>
            </a:fld>
            <a:endParaRPr lang="en-US" dirty="0"/>
          </a:p>
        </p:txBody>
      </p:sp>
      <p:sp>
        <p:nvSpPr>
          <p:cNvPr id="7" name="Slide Number Placeholder 6"/>
          <p:cNvSpPr>
            <a:spLocks noGrp="1"/>
          </p:cNvSpPr>
          <p:nvPr>
            <p:ph type="sldNum" sz="quarter" idx="12"/>
          </p:nvPr>
        </p:nvSpPr>
        <p:spPr/>
        <p:txBody>
          <a:bodyPr/>
          <a:lstStyle/>
          <a:p>
            <a:fld id="{0512DCE4-C876-4A3A-86B1-6CEC78176006}" type="slidenum">
              <a:rPr lang="en-US" smtClean="0"/>
              <a:pPr/>
              <a:t>‹#›</a:t>
            </a:fld>
            <a:endParaRPr lang="en-US" dirty="0"/>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dirty="0"/>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a:t>Click to edit Master title style</a:t>
            </a:r>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advTm="5000">
    <p:wheel spokes="2"/>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a:t>Click to edit Master title style</a:t>
            </a:r>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A39B0B-54DB-4C30-A6D3-F2B3E6F9E9DF}" type="datetimeFigureOut">
              <a:rPr lang="en-US" smtClean="0"/>
              <a:pPr/>
              <a:t>10/9/2026</a:t>
            </a:fld>
            <a:endParaRPr lang="en-US" dirty="0"/>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dirty="0"/>
          </a:p>
        </p:txBody>
      </p:sp>
      <p:sp>
        <p:nvSpPr>
          <p:cNvPr id="7" name="Slide Number Placeholder 6"/>
          <p:cNvSpPr>
            <a:spLocks noGrp="1"/>
          </p:cNvSpPr>
          <p:nvPr>
            <p:ph type="sldNum" sz="quarter" idx="12"/>
          </p:nvPr>
        </p:nvSpPr>
        <p:spPr/>
        <p:txBody>
          <a:bodyPr/>
          <a:lstStyle/>
          <a:p>
            <a:fld id="{0512DCE4-C876-4A3A-86B1-6CEC78176006}" type="slidenum">
              <a:rPr lang="en-US" smtClean="0"/>
              <a:pPr/>
              <a:t>‹#›</a:t>
            </a:fld>
            <a:endParaRPr lang="en-US" dirty="0"/>
          </a:p>
        </p:txBody>
      </p:sp>
    </p:spTree>
  </p:cSld>
  <p:clrMapOvr>
    <a:masterClrMapping/>
  </p:clrMapOvr>
  <p:transition advTm="5000">
    <p:wheel spokes="2"/>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0A39B0B-54DB-4C30-A6D3-F2B3E6F9E9DF}"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12DCE4-C876-4A3A-86B1-6CEC78176006}" type="slidenum">
              <a:rPr lang="en-US" smtClean="0"/>
              <a:pPr/>
              <a:t>‹#›</a:t>
            </a:fld>
            <a:endParaRPr lang="en-US" dirty="0"/>
          </a:p>
        </p:txBody>
      </p:sp>
    </p:spTree>
  </p:cSld>
  <p:clrMapOvr>
    <a:masterClrMapping/>
  </p:clrMapOvr>
  <p:transition advTm="5000">
    <p:wheel spokes="2"/>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0A39B0B-54DB-4C30-A6D3-F2B3E6F9E9DF}" type="datetimeFigureOut">
              <a:rPr lang="en-US" smtClean="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12DCE4-C876-4A3A-86B1-6CEC78176006}" type="slidenum">
              <a:rPr lang="en-US" smtClean="0"/>
              <a:pPr/>
              <a:t>‹#›</a:t>
            </a:fld>
            <a:endParaRPr lang="en-US" dirty="0"/>
          </a:p>
        </p:txBody>
      </p:sp>
    </p:spTree>
  </p:cSld>
  <p:clrMapOvr>
    <a:masterClrMapping/>
  </p:clrMapOvr>
  <p:transition advTm="5000">
    <p:wheel spokes="2"/>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70A39B0B-54DB-4C30-A6D3-F2B3E6F9E9DF}" type="datetimeFigureOut">
              <a:rPr lang="en-US" smtClean="0"/>
              <a:pPr/>
              <a:t>10/9/2026</a:t>
            </a:fld>
            <a:endParaRPr lang="en-US" dirty="0"/>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0512DCE4-C876-4A3A-86B1-6CEC7817600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advTm="5000">
    <p:wheel spokes="2"/>
  </p:transition>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3753" y="0"/>
            <a:ext cx="3481973" cy="2124644"/>
          </a:xfrm>
        </p:spPr>
        <p:txBody>
          <a:bodyPr wrap="square">
            <a:normAutofit/>
          </a:bodyPr>
          <a:lstStyle/>
          <a:p>
            <a:pPr algn="ctr"/>
            <a:r>
              <a:rPr lang="en-IN" sz="2600" b="1" dirty="0">
                <a:solidFill>
                  <a:srgbClr val="FFFFFF"/>
                </a:solidFill>
                <a:latin typeface="Times New Roman" panose="02020603050405020304" pitchFamily="18" charset="0"/>
                <a:cs typeface="Times New Roman" panose="02020603050405020304" pitchFamily="18" charset="0"/>
              </a:rPr>
              <a:t>Project Progress</a:t>
            </a:r>
            <a:br>
              <a:rPr lang="en-IN" dirty="0">
                <a:latin typeface="Times New Roman" panose="02020603050405020304" pitchFamily="18" charset="0"/>
                <a:cs typeface="Times New Roman" panose="02020603050405020304" pitchFamily="18" charset="0"/>
              </a:rPr>
            </a:br>
            <a:r>
              <a:rPr lang="en-IN" sz="2600" b="1" dirty="0">
                <a:solidFill>
                  <a:srgbClr val="FFFFFF"/>
                </a:solidFill>
                <a:latin typeface="Times New Roman" panose="02020603050405020304" pitchFamily="18" charset="0"/>
                <a:cs typeface="Times New Roman" panose="02020603050405020304" pitchFamily="18" charset="0"/>
              </a:rPr>
              <a:t>Report</a:t>
            </a:r>
            <a:br>
              <a:rPr lang="en-IN" dirty="0">
                <a:latin typeface="Times New Roman" panose="02020603050405020304" pitchFamily="18" charset="0"/>
                <a:cs typeface="Times New Roman" panose="02020603050405020304" pitchFamily="18" charset="0"/>
              </a:rPr>
            </a:br>
            <a:r>
              <a:rPr lang="en-IN" sz="2600" b="1" dirty="0">
                <a:solidFill>
                  <a:srgbClr val="FFFFFF"/>
                </a:solidFill>
                <a:latin typeface="Times New Roman" panose="02020603050405020304" pitchFamily="18" charset="0"/>
                <a:cs typeface="Times New Roman" panose="02020603050405020304" pitchFamily="18" charset="0"/>
              </a:rPr>
              <a:t>Presentation </a:t>
            </a:r>
            <a:endParaRPr sz="2600" b="1" dirty="0">
              <a:solidFill>
                <a:srgbClr val="FFFFFF"/>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673754" y="2339843"/>
            <a:ext cx="3481972" cy="1764684"/>
          </a:xfrm>
        </p:spPr>
        <p:txBody>
          <a:bodyPr wrap="square">
            <a:noAutofit/>
          </a:bodyPr>
          <a:lstStyle/>
          <a:p>
            <a:r>
              <a:rPr lang="en-US" sz="2000" b="1" dirty="0">
                <a:solidFill>
                  <a:schemeClr val="tx1"/>
                </a:solidFill>
                <a:latin typeface="Times New Roman" pitchFamily="18" charset="0"/>
                <a:cs typeface="Times New Roman" pitchFamily="18" charset="0"/>
              </a:rPr>
              <a:t>Developed by: </a:t>
            </a:r>
          </a:p>
          <a:p>
            <a:r>
              <a:rPr lang="en-US" sz="2000" b="1" dirty="0">
                <a:solidFill>
                  <a:schemeClr val="tx1"/>
                </a:solidFill>
                <a:latin typeface="Times New Roman" pitchFamily="18" charset="0"/>
                <a:cs typeface="Times New Roman" pitchFamily="18" charset="0"/>
              </a:rPr>
              <a:t>Project ID :[14]</a:t>
            </a:r>
          </a:p>
          <a:p>
            <a:pPr marL="342900" indent="-342900"/>
            <a:r>
              <a:rPr lang="en-US" sz="2000" dirty="0">
                <a:solidFill>
                  <a:schemeClr val="tx1"/>
                </a:solidFill>
                <a:latin typeface="Times New Roman" pitchFamily="18" charset="0"/>
                <a:cs typeface="Times New Roman" pitchFamily="18" charset="0"/>
              </a:rPr>
              <a:t>Gunjan </a:t>
            </a:r>
            <a:r>
              <a:rPr lang="en-US" sz="2000" dirty="0" err="1">
                <a:solidFill>
                  <a:schemeClr val="tx1"/>
                </a:solidFill>
                <a:latin typeface="Times New Roman" pitchFamily="18" charset="0"/>
                <a:cs typeface="Times New Roman" pitchFamily="18" charset="0"/>
              </a:rPr>
              <a:t>Dhaduk</a:t>
            </a:r>
            <a:r>
              <a:rPr lang="en-US" sz="2000" dirty="0">
                <a:solidFill>
                  <a:schemeClr val="tx1"/>
                </a:solidFill>
                <a:latin typeface="Times New Roman" pitchFamily="18" charset="0"/>
                <a:cs typeface="Times New Roman" pitchFamily="18" charset="0"/>
              </a:rPr>
              <a:t> [Roll no: 19 ]</a:t>
            </a:r>
          </a:p>
          <a:p>
            <a:r>
              <a:rPr lang="en-US" sz="2000" dirty="0" err="1">
                <a:solidFill>
                  <a:schemeClr val="tx1"/>
                </a:solidFill>
                <a:latin typeface="Times New Roman" pitchFamily="18" charset="0"/>
                <a:cs typeface="Times New Roman" pitchFamily="18" charset="0"/>
              </a:rPr>
              <a:t>Jisna</a:t>
            </a:r>
            <a:r>
              <a:rPr lang="en-US" sz="2000" dirty="0">
                <a:solidFill>
                  <a:schemeClr val="tx1"/>
                </a:solidFill>
                <a:latin typeface="Times New Roman" pitchFamily="18" charset="0"/>
                <a:cs typeface="Times New Roman" pitchFamily="18" charset="0"/>
              </a:rPr>
              <a:t> Saji  [Roll no: 32]</a:t>
            </a:r>
          </a:p>
          <a:p>
            <a:r>
              <a:rPr lang="en-US" sz="2000" b="1" dirty="0">
                <a:solidFill>
                  <a:schemeClr val="tx1"/>
                </a:solidFill>
                <a:latin typeface="Times New Roman" pitchFamily="18" charset="0"/>
                <a:cs typeface="Times New Roman" pitchFamily="18" charset="0"/>
              </a:rPr>
              <a:t>Class: </a:t>
            </a:r>
            <a:r>
              <a:rPr lang="en-US" sz="2000" dirty="0">
                <a:solidFill>
                  <a:schemeClr val="tx1"/>
                </a:solidFill>
                <a:latin typeface="Times New Roman" pitchFamily="18" charset="0"/>
                <a:cs typeface="Times New Roman" pitchFamily="18" charset="0"/>
              </a:rPr>
              <a:t>TYBCA Sem 5</a:t>
            </a:r>
          </a:p>
        </p:txBody>
      </p:sp>
      <p:sp>
        <p:nvSpPr>
          <p:cNvPr id="4" name="Subtitle 2"/>
          <p:cNvSpPr txBox="1">
            <a:spLocks/>
          </p:cNvSpPr>
          <p:nvPr/>
        </p:nvSpPr>
        <p:spPr>
          <a:xfrm>
            <a:off x="4654305" y="4139359"/>
            <a:ext cx="3642664" cy="864096"/>
          </a:xfrm>
          <a:prstGeom prst="rect">
            <a:avLst/>
          </a:prstGeom>
        </p:spPr>
        <p:txBody>
          <a:bodyPr vert="horz" wrap="square" lIns="91440" tIns="45720" rIns="91440" bIns="45720" rtlCol="0">
            <a:noAutofit/>
          </a:bodyPr>
          <a:lstStyle>
            <a:lvl1pPr marL="0" indent="0" algn="l" defTabSz="914400" rtl="0" eaLnBrk="1" latinLnBrk="0" hangingPunct="1">
              <a:spcBef>
                <a:spcPct val="20000"/>
              </a:spcBef>
              <a:buClr>
                <a:schemeClr val="accent1"/>
              </a:buClr>
              <a:buSzPct val="76000"/>
              <a:buFont typeface="Wingdings 2" pitchFamily="18" charset="2"/>
              <a:buNone/>
              <a:defRPr sz="1800" kern="1200">
                <a:solidFill>
                  <a:srgbClr val="424242"/>
                </a:solidFill>
                <a:latin typeface="+mn-lt"/>
                <a:ea typeface="+mn-ea"/>
                <a:cs typeface="+mn-cs"/>
              </a:defRPr>
            </a:lvl1pPr>
            <a:lvl2pPr marL="457200" indent="0" algn="ctr" defTabSz="914400" rtl="0" eaLnBrk="1" latinLnBrk="0" hangingPunct="1">
              <a:spcBef>
                <a:spcPct val="20000"/>
              </a:spcBef>
              <a:buClr>
                <a:schemeClr val="accent1"/>
              </a:buClr>
              <a:buSzPct val="76000"/>
              <a:buFont typeface="Wingdings 2" pitchFamily="18"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1"/>
              </a:buClr>
              <a:buSzPct val="76000"/>
              <a:buFont typeface="Wingdings 2" pitchFamily="18"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1"/>
              </a:buClr>
              <a:buSzPct val="76000"/>
              <a:buFont typeface="Wingdings 2" pitchFamily="18"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1"/>
              </a:buClr>
              <a:buSzPct val="76000"/>
              <a:buFont typeface="Wingdings 2" pitchFamily="18" charset="2"/>
              <a:buNone/>
              <a:defRPr sz="16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9pPr>
          </a:lstStyle>
          <a:p>
            <a:r>
              <a:rPr lang="en-US" sz="2000" b="1" dirty="0">
                <a:solidFill>
                  <a:schemeClr val="tx1"/>
                </a:solidFill>
                <a:latin typeface="Times New Roman" pitchFamily="18" charset="0"/>
                <a:cs typeface="Times New Roman" pitchFamily="18" charset="0"/>
              </a:rPr>
              <a:t>Project Guide:</a:t>
            </a:r>
          </a:p>
          <a:p>
            <a:r>
              <a:rPr lang="en-US" sz="2000" dirty="0">
                <a:latin typeface="Times New Roman" panose="02020603050405020304" pitchFamily="18" charset="0"/>
                <a:cs typeface="Times New Roman" panose="02020603050405020304" pitchFamily="18" charset="0"/>
              </a:rPr>
              <a:t>Ms. </a:t>
            </a:r>
            <a:r>
              <a:rPr lang="en-US" sz="2000" dirty="0" err="1">
                <a:latin typeface="Times New Roman" panose="02020603050405020304" pitchFamily="18" charset="0"/>
                <a:cs typeface="Times New Roman" panose="02020603050405020304" pitchFamily="18" charset="0"/>
              </a:rPr>
              <a:t>Pintukumari</a:t>
            </a:r>
            <a:r>
              <a:rPr lang="en-US" sz="2000" dirty="0">
                <a:latin typeface="Times New Roman" panose="02020603050405020304" pitchFamily="18" charset="0"/>
                <a:cs typeface="Times New Roman" panose="02020603050405020304" pitchFamily="18" charset="0"/>
              </a:rPr>
              <a:t> Bera</a:t>
            </a:r>
            <a:endParaRPr lang="en-US" sz="2000" dirty="0">
              <a:solidFill>
                <a:schemeClr val="tx1"/>
              </a:solidFill>
              <a:latin typeface="Times New Roman" panose="02020603050405020304" pitchFamily="18" charset="0"/>
              <a:cs typeface="Times New Roman" pitchFamily="18" charset="0"/>
            </a:endParaRPr>
          </a:p>
        </p:txBody>
      </p:sp>
      <p:sp>
        <p:nvSpPr>
          <p:cNvPr id="5" name="Subtitle 2"/>
          <p:cNvSpPr txBox="1">
            <a:spLocks/>
          </p:cNvSpPr>
          <p:nvPr/>
        </p:nvSpPr>
        <p:spPr>
          <a:xfrm>
            <a:off x="4673753" y="4872057"/>
            <a:ext cx="3642664" cy="1247185"/>
          </a:xfrm>
          <a:prstGeom prst="rect">
            <a:avLst/>
          </a:prstGeom>
        </p:spPr>
        <p:txBody>
          <a:bodyPr vert="horz" wrap="square" lIns="91440" tIns="45720" rIns="91440" bIns="45720" rtlCol="0">
            <a:noAutofit/>
          </a:bodyPr>
          <a:lstStyle>
            <a:lvl1pPr marL="0" indent="0" algn="l" defTabSz="914400" rtl="0" eaLnBrk="1" latinLnBrk="0" hangingPunct="1">
              <a:spcBef>
                <a:spcPct val="20000"/>
              </a:spcBef>
              <a:buClr>
                <a:schemeClr val="accent1"/>
              </a:buClr>
              <a:buSzPct val="76000"/>
              <a:buFont typeface="Wingdings 2" pitchFamily="18" charset="2"/>
              <a:buNone/>
              <a:defRPr sz="1800" kern="1200">
                <a:solidFill>
                  <a:srgbClr val="424242"/>
                </a:solidFill>
                <a:latin typeface="+mn-lt"/>
                <a:ea typeface="+mn-ea"/>
                <a:cs typeface="+mn-cs"/>
              </a:defRPr>
            </a:lvl1pPr>
            <a:lvl2pPr marL="457200" indent="0" algn="ctr" defTabSz="914400" rtl="0" eaLnBrk="1" latinLnBrk="0" hangingPunct="1">
              <a:spcBef>
                <a:spcPct val="20000"/>
              </a:spcBef>
              <a:buClr>
                <a:schemeClr val="accent1"/>
              </a:buClr>
              <a:buSzPct val="76000"/>
              <a:buFont typeface="Wingdings 2" pitchFamily="18"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1"/>
              </a:buClr>
              <a:buSzPct val="76000"/>
              <a:buFont typeface="Wingdings 2" pitchFamily="18"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1"/>
              </a:buClr>
              <a:buSzPct val="76000"/>
              <a:buFont typeface="Wingdings 2" pitchFamily="18"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1"/>
              </a:buClr>
              <a:buSzPct val="76000"/>
              <a:buFont typeface="Wingdings 2" pitchFamily="18" charset="2"/>
              <a:buNone/>
              <a:defRPr sz="16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9pPr>
          </a:lstStyle>
          <a:p>
            <a:r>
              <a:rPr lang="en-US" sz="2000" b="1" dirty="0">
                <a:solidFill>
                  <a:schemeClr val="tx1"/>
                </a:solidFill>
                <a:latin typeface="Times New Roman" pitchFamily="18" charset="0"/>
                <a:cs typeface="Times New Roman" pitchFamily="18" charset="0"/>
              </a:rPr>
              <a:t>Submitted To:</a:t>
            </a:r>
          </a:p>
          <a:p>
            <a:r>
              <a:rPr lang="en-US" sz="2000" dirty="0">
                <a:solidFill>
                  <a:schemeClr val="tx1"/>
                </a:solidFill>
                <a:latin typeface="Times New Roman" pitchFamily="18" charset="0"/>
                <a:cs typeface="Times New Roman" pitchFamily="18" charset="0"/>
              </a:rPr>
              <a:t>Dept. of Computer Applications, </a:t>
            </a:r>
          </a:p>
          <a:p>
            <a:r>
              <a:rPr lang="en-US" sz="2000" dirty="0">
                <a:solidFill>
                  <a:schemeClr val="tx1"/>
                </a:solidFill>
                <a:latin typeface="Times New Roman" pitchFamily="18" charset="0"/>
                <a:cs typeface="Times New Roman" pitchFamily="18" charset="0"/>
              </a:rPr>
              <a:t>Christ College, Rajkot</a:t>
            </a:r>
          </a:p>
        </p:txBody>
      </p:sp>
      <p:sp>
        <p:nvSpPr>
          <p:cNvPr id="6" name="Title 1"/>
          <p:cNvSpPr txBox="1">
            <a:spLocks/>
          </p:cNvSpPr>
          <p:nvPr/>
        </p:nvSpPr>
        <p:spPr>
          <a:xfrm>
            <a:off x="0" y="2506206"/>
            <a:ext cx="4572000" cy="1845587"/>
          </a:xfrm>
          <a:prstGeom prst="rect">
            <a:avLst/>
          </a:prstGeom>
        </p:spPr>
        <p:txBody>
          <a:bodyPr vert="horz" wrap="square" lIns="91440" tIns="45720" rIns="91440" bIns="45720" rtlCol="0" anchor="b">
            <a:noAutofit/>
          </a:bodyPr>
          <a:lstStyle>
            <a:lvl1pPr algn="l" defTabSz="9144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sz="3200" b="1" dirty="0">
                <a:solidFill>
                  <a:srgbClr val="FFFFFF"/>
                </a:solidFill>
                <a:latin typeface="Times New Roman" panose="02020603050405020304" pitchFamily="18" charset="0"/>
                <a:cs typeface="Times New Roman" panose="02020603050405020304" pitchFamily="18" charset="0"/>
              </a:rPr>
              <a:t>Project on</a:t>
            </a:r>
            <a:br>
              <a:rPr sz="3200" dirty="0">
                <a:latin typeface="Times New Roman" panose="02020603050405020304" pitchFamily="18" charset="0"/>
                <a:cs typeface="Times New Roman" panose="02020603050405020304" pitchFamily="18" charset="0"/>
              </a:rPr>
            </a:br>
            <a:r>
              <a:rPr sz="3200" b="1" dirty="0">
                <a:solidFill>
                  <a:srgbClr val="FFFFFF"/>
                </a:solidFill>
                <a:latin typeface="Times New Roman" panose="02020603050405020304" pitchFamily="18" charset="0"/>
                <a:cs typeface="Times New Roman" panose="02020603050405020304" pitchFamily="18" charset="0"/>
              </a:rPr>
              <a:t>“Healthy Bite: Digital Menu &amp; Food Ordering System”</a:t>
            </a:r>
          </a:p>
        </p:txBody>
      </p:sp>
      <p:pic>
        <p:nvPicPr>
          <p:cNvPr id="8" name="Picture 7" descr="Healthy BIte logo.png">
            <a:extLst>
              <a:ext uri="{FF2B5EF4-FFF2-40B4-BE49-F238E27FC236}">
                <a16:creationId xmlns:a16="http://schemas.microsoft.com/office/drawing/2014/main" id="{60A08B98-B9AE-8C10-6BE8-7D03656EB22A}"/>
              </a:ext>
            </a:extLst>
          </p:cNvPr>
          <p:cNvPicPr>
            <a:picLocks noChangeAspect="1"/>
          </p:cNvPicPr>
          <p:nvPr/>
        </p:nvPicPr>
        <p:blipFill>
          <a:blip r:embed="rId2"/>
          <a:stretch>
            <a:fillRect/>
          </a:stretch>
        </p:blipFill>
        <p:spPr>
          <a:xfrm>
            <a:off x="1853952" y="1102610"/>
            <a:ext cx="864096" cy="864096"/>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510204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205594"/>
            <a:ext cx="7024744" cy="1143000"/>
          </a:xfrm>
        </p:spPr>
        <p:txBody>
          <a:bodyPr wrap="square"/>
          <a:lstStyle/>
          <a:p>
            <a:pPr algn="ctr"/>
            <a:r>
              <a:rPr lang="en-IN" sz="3000" b="1" dirty="0">
                <a:solidFill>
                  <a:srgbClr val="232323"/>
                </a:solidFill>
                <a:latin typeface="Times New Roman" panose="02020603050405020304" pitchFamily="18" charset="0"/>
                <a:cs typeface="Times New Roman" panose="02020603050405020304" pitchFamily="18" charset="0"/>
              </a:rPr>
              <a:t>Content</a:t>
            </a:r>
            <a:endParaRPr sz="3000" b="1" dirty="0">
              <a:solidFill>
                <a:srgbClr val="232323"/>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55576" y="1348594"/>
            <a:ext cx="7017476" cy="3880606"/>
          </a:xfrm>
        </p:spPr>
        <p:txBody>
          <a:bodyPr wrap="square" lIns="45720" tIns="18288" rIns="45720" bIns="18288">
            <a:noAutofit/>
          </a:bodyPr>
          <a:lstStyle/>
          <a:p>
            <a:pPr>
              <a:spcAft>
                <a:spcPts val="500"/>
              </a:spcAft>
              <a:defRPr sz="1500">
                <a:solidFill>
                  <a:srgbClr val="3A5B91"/>
                </a:solidFill>
                <a:latin typeface="Arial"/>
              </a:defRPr>
            </a:pPr>
            <a:r>
              <a:rPr dirty="0">
                <a:latin typeface="Times New Roman" panose="02020603050405020304" pitchFamily="18" charset="0"/>
                <a:cs typeface="Times New Roman" panose="02020603050405020304" pitchFamily="18" charset="0"/>
              </a:rPr>
              <a:t>• Introduction</a:t>
            </a:r>
          </a:p>
          <a:p>
            <a:pPr>
              <a:spcAft>
                <a:spcPts val="500"/>
              </a:spcAft>
              <a:defRPr sz="1500">
                <a:solidFill>
                  <a:srgbClr val="3A5B91"/>
                </a:solidFill>
                <a:latin typeface="Arial"/>
              </a:defRPr>
            </a:pPr>
            <a:r>
              <a:rPr dirty="0">
                <a:latin typeface="Times New Roman" panose="02020603050405020304" pitchFamily="18" charset="0"/>
                <a:cs typeface="Times New Roman" panose="02020603050405020304" pitchFamily="18" charset="0"/>
              </a:rPr>
              <a:t>• Proposed Technology</a:t>
            </a:r>
          </a:p>
          <a:p>
            <a:pPr>
              <a:spcAft>
                <a:spcPts val="500"/>
              </a:spcAft>
              <a:defRPr sz="1500">
                <a:solidFill>
                  <a:srgbClr val="3A5B91"/>
                </a:solidFill>
                <a:latin typeface="Arial"/>
              </a:defRPr>
            </a:pPr>
            <a:r>
              <a:rPr dirty="0">
                <a:latin typeface="Times New Roman" panose="02020603050405020304" pitchFamily="18" charset="0"/>
                <a:cs typeface="Times New Roman" panose="02020603050405020304" pitchFamily="18" charset="0"/>
              </a:rPr>
              <a:t>• Preliminary Investigation</a:t>
            </a:r>
          </a:p>
          <a:p>
            <a:pPr>
              <a:spcAft>
                <a:spcPts val="500"/>
              </a:spcAft>
              <a:defRPr sz="1500">
                <a:solidFill>
                  <a:srgbClr val="3A5B91"/>
                </a:solidFill>
                <a:latin typeface="Arial"/>
              </a:defRPr>
            </a:pPr>
            <a:r>
              <a:rPr dirty="0">
                <a:latin typeface="Times New Roman" panose="02020603050405020304" pitchFamily="18" charset="0"/>
                <a:cs typeface="Times New Roman" panose="02020603050405020304" pitchFamily="18" charset="0"/>
              </a:rPr>
              <a:t>• Feasibility Study</a:t>
            </a:r>
          </a:p>
          <a:p>
            <a:pPr>
              <a:spcAft>
                <a:spcPts val="500"/>
              </a:spcAft>
              <a:defRPr sz="1500">
                <a:solidFill>
                  <a:srgbClr val="3A5B91"/>
                </a:solidFill>
                <a:latin typeface="Arial"/>
              </a:defRPr>
            </a:pPr>
            <a:r>
              <a:rPr dirty="0">
                <a:latin typeface="Times New Roman" panose="02020603050405020304" pitchFamily="18" charset="0"/>
                <a:cs typeface="Times New Roman" panose="02020603050405020304" pitchFamily="18" charset="0"/>
              </a:rPr>
              <a:t>• Requirement Analysis</a:t>
            </a:r>
          </a:p>
          <a:p>
            <a:pPr>
              <a:spcAft>
                <a:spcPts val="500"/>
              </a:spcAft>
              <a:defRPr sz="1500">
                <a:solidFill>
                  <a:srgbClr val="3A5B91"/>
                </a:solidFill>
                <a:latin typeface="Arial"/>
              </a:defRPr>
            </a:pPr>
            <a:r>
              <a:rPr dirty="0">
                <a:latin typeface="Times New Roman" panose="02020603050405020304" pitchFamily="18" charset="0"/>
                <a:cs typeface="Times New Roman" panose="02020603050405020304" pitchFamily="18" charset="0"/>
              </a:rPr>
              <a:t>• Data Dictionary</a:t>
            </a:r>
          </a:p>
          <a:p>
            <a:pPr>
              <a:spcAft>
                <a:spcPts val="500"/>
              </a:spcAft>
              <a:defRPr sz="1500">
                <a:solidFill>
                  <a:srgbClr val="3A5B91"/>
                </a:solidFill>
                <a:latin typeface="Arial"/>
              </a:defRPr>
            </a:pPr>
            <a:r>
              <a:rPr dirty="0">
                <a:latin typeface="Times New Roman" panose="02020603050405020304" pitchFamily="18" charset="0"/>
                <a:cs typeface="Times New Roman" panose="02020603050405020304" pitchFamily="18" charset="0"/>
              </a:rPr>
              <a:t>• Roles and Responsibilities</a:t>
            </a:r>
          </a:p>
          <a:p>
            <a:pPr>
              <a:spcAft>
                <a:spcPts val="500"/>
              </a:spcAft>
              <a:defRPr sz="1500">
                <a:solidFill>
                  <a:srgbClr val="3A5B91"/>
                </a:solidFill>
                <a:latin typeface="Arial"/>
              </a:defRPr>
            </a:pPr>
            <a:r>
              <a:rPr dirty="0">
                <a:latin typeface="Times New Roman" panose="02020603050405020304" pitchFamily="18" charset="0"/>
                <a:cs typeface="Times New Roman" panose="02020603050405020304" pitchFamily="18" charset="0"/>
              </a:rPr>
              <a:t>• E-R Diagram – Database Relationship Chart</a:t>
            </a:r>
          </a:p>
          <a:p>
            <a:pPr>
              <a:spcAft>
                <a:spcPts val="500"/>
              </a:spcAft>
              <a:defRPr sz="1500">
                <a:solidFill>
                  <a:srgbClr val="3A5B91"/>
                </a:solidFill>
                <a:latin typeface="Arial"/>
              </a:defRPr>
            </a:pPr>
            <a:r>
              <a:rPr dirty="0">
                <a:latin typeface="Times New Roman" panose="02020603050405020304" pitchFamily="18" charset="0"/>
                <a:cs typeface="Times New Roman" panose="02020603050405020304" pitchFamily="18" charset="0"/>
              </a:rPr>
              <a:t>• Use Case Diagram</a:t>
            </a:r>
          </a:p>
          <a:p>
            <a:pPr>
              <a:spcAft>
                <a:spcPts val="500"/>
              </a:spcAft>
              <a:defRPr sz="1500">
                <a:solidFill>
                  <a:srgbClr val="3A5B91"/>
                </a:solidFill>
                <a:latin typeface="Arial"/>
              </a:defRPr>
            </a:pPr>
            <a:r>
              <a:rPr dirty="0">
                <a:latin typeface="Times New Roman" panose="02020603050405020304" pitchFamily="18" charset="0"/>
                <a:cs typeface="Times New Roman" panose="02020603050405020304" pitchFamily="18" charset="0"/>
              </a:rPr>
              <a:t>• Activity Diagram</a:t>
            </a:r>
          </a:p>
          <a:p>
            <a:pPr>
              <a:spcAft>
                <a:spcPts val="500"/>
              </a:spcAft>
              <a:defRPr sz="1500">
                <a:solidFill>
                  <a:srgbClr val="3A5B91"/>
                </a:solidFill>
                <a:latin typeface="Arial"/>
              </a:defRPr>
            </a:pPr>
            <a:r>
              <a:rPr dirty="0">
                <a:latin typeface="Times New Roman" panose="02020603050405020304" pitchFamily="18" charset="0"/>
                <a:cs typeface="Times New Roman" panose="02020603050405020304" pitchFamily="18" charset="0"/>
              </a:rPr>
              <a:t>• DFD – Data Flow Diagram</a:t>
            </a:r>
          </a:p>
          <a:p>
            <a:pPr>
              <a:spcAft>
                <a:spcPts val="500"/>
              </a:spcAft>
              <a:defRPr sz="1500">
                <a:solidFill>
                  <a:srgbClr val="3A5B91"/>
                </a:solidFill>
                <a:latin typeface="Arial"/>
              </a:defRPr>
            </a:pPr>
            <a:r>
              <a:rPr dirty="0">
                <a:latin typeface="Times New Roman" panose="02020603050405020304" pitchFamily="18" charset="0"/>
                <a:cs typeface="Times New Roman" panose="02020603050405020304" pitchFamily="18" charset="0"/>
              </a:rPr>
              <a:t>• Database Tables</a:t>
            </a:r>
          </a:p>
          <a:p>
            <a:pPr>
              <a:spcAft>
                <a:spcPts val="500"/>
              </a:spcAft>
              <a:defRPr sz="1500">
                <a:solidFill>
                  <a:srgbClr val="3A5B91"/>
                </a:solidFill>
                <a:latin typeface="Arial"/>
              </a:defRPr>
            </a:pPr>
            <a:r>
              <a:rPr dirty="0">
                <a:latin typeface="Times New Roman" panose="02020603050405020304" pitchFamily="18" charset="0"/>
                <a:cs typeface="Times New Roman" panose="02020603050405020304" pitchFamily="18" charset="0"/>
              </a:rPr>
              <a:t>• Process Flow</a:t>
            </a:r>
          </a:p>
          <a:p>
            <a:pPr>
              <a:spcAft>
                <a:spcPts val="500"/>
              </a:spcAft>
              <a:defRPr sz="1500">
                <a:solidFill>
                  <a:srgbClr val="3A5B91"/>
                </a:solidFill>
                <a:latin typeface="Arial"/>
              </a:defRPr>
            </a:pPr>
            <a:r>
              <a:rPr dirty="0">
                <a:latin typeface="Times New Roman" panose="02020603050405020304" pitchFamily="18" charset="0"/>
                <a:cs typeface="Times New Roman" panose="02020603050405020304" pitchFamily="18" charset="0"/>
              </a:rPr>
              <a:t>• SDLC</a:t>
            </a:r>
          </a:p>
          <a:p>
            <a:pPr>
              <a:spcAft>
                <a:spcPts val="500"/>
              </a:spcAft>
              <a:defRPr sz="1500">
                <a:solidFill>
                  <a:srgbClr val="3A5B91"/>
                </a:solidFill>
                <a:latin typeface="Arial"/>
              </a:defRPr>
            </a:pPr>
            <a:r>
              <a:rPr dirty="0">
                <a:latin typeface="Times New Roman" panose="02020603050405020304" pitchFamily="18" charset="0"/>
                <a:cs typeface="Times New Roman" panose="02020603050405020304" pitchFamily="18" charset="0"/>
              </a:rPr>
              <a:t>• Conclusion / Thank You</a:t>
            </a:r>
          </a:p>
        </p:txBody>
      </p:sp>
    </p:spTree>
    <p:extLst>
      <p:ext uri="{BB962C8B-B14F-4D97-AF65-F5344CB8AC3E}">
        <p14:creationId xmlns:p14="http://schemas.microsoft.com/office/powerpoint/2010/main" val="114088614"/>
      </p:ext>
    </p:extLst>
  </p:cSld>
  <p:clrMapOvr>
    <a:masterClrMapping/>
  </p:clrMapOvr>
  <mc:AlternateContent xmlns:mc="http://schemas.openxmlformats.org/markup-compatibility/2006" xmlns:p14="http://schemas.microsoft.com/office/powerpoint/2010/main">
    <mc:Choice Requires="p14">
      <p:transition p14:dur="0" advTm="5000"/>
    </mc:Choice>
    <mc:Fallback xmlns="">
      <p:transition advTm="5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817160"/>
          </a:xfrm>
        </p:spPr>
        <p:txBody>
          <a:bodyPr wrap="square"/>
          <a:lstStyle/>
          <a:p>
            <a:pPr algn="ctr"/>
            <a:r>
              <a:rPr sz="2800" b="1" dirty="0">
                <a:solidFill>
                  <a:srgbClr val="232323"/>
                </a:solidFill>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703434" y="1844824"/>
            <a:ext cx="7704856" cy="4248472"/>
          </a:xfrm>
        </p:spPr>
        <p:txBody>
          <a:bodyPr wrap="square" lIns="45720" tIns="18288" rIns="45720" bIns="18288">
            <a:noAutofit/>
          </a:bodyPr>
          <a:lstStyle/>
          <a:p>
            <a:pPr>
              <a:spcAft>
                <a:spcPts val="500"/>
              </a:spcAft>
              <a:defRPr sz="1500">
                <a:solidFill>
                  <a:srgbClr val="3A5B91"/>
                </a:solidFill>
                <a:latin typeface="Arial"/>
              </a:defRPr>
            </a:pPr>
            <a:r>
              <a:rPr sz="1600" dirty="0">
                <a:latin typeface="Times New Roman" panose="02020603050405020304" pitchFamily="18" charset="0"/>
                <a:cs typeface="Times New Roman" panose="02020603050405020304" pitchFamily="18" charset="0"/>
              </a:rPr>
              <a:t>• Healthy Bite is a QR-based Digital Menu &amp; Food Ordering System designed for restaurants.</a:t>
            </a:r>
          </a:p>
          <a:p>
            <a:pPr>
              <a:spcAft>
                <a:spcPts val="500"/>
              </a:spcAft>
              <a:defRPr sz="1500">
                <a:solidFill>
                  <a:srgbClr val="3A5B91"/>
                </a:solidFill>
                <a:latin typeface="Arial"/>
              </a:defRPr>
            </a:pPr>
            <a:r>
              <a:rPr sz="1600" dirty="0">
                <a:latin typeface="Times New Roman" panose="02020603050405020304" pitchFamily="18" charset="0"/>
                <a:cs typeface="Times New Roman" panose="02020603050405020304" pitchFamily="18" charset="0"/>
              </a:rPr>
              <a:t>• Customers scan a table QR code to access the digital menu without relying on printed menus.</a:t>
            </a:r>
          </a:p>
          <a:p>
            <a:pPr>
              <a:spcAft>
                <a:spcPts val="500"/>
              </a:spcAft>
              <a:defRPr sz="1500">
                <a:solidFill>
                  <a:srgbClr val="3A5B91"/>
                </a:solidFill>
                <a:latin typeface="Arial"/>
              </a:defRPr>
            </a:pPr>
            <a:r>
              <a:rPr sz="1600" dirty="0">
                <a:latin typeface="Times New Roman" panose="02020603050405020304" pitchFamily="18" charset="0"/>
                <a:cs typeface="Times New Roman" panose="02020603050405020304" pitchFamily="18" charset="0"/>
              </a:rPr>
              <a:t>• Food details include ingredients and nutritional information such as calories, protein, carbohydrates and fat.</a:t>
            </a:r>
          </a:p>
          <a:p>
            <a:pPr>
              <a:spcAft>
                <a:spcPts val="500"/>
              </a:spcAft>
              <a:defRPr sz="1500">
                <a:solidFill>
                  <a:srgbClr val="3A5B91"/>
                </a:solidFill>
                <a:latin typeface="Arial"/>
              </a:defRPr>
            </a:pPr>
            <a:r>
              <a:rPr sz="1600" dirty="0">
                <a:latin typeface="Times New Roman" panose="02020603050405020304" pitchFamily="18" charset="0"/>
                <a:cs typeface="Times New Roman" panose="02020603050405020304" pitchFamily="18" charset="0"/>
              </a:rPr>
              <a:t>• Customers can select food variants and customizations before placing an order.</a:t>
            </a:r>
          </a:p>
          <a:p>
            <a:pPr>
              <a:spcAft>
                <a:spcPts val="500"/>
              </a:spcAft>
              <a:defRPr sz="1500">
                <a:solidFill>
                  <a:srgbClr val="3A5B91"/>
                </a:solidFill>
                <a:latin typeface="Arial"/>
              </a:defRPr>
            </a:pPr>
            <a:r>
              <a:rPr sz="1600" dirty="0">
                <a:latin typeface="Times New Roman" panose="02020603050405020304" pitchFamily="18" charset="0"/>
                <a:cs typeface="Times New Roman" panose="02020603050405020304" pitchFamily="18" charset="0"/>
              </a:rPr>
              <a:t>• The system supports digital ordering, order status tracking, payment processing and reviews.</a:t>
            </a:r>
          </a:p>
          <a:p>
            <a:pPr>
              <a:spcAft>
                <a:spcPts val="500"/>
              </a:spcAft>
              <a:defRPr sz="1500">
                <a:solidFill>
                  <a:srgbClr val="3A5B91"/>
                </a:solidFill>
                <a:latin typeface="Arial"/>
              </a:defRPr>
            </a:pPr>
            <a:r>
              <a:rPr sz="1600" dirty="0">
                <a:latin typeface="Times New Roman" panose="02020603050405020304" pitchFamily="18" charset="0"/>
                <a:cs typeface="Times New Roman" panose="02020603050405020304" pitchFamily="18" charset="0"/>
              </a:rPr>
              <a:t>• Restaurant/admin users can manage restaurants, branches, tables, QR tokens, categories, food items, variants and customizations.</a:t>
            </a:r>
          </a:p>
        </p:txBody>
      </p:sp>
    </p:spTree>
    <p:extLst>
      <p:ext uri="{BB962C8B-B14F-4D97-AF65-F5344CB8AC3E}">
        <p14:creationId xmlns:p14="http://schemas.microsoft.com/office/powerpoint/2010/main" val="24732413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lgn="ctr"/>
            <a:r>
              <a:rPr sz="2800" b="1" dirty="0">
                <a:solidFill>
                  <a:srgbClr val="232323"/>
                </a:solidFill>
                <a:latin typeface="Times New Roman" panose="02020603050405020304" pitchFamily="18" charset="0"/>
                <a:cs typeface="Times New Roman" panose="02020603050405020304" pitchFamily="18" charset="0"/>
              </a:rPr>
              <a:t>Proposed Technology</a:t>
            </a:r>
            <a:endParaRPr lang="en-IN" b="1" dirty="0">
              <a:solidFill>
                <a:schemeClr val="tx1"/>
              </a:solidFill>
              <a:latin typeface="Times New Roman" panose="02020603050405020304" pitchFamily="18" charset="0"/>
              <a:cs typeface="Times New Roman" pitchFamily="18" charset="0"/>
            </a:endParaRPr>
          </a:p>
        </p:txBody>
      </p:sp>
      <p:sp>
        <p:nvSpPr>
          <p:cNvPr id="3" name="Content Placeholder 2"/>
          <p:cNvSpPr>
            <a:spLocks noGrp="1"/>
          </p:cNvSpPr>
          <p:nvPr>
            <p:ph idx="1"/>
          </p:nvPr>
        </p:nvSpPr>
        <p:spPr/>
        <p:txBody>
          <a:bodyPr wrap="square" lIns="45720" tIns="18288" rIns="45720" bIns="18288">
            <a:normAutofit/>
          </a:bodyPr>
          <a:lstStyle/>
          <a:p>
            <a:pPr>
              <a:spcAft>
                <a:spcPts val="500"/>
              </a:spcAft>
              <a:defRPr sz="1700">
                <a:solidFill>
                  <a:srgbClr val="3A5B91"/>
                </a:solidFill>
                <a:latin typeface="Arial"/>
              </a:defRPr>
            </a:pPr>
            <a:r>
              <a:rPr sz="1600" dirty="0">
                <a:latin typeface="Times New Roman" panose="02020603050405020304" pitchFamily="18" charset="0"/>
                <a:cs typeface="Times New Roman" panose="02020603050405020304" pitchFamily="18" charset="0"/>
              </a:rPr>
              <a:t>• </a:t>
            </a:r>
            <a:r>
              <a:rPr sz="1600" dirty="0">
                <a:solidFill>
                  <a:schemeClr val="accent1">
                    <a:lumMod val="75000"/>
                  </a:schemeClr>
                </a:solidFill>
                <a:latin typeface="Times New Roman" panose="02020603050405020304" pitchFamily="18" charset="0"/>
                <a:cs typeface="Times New Roman" panose="02020603050405020304" pitchFamily="18" charset="0"/>
              </a:rPr>
              <a:t>Frontend</a:t>
            </a:r>
            <a:r>
              <a:rPr sz="1600" dirty="0">
                <a:latin typeface="Times New Roman" panose="02020603050405020304" pitchFamily="18" charset="0"/>
                <a:cs typeface="Times New Roman" panose="02020603050405020304" pitchFamily="18" charset="0"/>
              </a:rPr>
              <a:t>: HTML5, CSS3, JavaScript, Bootstrap 5</a:t>
            </a:r>
          </a:p>
          <a:p>
            <a:pPr>
              <a:spcAft>
                <a:spcPts val="500"/>
              </a:spcAft>
              <a:defRPr sz="1700">
                <a:solidFill>
                  <a:srgbClr val="3A5B91"/>
                </a:solidFill>
                <a:latin typeface="Arial"/>
              </a:defRPr>
            </a:pPr>
            <a:r>
              <a:rPr sz="1600" dirty="0">
                <a:latin typeface="Times New Roman" panose="02020603050405020304" pitchFamily="18" charset="0"/>
                <a:cs typeface="Times New Roman" panose="02020603050405020304" pitchFamily="18" charset="0"/>
              </a:rPr>
              <a:t>• Backend: PHP</a:t>
            </a:r>
          </a:p>
          <a:p>
            <a:pPr>
              <a:spcAft>
                <a:spcPts val="500"/>
              </a:spcAft>
              <a:defRPr sz="1700">
                <a:solidFill>
                  <a:srgbClr val="3A5B91"/>
                </a:solidFill>
                <a:latin typeface="Arial"/>
              </a:defRPr>
            </a:pPr>
            <a:r>
              <a:rPr sz="1600" dirty="0">
                <a:latin typeface="Times New Roman" panose="02020603050405020304" pitchFamily="18" charset="0"/>
                <a:cs typeface="Times New Roman" panose="02020603050405020304" pitchFamily="18" charset="0"/>
              </a:rPr>
              <a:t>• Database: MySQL</a:t>
            </a:r>
          </a:p>
          <a:p>
            <a:pPr>
              <a:spcAft>
                <a:spcPts val="500"/>
              </a:spcAft>
              <a:defRPr sz="1700">
                <a:solidFill>
                  <a:srgbClr val="3A5B91"/>
                </a:solidFill>
                <a:latin typeface="Arial"/>
              </a:defRPr>
            </a:pPr>
            <a:r>
              <a:rPr sz="1600" dirty="0">
                <a:latin typeface="Times New Roman" panose="02020603050405020304" pitchFamily="18" charset="0"/>
                <a:cs typeface="Times New Roman" panose="02020603050405020304" pitchFamily="18" charset="0"/>
              </a:rPr>
              <a:t>• Local Server: XAMPP</a:t>
            </a:r>
          </a:p>
          <a:p>
            <a:pPr>
              <a:spcAft>
                <a:spcPts val="500"/>
              </a:spcAft>
              <a:defRPr sz="1700">
                <a:solidFill>
                  <a:srgbClr val="3A5B91"/>
                </a:solidFill>
                <a:latin typeface="Arial"/>
              </a:defRPr>
            </a:pPr>
            <a:r>
              <a:rPr sz="1600" dirty="0">
                <a:latin typeface="Times New Roman" panose="02020603050405020304" pitchFamily="18" charset="0"/>
                <a:cs typeface="Times New Roman" panose="02020603050405020304" pitchFamily="18" charset="0"/>
              </a:rPr>
              <a:t>• Code Editor: Visual Studio Code</a:t>
            </a:r>
          </a:p>
          <a:p>
            <a:pPr>
              <a:spcAft>
                <a:spcPts val="500"/>
              </a:spcAft>
              <a:defRPr sz="1700">
                <a:solidFill>
                  <a:srgbClr val="3A5B91"/>
                </a:solidFill>
                <a:latin typeface="Arial"/>
              </a:defRPr>
            </a:pPr>
            <a:r>
              <a:rPr sz="1600" dirty="0">
                <a:latin typeface="Times New Roman" panose="02020603050405020304" pitchFamily="18" charset="0"/>
                <a:cs typeface="Times New Roman" panose="02020603050405020304" pitchFamily="18" charset="0"/>
              </a:rPr>
              <a:t>• Web Browser: Google Chrome / Microsoft Edge</a:t>
            </a:r>
          </a:p>
          <a:p>
            <a:pPr>
              <a:spcAft>
                <a:spcPts val="500"/>
              </a:spcAft>
              <a:defRPr sz="1700">
                <a:solidFill>
                  <a:srgbClr val="3A5B91"/>
                </a:solidFill>
                <a:latin typeface="Arial"/>
              </a:defRPr>
            </a:pPr>
            <a:r>
              <a:rPr sz="1600" dirty="0">
                <a:latin typeface="Times New Roman" panose="02020603050405020304" pitchFamily="18" charset="0"/>
                <a:cs typeface="Times New Roman" panose="02020603050405020304" pitchFamily="18" charset="0"/>
              </a:rPr>
              <a:t>• QR Technology: QR-code based digital menu access</a:t>
            </a:r>
          </a:p>
        </p:txBody>
      </p:sp>
    </p:spTree>
    <p:extLst>
      <p:ext uri="{BB962C8B-B14F-4D97-AF65-F5344CB8AC3E}">
        <p14:creationId xmlns:p14="http://schemas.microsoft.com/office/powerpoint/2010/main" val="4215993397"/>
      </p:ext>
    </p:extLst>
  </p:cSld>
  <p:clrMapOvr>
    <a:masterClrMapping/>
  </p:clrMapOvr>
  <mc:AlternateContent xmlns:mc="http://schemas.openxmlformats.org/markup-compatibility/2006" xmlns:p14="http://schemas.microsoft.com/office/powerpoint/2010/main">
    <mc:Choice Requires="p14">
      <p:transition p14:dur="0" advTm="5000"/>
    </mc:Choice>
    <mc:Fallback xmlns="">
      <p:transition advTm="5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529128"/>
          </a:xfrm>
        </p:spPr>
        <p:txBody>
          <a:bodyPr wrap="square">
            <a:normAutofit/>
          </a:bodyPr>
          <a:lstStyle/>
          <a:p>
            <a:pPr algn="ctr"/>
            <a:r>
              <a:rPr sz="2700" b="1" dirty="0">
                <a:solidFill>
                  <a:srgbClr val="232323"/>
                </a:solidFill>
                <a:latin typeface="Times New Roman" panose="02020603050405020304" pitchFamily="18" charset="0"/>
                <a:cs typeface="Times New Roman" panose="02020603050405020304" pitchFamily="18" charset="0"/>
              </a:rPr>
              <a:t>Preliminary Investigation</a:t>
            </a:r>
          </a:p>
        </p:txBody>
      </p:sp>
      <p:sp>
        <p:nvSpPr>
          <p:cNvPr id="3" name="Content Placeholder 2"/>
          <p:cNvSpPr>
            <a:spLocks noGrp="1"/>
          </p:cNvSpPr>
          <p:nvPr>
            <p:ph idx="1"/>
          </p:nvPr>
        </p:nvSpPr>
        <p:spPr>
          <a:xfrm>
            <a:off x="1183341" y="1776065"/>
            <a:ext cx="6777317" cy="4389239"/>
          </a:xfrm>
        </p:spPr>
        <p:txBody>
          <a:bodyPr wrap="square">
            <a:noAutofit/>
          </a:bodyPr>
          <a:lstStyle/>
          <a:p>
            <a:r>
              <a:rPr lang="en-IN" sz="2000" b="1" dirty="0">
                <a:latin typeface="Times New Roman" panose="02020603050405020304" pitchFamily="18" charset="0"/>
                <a:cs typeface="Times New Roman" panose="02020603050405020304" pitchFamily="18" charset="0"/>
              </a:rPr>
              <a:t>Definition</a:t>
            </a:r>
          </a:p>
          <a:p>
            <a:r>
              <a:rPr lang="en-IN" sz="1600" b="1" dirty="0">
                <a:latin typeface="Times New Roman" panose="02020603050405020304" pitchFamily="18" charset="0"/>
                <a:cs typeface="Times New Roman" panose="02020603050405020304" pitchFamily="18" charset="0"/>
              </a:rPr>
              <a:t>Healthy Bite</a:t>
            </a:r>
            <a:r>
              <a:rPr lang="en-IN" sz="1600" dirty="0">
                <a:latin typeface="Times New Roman" panose="02020603050405020304" pitchFamily="18" charset="0"/>
                <a:cs typeface="Times New Roman" panose="02020603050405020304" pitchFamily="18" charset="0"/>
              </a:rPr>
              <a:t> is a digital restaurant menu and food ordering system that allows customers to access restaurant menus through QR codes, browse food items, customize dishes, view nutritional information, and place orders digitally.</a:t>
            </a: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Goal</a:t>
            </a:r>
          </a:p>
          <a:p>
            <a:r>
              <a:rPr lang="en-IN" sz="1600" dirty="0">
                <a:latin typeface="Times New Roman" panose="02020603050405020304" pitchFamily="18" charset="0"/>
                <a:cs typeface="Times New Roman" panose="02020603050405020304" pitchFamily="18" charset="0"/>
              </a:rPr>
              <a:t>To simplify and improve the restaurant ordering process by providing a centralized digital platform that connects customers, restaurant owners, kitchen staff, and administrators while reducing manual ordering and improving order management.</a:t>
            </a:r>
          </a:p>
        </p:txBody>
      </p:sp>
    </p:spTree>
    <p:extLst>
      <p:ext uri="{BB962C8B-B14F-4D97-AF65-F5344CB8AC3E}">
        <p14:creationId xmlns:p14="http://schemas.microsoft.com/office/powerpoint/2010/main" val="2042342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523FF5-8D81-96BB-C4E2-D985EBF92DD2}"/>
              </a:ext>
            </a:extLst>
          </p:cNvPr>
          <p:cNvSpPr>
            <a:spLocks noGrp="1"/>
          </p:cNvSpPr>
          <p:nvPr>
            <p:ph idx="1"/>
          </p:nvPr>
        </p:nvSpPr>
        <p:spPr>
          <a:xfrm>
            <a:off x="1043492" y="1052736"/>
            <a:ext cx="6777317" cy="4779893"/>
          </a:xfrm>
        </p:spPr>
        <p:txBody>
          <a:bodyPr>
            <a:normAutofit lnSpcReduction="10000"/>
          </a:bodyPr>
          <a:lstStyle/>
          <a:p>
            <a:r>
              <a:rPr lang="en-IN" sz="2000" b="1" dirty="0">
                <a:latin typeface="Times New Roman" panose="02020603050405020304" pitchFamily="18" charset="0"/>
                <a:cs typeface="Times New Roman" panose="02020603050405020304" pitchFamily="18" charset="0"/>
              </a:rPr>
              <a:t>Need</a:t>
            </a:r>
            <a:endParaRPr lang="en-IN" sz="20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The system reduces dependence on physical menus, manual order taking, phone calls, and paper-based processes by organizing the complete restaurant ordering process through one platform. </a:t>
            </a:r>
            <a:r>
              <a:rPr lang="en-IN" sz="1600" b="1" dirty="0">
                <a:latin typeface="Times New Roman" panose="02020603050405020304" pitchFamily="18" charset="0"/>
                <a:cs typeface="Times New Roman" panose="02020603050405020304" pitchFamily="18" charset="0"/>
              </a:rPr>
              <a:t>“To manage the complete food ordering process at one place, allowing customers to browse, customize, and order food digitally while helping restaurants efficiently manage menus, tables, orders, and kitchen operations.”</a:t>
            </a:r>
            <a:endParaRPr lang="en-IN" sz="1600" dirty="0">
              <a:latin typeface="Times New Roman" panose="02020603050405020304" pitchFamily="18" charset="0"/>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Scope</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The system supports customer QR-based menu access, food browsing and category filtering, dietary filtering, food customization, nutritional information, cart management, order placement, order tracking, restaurant owner management, kitchen order processing, table and QR-code management, and administrator management. Future enhancements may include online payment integration, real-time order notifications, GPS-based delivery tracking, customer loyalty programs, AI-based food recommendations, and a dedicated mobile application.</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8057020"/>
      </p:ext>
    </p:extLst>
  </p:cSld>
  <p:clrMapOvr>
    <a:masterClrMapping/>
  </p:clrMapOvr>
  <p:transition advTm="5000">
    <p:wheel spokes="2"/>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2" y="764704"/>
            <a:ext cx="7024744" cy="745152"/>
          </a:xfrm>
        </p:spPr>
        <p:txBody>
          <a:bodyPr wrap="square">
            <a:normAutofit/>
          </a:bodyPr>
          <a:lstStyle/>
          <a:p>
            <a:pPr algn="ctr"/>
            <a:r>
              <a:rPr sz="2800" b="1" dirty="0">
                <a:solidFill>
                  <a:srgbClr val="232323"/>
                </a:solidFill>
                <a:latin typeface="Times New Roman" panose="02020603050405020304" pitchFamily="18" charset="0"/>
                <a:cs typeface="Times New Roman" panose="02020603050405020304" pitchFamily="18" charset="0"/>
              </a:rPr>
              <a:t>Feasibility Study</a:t>
            </a:r>
          </a:p>
        </p:txBody>
      </p:sp>
      <p:sp>
        <p:nvSpPr>
          <p:cNvPr id="3" name="Content Placeholder 2"/>
          <p:cNvSpPr>
            <a:spLocks noGrp="1"/>
          </p:cNvSpPr>
          <p:nvPr>
            <p:ph idx="1"/>
          </p:nvPr>
        </p:nvSpPr>
        <p:spPr>
          <a:xfrm>
            <a:off x="1043492" y="1772816"/>
            <a:ext cx="7272924" cy="4320480"/>
          </a:xfrm>
        </p:spPr>
        <p:txBody>
          <a:bodyPr wrap="square">
            <a:normAutofit/>
          </a:bodyPr>
          <a:lstStyle/>
          <a:p>
            <a:pPr>
              <a:spcAft>
                <a:spcPts val="1400"/>
              </a:spcAft>
              <a:defRPr sz="1300">
                <a:latin typeface="Calibri"/>
              </a:defRPr>
            </a:pPr>
            <a:r>
              <a:rPr lang="en-US" sz="1600" b="1" dirty="0">
                <a:solidFill>
                  <a:schemeClr val="accent1">
                    <a:lumMod val="75000"/>
                  </a:schemeClr>
                </a:solidFill>
                <a:latin typeface="Times New Roman" panose="02020603050405020304" pitchFamily="18" charset="0"/>
                <a:cs typeface="Times New Roman" panose="02020603050405020304" pitchFamily="18" charset="0"/>
              </a:rPr>
              <a:t>Technical Feasibility: </a:t>
            </a:r>
            <a:r>
              <a:rPr lang="en-US" sz="1600" dirty="0">
                <a:solidFill>
                  <a:srgbClr val="334155"/>
                </a:solidFill>
                <a:latin typeface="Times New Roman" panose="02020603050405020304" pitchFamily="18" charset="0"/>
                <a:cs typeface="Times New Roman" panose="02020603050405020304" pitchFamily="18" charset="0"/>
              </a:rPr>
              <a:t>The project is constructed on universally supported, open-source technologies (PHP 8, MySQL, Bootstrap 5, Apache). It runs on any standard web browser across Android, iOS, Windows, and macOS without requiring proprietary hardware or native mobile binaries.</a:t>
            </a:r>
          </a:p>
          <a:p>
            <a:pPr>
              <a:spcAft>
                <a:spcPts val="1400"/>
              </a:spcAft>
              <a:defRPr sz="1300">
                <a:latin typeface="Calibri"/>
              </a:defRPr>
            </a:pPr>
            <a:r>
              <a:rPr lang="en-US" sz="1600" b="1" dirty="0">
                <a:solidFill>
                  <a:schemeClr val="accent1">
                    <a:lumMod val="75000"/>
                  </a:schemeClr>
                </a:solidFill>
                <a:latin typeface="Times New Roman" panose="02020603050405020304" pitchFamily="18" charset="0"/>
                <a:cs typeface="Times New Roman" panose="02020603050405020304" pitchFamily="18" charset="0"/>
              </a:rPr>
              <a:t>Economic Feasibility: </a:t>
            </a:r>
            <a:r>
              <a:rPr lang="en-US" sz="1600" dirty="0">
                <a:solidFill>
                  <a:srgbClr val="334155"/>
                </a:solidFill>
                <a:latin typeface="Times New Roman" panose="02020603050405020304" pitchFamily="18" charset="0"/>
                <a:cs typeface="Times New Roman" panose="02020603050405020304" pitchFamily="18" charset="0"/>
              </a:rPr>
              <a:t>Zero commercial software license costs. Eliminates recurring paper menu printing and lamination expenses. Reduces waitstaff labor strain and order refund costs caused by communication errors. Highly cost-effective deployment on standard web servers.</a:t>
            </a:r>
          </a:p>
          <a:p>
            <a:pPr>
              <a:spcAft>
                <a:spcPts val="1400"/>
              </a:spcAft>
              <a:defRPr sz="1300">
                <a:latin typeface="Calibri"/>
              </a:defRPr>
            </a:pPr>
            <a:r>
              <a:rPr lang="en-US" sz="1600" b="1" dirty="0">
                <a:solidFill>
                  <a:schemeClr val="accent1">
                    <a:lumMod val="75000"/>
                  </a:schemeClr>
                </a:solidFill>
                <a:latin typeface="Times New Roman" panose="02020603050405020304" pitchFamily="18" charset="0"/>
                <a:cs typeface="Times New Roman" panose="02020603050405020304" pitchFamily="18" charset="0"/>
              </a:rPr>
              <a:t>Operational Feasibility: </a:t>
            </a:r>
            <a:r>
              <a:rPr lang="en-US" sz="1600" dirty="0">
                <a:solidFill>
                  <a:srgbClr val="334155"/>
                </a:solidFill>
                <a:latin typeface="Times New Roman" panose="02020603050405020304" pitchFamily="18" charset="0"/>
                <a:cs typeface="Times New Roman" panose="02020603050405020304" pitchFamily="18" charset="0"/>
              </a:rPr>
              <a:t>Zero customer barrier to entry—customers point their phone camera at the QR code and immediately order. The restaurant owner portal and kitchen display system feature intuitive graphical interfaces requiring less than 15 minutes of staff training.</a:t>
            </a:r>
          </a:p>
        </p:txBody>
      </p:sp>
    </p:spTree>
    <p:extLst>
      <p:ext uri="{BB962C8B-B14F-4D97-AF65-F5344CB8AC3E}">
        <p14:creationId xmlns:p14="http://schemas.microsoft.com/office/powerpoint/2010/main" val="200901747"/>
      </p:ext>
    </p:extLst>
  </p:cSld>
  <p:clrMapOvr>
    <a:masterClrMapping/>
  </p:clrMapOvr>
  <mc:AlternateContent xmlns:mc="http://schemas.openxmlformats.org/markup-compatibility/2006" xmlns:p14="http://schemas.microsoft.com/office/powerpoint/2010/main">
    <mc:Choice Requires="p14">
      <p:transition p14:dur="0" advTm="5000"/>
    </mc:Choice>
    <mc:Fallback xmlns="">
      <p:transition advTm="5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404664"/>
            <a:ext cx="7024744" cy="961176"/>
          </a:xfrm>
        </p:spPr>
        <p:txBody>
          <a:bodyPr wrap="square">
            <a:normAutofit/>
          </a:bodyPr>
          <a:lstStyle/>
          <a:p>
            <a:pPr algn="ctr"/>
            <a:r>
              <a:rPr sz="2800" b="1" dirty="0">
                <a:solidFill>
                  <a:srgbClr val="232323"/>
                </a:solidFill>
                <a:latin typeface="Times New Roman" panose="02020603050405020304" pitchFamily="18" charset="0"/>
                <a:cs typeface="Times New Roman" panose="02020603050405020304" pitchFamily="18" charset="0"/>
              </a:rPr>
              <a:t>Requirement Analysis</a:t>
            </a:r>
          </a:p>
        </p:txBody>
      </p:sp>
      <p:sp>
        <p:nvSpPr>
          <p:cNvPr id="3" name="Content Placeholder 2"/>
          <p:cNvSpPr>
            <a:spLocks noGrp="1"/>
          </p:cNvSpPr>
          <p:nvPr>
            <p:ph idx="1"/>
          </p:nvPr>
        </p:nvSpPr>
        <p:spPr>
          <a:xfrm>
            <a:off x="683568" y="1365840"/>
            <a:ext cx="7560956" cy="4248472"/>
          </a:xfrm>
        </p:spPr>
        <p:txBody>
          <a:bodyPr wrap="square">
            <a:noAutofit/>
          </a:bodyPr>
          <a:lstStyle/>
          <a:p>
            <a:pPr>
              <a:spcAft>
                <a:spcPts val="800"/>
              </a:spcAft>
              <a:defRPr sz="1700" b="1">
                <a:solidFill>
                  <a:srgbClr val="3A5B91"/>
                </a:solidFill>
                <a:latin typeface="Arial"/>
              </a:defRPr>
            </a:pPr>
            <a:r>
              <a:rPr dirty="0">
                <a:latin typeface="Times New Roman" panose="02020603050405020304" pitchFamily="18" charset="0"/>
                <a:cs typeface="Times New Roman" panose="02020603050405020304" pitchFamily="18" charset="0"/>
              </a:rPr>
              <a:t>Hardware Requirements</a:t>
            </a:r>
          </a:p>
          <a:p>
            <a:pPr>
              <a:spcAft>
                <a:spcPts val="200"/>
              </a:spcAft>
              <a:defRPr sz="1400">
                <a:solidFill>
                  <a:srgbClr val="3A5B91"/>
                </a:solidFill>
                <a:latin typeface="Arial"/>
              </a:defRPr>
            </a:pPr>
            <a:r>
              <a:rPr dirty="0">
                <a:latin typeface="Times New Roman" panose="02020603050405020304" pitchFamily="18" charset="0"/>
                <a:cs typeface="Times New Roman" panose="02020603050405020304" pitchFamily="18" charset="0"/>
              </a:rPr>
              <a:t>• Processor: Intel Core i3 or above</a:t>
            </a:r>
          </a:p>
          <a:p>
            <a:pPr>
              <a:spcAft>
                <a:spcPts val="200"/>
              </a:spcAft>
              <a:defRPr sz="1400">
                <a:solidFill>
                  <a:srgbClr val="3A5B91"/>
                </a:solidFill>
                <a:latin typeface="Arial"/>
              </a:defRPr>
            </a:pPr>
            <a:r>
              <a:rPr dirty="0">
                <a:latin typeface="Times New Roman" panose="02020603050405020304" pitchFamily="18" charset="0"/>
                <a:cs typeface="Times New Roman" panose="02020603050405020304" pitchFamily="18" charset="0"/>
              </a:rPr>
              <a:t>• RAM: Minimum 4 GB</a:t>
            </a:r>
          </a:p>
          <a:p>
            <a:pPr>
              <a:spcAft>
                <a:spcPts val="200"/>
              </a:spcAft>
              <a:defRPr sz="1400">
                <a:solidFill>
                  <a:srgbClr val="3A5B91"/>
                </a:solidFill>
                <a:latin typeface="Arial"/>
              </a:defRPr>
            </a:pPr>
            <a:r>
              <a:rPr dirty="0">
                <a:latin typeface="Times New Roman" panose="02020603050405020304" pitchFamily="18" charset="0"/>
                <a:cs typeface="Times New Roman" panose="02020603050405020304" pitchFamily="18" charset="0"/>
              </a:rPr>
              <a:t>• Storage: Minimum 100 GB HDD/SSD</a:t>
            </a:r>
          </a:p>
          <a:p>
            <a:pPr>
              <a:spcAft>
                <a:spcPts val="200"/>
              </a:spcAft>
              <a:defRPr sz="1400">
                <a:solidFill>
                  <a:srgbClr val="3A5B91"/>
                </a:solidFill>
                <a:latin typeface="Arial"/>
              </a:defRPr>
            </a:pPr>
            <a:r>
              <a:rPr dirty="0">
                <a:latin typeface="Times New Roman" panose="02020603050405020304" pitchFamily="18" charset="0"/>
                <a:cs typeface="Times New Roman" panose="02020603050405020304" pitchFamily="18" charset="0"/>
              </a:rPr>
              <a:t>• Keyboard and Mouse</a:t>
            </a:r>
          </a:p>
          <a:p>
            <a:pPr>
              <a:spcAft>
                <a:spcPts val="200"/>
              </a:spcAft>
              <a:defRPr sz="1400">
                <a:solidFill>
                  <a:srgbClr val="3A5B91"/>
                </a:solidFill>
                <a:latin typeface="Arial"/>
              </a:defRPr>
            </a:pPr>
            <a:r>
              <a:rPr dirty="0">
                <a:latin typeface="Times New Roman" panose="02020603050405020304" pitchFamily="18" charset="0"/>
                <a:cs typeface="Times New Roman" panose="02020603050405020304" pitchFamily="18" charset="0"/>
              </a:rPr>
              <a:t>• Internet Connection</a:t>
            </a:r>
          </a:p>
          <a:p>
            <a:pPr>
              <a:spcAft>
                <a:spcPts val="200"/>
              </a:spcAft>
              <a:defRPr sz="1400">
                <a:solidFill>
                  <a:srgbClr val="3A5B91"/>
                </a:solidFill>
                <a:latin typeface="Arial"/>
              </a:defRPr>
            </a:pPr>
            <a:r>
              <a:rPr dirty="0">
                <a:latin typeface="Times New Roman" panose="02020603050405020304" pitchFamily="18" charset="0"/>
                <a:cs typeface="Times New Roman" panose="02020603050405020304" pitchFamily="18" charset="0"/>
              </a:rPr>
              <a:t>• Smartphone for QR scanning</a:t>
            </a:r>
          </a:p>
          <a:p>
            <a:pPr>
              <a:spcAft>
                <a:spcPts val="200"/>
              </a:spcAft>
              <a:defRPr sz="1400">
                <a:solidFill>
                  <a:srgbClr val="3A5B91"/>
                </a:solidFill>
                <a:latin typeface="Arial"/>
              </a:defRPr>
            </a:pPr>
            <a:r>
              <a:rPr dirty="0">
                <a:latin typeface="Times New Roman" panose="02020603050405020304" pitchFamily="18" charset="0"/>
                <a:cs typeface="Times New Roman" panose="02020603050405020304" pitchFamily="18" charset="0"/>
              </a:rPr>
              <a:t>• QR-code stands for restaurant tables</a:t>
            </a:r>
          </a:p>
          <a:p>
            <a:pPr>
              <a:defRPr sz="1700" b="1">
                <a:solidFill>
                  <a:srgbClr val="3A5B91"/>
                </a:solidFill>
                <a:latin typeface="Arial"/>
              </a:defRPr>
            </a:pPr>
            <a:r>
              <a:rPr dirty="0">
                <a:latin typeface="Times New Roman" panose="02020603050405020304" pitchFamily="18" charset="0"/>
                <a:cs typeface="Times New Roman" panose="02020603050405020304" pitchFamily="18" charset="0"/>
              </a:rPr>
              <a:t>Software Requirements</a:t>
            </a:r>
          </a:p>
          <a:p>
            <a:pPr>
              <a:spcAft>
                <a:spcPts val="200"/>
              </a:spcAft>
              <a:defRPr sz="1400">
                <a:solidFill>
                  <a:srgbClr val="3A5B91"/>
                </a:solidFill>
                <a:latin typeface="Arial"/>
              </a:defRPr>
            </a:pPr>
            <a:r>
              <a:rPr dirty="0">
                <a:latin typeface="Times New Roman" panose="02020603050405020304" pitchFamily="18" charset="0"/>
                <a:cs typeface="Times New Roman" panose="02020603050405020304" pitchFamily="18" charset="0"/>
              </a:rPr>
              <a:t>• OS: Windows 10 / Windows 11</a:t>
            </a:r>
          </a:p>
          <a:p>
            <a:pPr>
              <a:spcAft>
                <a:spcPts val="200"/>
              </a:spcAft>
              <a:defRPr sz="1400">
                <a:solidFill>
                  <a:srgbClr val="3A5B91"/>
                </a:solidFill>
                <a:latin typeface="Arial"/>
              </a:defRPr>
            </a:pPr>
            <a:r>
              <a:rPr dirty="0">
                <a:latin typeface="Times New Roman" panose="02020603050405020304" pitchFamily="18" charset="0"/>
                <a:cs typeface="Times New Roman" panose="02020603050405020304" pitchFamily="18" charset="0"/>
              </a:rPr>
              <a:t>• Frontend: HTML5, CSS3, JavaScript, Bootstrap 5</a:t>
            </a:r>
          </a:p>
          <a:p>
            <a:pPr>
              <a:spcAft>
                <a:spcPts val="200"/>
              </a:spcAft>
              <a:defRPr sz="1400">
                <a:solidFill>
                  <a:srgbClr val="3A5B91"/>
                </a:solidFill>
                <a:latin typeface="Arial"/>
              </a:defRPr>
            </a:pPr>
            <a:r>
              <a:rPr dirty="0">
                <a:latin typeface="Times New Roman" panose="02020603050405020304" pitchFamily="18" charset="0"/>
                <a:cs typeface="Times New Roman" panose="02020603050405020304" pitchFamily="18" charset="0"/>
              </a:rPr>
              <a:t>• Backend: PHP</a:t>
            </a:r>
          </a:p>
          <a:p>
            <a:pPr>
              <a:spcAft>
                <a:spcPts val="200"/>
              </a:spcAft>
              <a:defRPr sz="1400">
                <a:solidFill>
                  <a:srgbClr val="3A5B91"/>
                </a:solidFill>
                <a:latin typeface="Arial"/>
              </a:defRPr>
            </a:pPr>
            <a:r>
              <a:rPr dirty="0">
                <a:latin typeface="Times New Roman" panose="02020603050405020304" pitchFamily="18" charset="0"/>
                <a:cs typeface="Times New Roman" panose="02020603050405020304" pitchFamily="18" charset="0"/>
              </a:rPr>
              <a:t>• Database: MySQL</a:t>
            </a:r>
          </a:p>
          <a:p>
            <a:pPr>
              <a:spcAft>
                <a:spcPts val="200"/>
              </a:spcAft>
              <a:defRPr sz="1400">
                <a:solidFill>
                  <a:srgbClr val="3A5B91"/>
                </a:solidFill>
                <a:latin typeface="Arial"/>
              </a:defRPr>
            </a:pPr>
            <a:r>
              <a:rPr dirty="0">
                <a:latin typeface="Times New Roman" panose="02020603050405020304" pitchFamily="18" charset="0"/>
                <a:cs typeface="Times New Roman" panose="02020603050405020304" pitchFamily="18" charset="0"/>
              </a:rPr>
              <a:t>• Local Server: XAMPP</a:t>
            </a:r>
          </a:p>
          <a:p>
            <a:pPr>
              <a:spcAft>
                <a:spcPts val="200"/>
              </a:spcAft>
              <a:defRPr sz="1400">
                <a:solidFill>
                  <a:srgbClr val="3A5B91"/>
                </a:solidFill>
                <a:latin typeface="Arial"/>
              </a:defRPr>
            </a:pPr>
            <a:r>
              <a:rPr dirty="0">
                <a:latin typeface="Times New Roman" panose="02020603050405020304" pitchFamily="18" charset="0"/>
                <a:cs typeface="Times New Roman" panose="02020603050405020304" pitchFamily="18" charset="0"/>
              </a:rPr>
              <a:t>• Code Editor: Visual Studio Code</a:t>
            </a:r>
          </a:p>
          <a:p>
            <a:pPr>
              <a:spcAft>
                <a:spcPts val="200"/>
              </a:spcAft>
              <a:defRPr sz="1400">
                <a:solidFill>
                  <a:srgbClr val="3A5B91"/>
                </a:solidFill>
                <a:latin typeface="Arial"/>
              </a:defRPr>
            </a:pPr>
            <a:r>
              <a:rPr dirty="0">
                <a:latin typeface="Times New Roman" panose="02020603050405020304" pitchFamily="18" charset="0"/>
                <a:cs typeface="Times New Roman" panose="02020603050405020304" pitchFamily="18" charset="0"/>
              </a:rPr>
              <a:t>• Browser: Google Chrome / Microsoft Edge</a:t>
            </a:r>
          </a:p>
        </p:txBody>
      </p:sp>
    </p:spTree>
    <p:extLst>
      <p:ext uri="{BB962C8B-B14F-4D97-AF65-F5344CB8AC3E}">
        <p14:creationId xmlns:p14="http://schemas.microsoft.com/office/powerpoint/2010/main" val="3788062824"/>
      </p:ext>
    </p:extLst>
  </p:cSld>
  <p:clrMapOvr>
    <a:masterClrMapping/>
  </p:clrMapOvr>
  <mc:AlternateContent xmlns:mc="http://schemas.openxmlformats.org/markup-compatibility/2006" xmlns:p14="http://schemas.microsoft.com/office/powerpoint/2010/main">
    <mc:Choice Requires="p14">
      <p:transition p14:dur="0" advTm="5000"/>
    </mc:Choice>
    <mc:Fallback xmlns="">
      <p:transition advTm="5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655294" y="-9696"/>
            <a:ext cx="3474720" cy="620688"/>
          </a:xfrm>
          <a:prstGeom prst="rect">
            <a:avLst/>
          </a:prstGeom>
          <a:solidFill>
            <a:srgbClr val="9C5252"/>
          </a:solidFill>
          <a:ln w="12700">
            <a:solidFill>
              <a:srgbClr val="7E9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dirty="0">
                <a:solidFill>
                  <a:srgbClr val="000000"/>
                </a:solidFill>
                <a:latin typeface="Times New Roman"/>
              </a:rPr>
              <a:t>Data Dictionary</a:t>
            </a:r>
          </a:p>
        </p:txBody>
      </p:sp>
      <p:sp>
        <p:nvSpPr>
          <p:cNvPr id="6" name="Rectangle 5"/>
          <p:cNvSpPr/>
          <p:nvPr/>
        </p:nvSpPr>
        <p:spPr>
          <a:xfrm>
            <a:off x="3502152" y="832104"/>
            <a:ext cx="1737360" cy="32004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00000"/>
                </a:solidFill>
                <a:latin typeface="Arial"/>
              </a:rPr>
              <a:t>Table : admin</a:t>
            </a:r>
          </a:p>
        </p:txBody>
      </p:sp>
      <p:graphicFrame>
        <p:nvGraphicFramePr>
          <p:cNvPr id="8" name="Table 7"/>
          <p:cNvGraphicFramePr>
            <a:graphicFrameLocks noGrp="1"/>
          </p:cNvGraphicFramePr>
          <p:nvPr/>
        </p:nvGraphicFramePr>
        <p:xfrm>
          <a:off x="1170432" y="1225296"/>
          <a:ext cx="6949440" cy="5193790"/>
        </p:xfrm>
        <a:graphic>
          <a:graphicData uri="http://schemas.openxmlformats.org/drawingml/2006/table">
            <a:tbl>
              <a:tblPr firstRow="1" bandRow="1">
                <a:tableStyleId>{5C22544A-7EE6-4342-B048-85BDC9FD1C3A}</a:tableStyleId>
              </a:tblPr>
              <a:tblGrid>
                <a:gridCol w="1572768">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1038758">
                <a:tc>
                  <a:txBody>
                    <a:bodyPr/>
                    <a:lstStyle/>
                    <a:p>
                      <a:pPr algn="l"/>
                      <a:r>
                        <a:rPr sz="1050" b="1" dirty="0">
                          <a:solidFill>
                            <a:srgbClr val="FFFFFF"/>
                          </a:solidFill>
                          <a:latin typeface="Arial"/>
                        </a:rPr>
                        <a:t>Field Name</a:t>
                      </a:r>
                    </a:p>
                  </a:txBody>
                  <a:tcPr marL="64008" marR="64008" marT="9144" marB="9144" anchor="ctr">
                    <a:solidFill>
                      <a:srgbClr val="6076B4"/>
                    </a:solidFill>
                  </a:tcPr>
                </a:tc>
                <a:tc>
                  <a:txBody>
                    <a:bodyPr/>
                    <a:lstStyle/>
                    <a:p>
                      <a:pPr algn="l"/>
                      <a:r>
                        <a:rPr sz="1050" b="1">
                          <a:solidFill>
                            <a:srgbClr val="FFFFFF"/>
                          </a:solidFill>
                          <a:latin typeface="Arial"/>
                        </a:rPr>
                        <a:t>Data Type</a:t>
                      </a:r>
                    </a:p>
                  </a:txBody>
                  <a:tcPr marL="64008" marR="64008" marT="9144" marB="9144" anchor="ctr">
                    <a:solidFill>
                      <a:srgbClr val="6076B4"/>
                    </a:solidFill>
                  </a:tcPr>
                </a:tc>
                <a:tc>
                  <a:txBody>
                    <a:bodyPr/>
                    <a:lstStyle/>
                    <a:p>
                      <a:pPr algn="l"/>
                      <a:r>
                        <a:rPr sz="1050" b="1">
                          <a:solidFill>
                            <a:srgbClr val="FFFFFF"/>
                          </a:solidFill>
                          <a:latin typeface="Arial"/>
                        </a:rPr>
                        <a:t>Key</a:t>
                      </a:r>
                    </a:p>
                  </a:txBody>
                  <a:tcPr marL="64008" marR="64008" marT="9144" marB="9144" anchor="ctr">
                    <a:solidFill>
                      <a:srgbClr val="6076B4"/>
                    </a:solidFill>
                  </a:tcPr>
                </a:tc>
                <a:tc>
                  <a:txBody>
                    <a:bodyPr/>
                    <a:lstStyle/>
                    <a:p>
                      <a:pPr algn="l"/>
                      <a:r>
                        <a:rPr sz="1050" b="1">
                          <a:solidFill>
                            <a:srgbClr val="FFFFFF"/>
                          </a:solidFill>
                          <a:latin typeface="Arial"/>
                        </a:rPr>
                        <a:t>Description</a:t>
                      </a:r>
                    </a:p>
                  </a:txBody>
                  <a:tcPr marL="64008" marR="64008" marT="9144" marB="9144" anchor="ctr">
                    <a:solidFill>
                      <a:srgbClr val="6076B4"/>
                    </a:solidFill>
                  </a:tcPr>
                </a:tc>
                <a:extLst>
                  <a:ext uri="{0D108BD9-81ED-4DB2-BD59-A6C34878D82A}">
                    <a16:rowId xmlns:a16="http://schemas.microsoft.com/office/drawing/2014/main" val="10000"/>
                  </a:ext>
                </a:extLst>
              </a:tr>
              <a:tr h="1038758">
                <a:tc>
                  <a:txBody>
                    <a:bodyPr/>
                    <a:lstStyle/>
                    <a:p>
                      <a:pPr algn="l"/>
                      <a:r>
                        <a:rPr sz="950" b="0">
                          <a:solidFill>
                            <a:srgbClr val="000000"/>
                          </a:solidFill>
                          <a:latin typeface="Arial"/>
                        </a:rPr>
                        <a:t>id</a:t>
                      </a:r>
                    </a:p>
                  </a:txBody>
                  <a:tcPr marL="64008" marR="64008" marT="9144" marB="9144" anchor="ctr">
                    <a:solidFill>
                      <a:srgbClr val="EAEBF2"/>
                    </a:solidFill>
                  </a:tcPr>
                </a:tc>
                <a:tc>
                  <a:txBody>
                    <a:bodyPr/>
                    <a:lstStyle/>
                    <a:p>
                      <a:pPr algn="l"/>
                      <a:r>
                        <a:rPr sz="950" b="0">
                          <a:solidFill>
                            <a:srgbClr val="000000"/>
                          </a:solidFill>
                          <a:latin typeface="Arial"/>
                        </a:rPr>
                        <a:t>bigint(20) unsigned</a:t>
                      </a:r>
                    </a:p>
                  </a:txBody>
                  <a:tcPr marL="64008" marR="64008" marT="9144" marB="9144" anchor="ctr">
                    <a:solidFill>
                      <a:srgbClr val="EAEBF2"/>
                    </a:solidFill>
                  </a:tcPr>
                </a:tc>
                <a:tc>
                  <a:txBody>
                    <a:bodyPr/>
                    <a:lstStyle/>
                    <a:p>
                      <a:pPr algn="l"/>
                      <a:r>
                        <a:rPr sz="950" b="0">
                          <a:solidFill>
                            <a:srgbClr val="000000"/>
                          </a:solidFill>
                          <a:latin typeface="Arial"/>
                        </a:rPr>
                        <a:t>PK</a:t>
                      </a:r>
                    </a:p>
                  </a:txBody>
                  <a:tcPr marL="64008" marR="64008" marT="9144" marB="9144" anchor="ctr">
                    <a:solidFill>
                      <a:srgbClr val="EAEBF2"/>
                    </a:solidFill>
                  </a:tcPr>
                </a:tc>
                <a:tc>
                  <a:txBody>
                    <a:bodyPr/>
                    <a:lstStyle/>
                    <a:p>
                      <a:pPr algn="l"/>
                      <a:r>
                        <a:rPr sz="950" b="0">
                          <a:solidFill>
                            <a:srgbClr val="000000"/>
                          </a:solidFill>
                          <a:latin typeface="Arial"/>
                        </a:rPr>
                        <a:t>Unique administrator record ID.</a:t>
                      </a:r>
                    </a:p>
                  </a:txBody>
                  <a:tcPr marL="64008" marR="64008" marT="9144" marB="9144" anchor="ctr">
                    <a:solidFill>
                      <a:srgbClr val="EAEBF2"/>
                    </a:solidFill>
                  </a:tcPr>
                </a:tc>
                <a:extLst>
                  <a:ext uri="{0D108BD9-81ED-4DB2-BD59-A6C34878D82A}">
                    <a16:rowId xmlns:a16="http://schemas.microsoft.com/office/drawing/2014/main" val="10001"/>
                  </a:ext>
                </a:extLst>
              </a:tr>
              <a:tr h="1038758">
                <a:tc>
                  <a:txBody>
                    <a:bodyPr/>
                    <a:lstStyle/>
                    <a:p>
                      <a:pPr algn="l"/>
                      <a:r>
                        <a:rPr sz="950" b="0">
                          <a:solidFill>
                            <a:srgbClr val="000000"/>
                          </a:solidFill>
                          <a:latin typeface="Arial"/>
                        </a:rPr>
                        <a:t>name</a:t>
                      </a:r>
                    </a:p>
                  </a:txBody>
                  <a:tcPr marL="64008" marR="64008" marT="9144" marB="9144" anchor="ctr">
                    <a:solidFill>
                      <a:srgbClr val="D2D5E4"/>
                    </a:solidFill>
                  </a:tcPr>
                </a:tc>
                <a:tc>
                  <a:txBody>
                    <a:bodyPr/>
                    <a:lstStyle/>
                    <a:p>
                      <a:pPr algn="l"/>
                      <a:r>
                        <a:rPr sz="950" b="0">
                          <a:solidFill>
                            <a:srgbClr val="000000"/>
                          </a:solidFill>
                          <a:latin typeface="Arial"/>
                        </a:rPr>
                        <a:t>varchar(120)</a:t>
                      </a:r>
                    </a:p>
                  </a:txBody>
                  <a:tcPr marL="64008" marR="64008" marT="9144" marB="9144" anchor="ctr">
                    <a:solidFill>
                      <a:srgbClr val="D2D5E4"/>
                    </a:solidFill>
                  </a:tcPr>
                </a:tc>
                <a:tc>
                  <a:txBody>
                    <a:bodyPr/>
                    <a:lstStyle/>
                    <a:p>
                      <a:pPr algn="l"/>
                      <a:r>
                        <a:rPr sz="950" b="0">
                          <a:solidFill>
                            <a:srgbClr val="000000"/>
                          </a:solidFill>
                          <a:latin typeface="Arial"/>
                        </a:rPr>
                        <a:t>—</a:t>
                      </a:r>
                    </a:p>
                  </a:txBody>
                  <a:tcPr marL="64008" marR="64008" marT="9144" marB="9144" anchor="ctr">
                    <a:solidFill>
                      <a:srgbClr val="D2D5E4"/>
                    </a:solidFill>
                  </a:tcPr>
                </a:tc>
                <a:tc>
                  <a:txBody>
                    <a:bodyPr/>
                    <a:lstStyle/>
                    <a:p>
                      <a:pPr algn="l"/>
                      <a:r>
                        <a:rPr sz="950" b="0">
                          <a:solidFill>
                            <a:srgbClr val="000000"/>
                          </a:solidFill>
                          <a:latin typeface="Arial"/>
                        </a:rPr>
                        <a:t>Name of the administrator/auditing record.</a:t>
                      </a:r>
                    </a:p>
                  </a:txBody>
                  <a:tcPr marL="64008" marR="64008" marT="9144" marB="9144" anchor="ctr">
                    <a:solidFill>
                      <a:srgbClr val="D2D5E4"/>
                    </a:solidFill>
                  </a:tcPr>
                </a:tc>
                <a:extLst>
                  <a:ext uri="{0D108BD9-81ED-4DB2-BD59-A6C34878D82A}">
                    <a16:rowId xmlns:a16="http://schemas.microsoft.com/office/drawing/2014/main" val="10002"/>
                  </a:ext>
                </a:extLst>
              </a:tr>
              <a:tr h="1038758">
                <a:tc>
                  <a:txBody>
                    <a:bodyPr/>
                    <a:lstStyle/>
                    <a:p>
                      <a:pPr algn="l"/>
                      <a:r>
                        <a:rPr sz="950" b="0">
                          <a:solidFill>
                            <a:srgbClr val="000000"/>
                          </a:solidFill>
                          <a:latin typeface="Arial"/>
                        </a:rPr>
                        <a:t>created_at</a:t>
                      </a:r>
                    </a:p>
                  </a:txBody>
                  <a:tcPr marL="64008" marR="64008" marT="9144" marB="9144" anchor="ctr">
                    <a:solidFill>
                      <a:srgbClr val="EAEBF2"/>
                    </a:solidFill>
                  </a:tcPr>
                </a:tc>
                <a:tc>
                  <a:txBody>
                    <a:bodyPr/>
                    <a:lstStyle/>
                    <a:p>
                      <a:pPr algn="l"/>
                      <a:r>
                        <a:rPr sz="950" b="0">
                          <a:solidFill>
                            <a:srgbClr val="000000"/>
                          </a:solidFill>
                          <a:latin typeface="Arial"/>
                        </a:rPr>
                        <a:t>timestamp</a:t>
                      </a:r>
                    </a:p>
                  </a:txBody>
                  <a:tcPr marL="64008" marR="64008" marT="9144" marB="9144" anchor="ctr">
                    <a:solidFill>
                      <a:srgbClr val="EAEBF2"/>
                    </a:solidFill>
                  </a:tcPr>
                </a:tc>
                <a:tc>
                  <a:txBody>
                    <a:bodyPr/>
                    <a:lstStyle/>
                    <a:p>
                      <a:pPr algn="l"/>
                      <a:r>
                        <a:rPr sz="950" b="0">
                          <a:solidFill>
                            <a:srgbClr val="000000"/>
                          </a:solidFill>
                          <a:latin typeface="Arial"/>
                        </a:rPr>
                        <a:t>—</a:t>
                      </a:r>
                    </a:p>
                  </a:txBody>
                  <a:tcPr marL="64008" marR="64008" marT="9144" marB="9144" anchor="ctr">
                    <a:solidFill>
                      <a:srgbClr val="EAEBF2"/>
                    </a:solidFill>
                  </a:tcPr>
                </a:tc>
                <a:tc>
                  <a:txBody>
                    <a:bodyPr/>
                    <a:lstStyle/>
                    <a:p>
                      <a:pPr algn="l"/>
                      <a:r>
                        <a:rPr sz="950" b="0">
                          <a:solidFill>
                            <a:srgbClr val="000000"/>
                          </a:solidFill>
                          <a:latin typeface="Arial"/>
                        </a:rPr>
                        <a:t>Date and time the record was created.</a:t>
                      </a:r>
                    </a:p>
                  </a:txBody>
                  <a:tcPr marL="64008" marR="64008" marT="9144" marB="9144" anchor="ctr">
                    <a:solidFill>
                      <a:srgbClr val="EAEBF2"/>
                    </a:solidFill>
                  </a:tcPr>
                </a:tc>
                <a:extLst>
                  <a:ext uri="{0D108BD9-81ED-4DB2-BD59-A6C34878D82A}">
                    <a16:rowId xmlns:a16="http://schemas.microsoft.com/office/drawing/2014/main" val="10003"/>
                  </a:ext>
                </a:extLst>
              </a:tr>
              <a:tr h="1038758">
                <a:tc>
                  <a:txBody>
                    <a:bodyPr/>
                    <a:lstStyle/>
                    <a:p>
                      <a:pPr algn="l"/>
                      <a:r>
                        <a:rPr sz="950" b="0" dirty="0" err="1">
                          <a:solidFill>
                            <a:srgbClr val="000000"/>
                          </a:solidFill>
                          <a:latin typeface="Arial"/>
                        </a:rPr>
                        <a:t>updated_at</a:t>
                      </a:r>
                      <a:endParaRPr sz="950" b="0" dirty="0">
                        <a:solidFill>
                          <a:srgbClr val="000000"/>
                        </a:solidFill>
                        <a:latin typeface="Arial"/>
                      </a:endParaRPr>
                    </a:p>
                  </a:txBody>
                  <a:tcPr marL="64008" marR="64008" marT="9144" marB="9144" anchor="ctr">
                    <a:solidFill>
                      <a:srgbClr val="D2D5E4"/>
                    </a:solidFill>
                  </a:tcPr>
                </a:tc>
                <a:tc>
                  <a:txBody>
                    <a:bodyPr/>
                    <a:lstStyle/>
                    <a:p>
                      <a:pPr algn="l"/>
                      <a:r>
                        <a:rPr sz="950" b="0">
                          <a:solidFill>
                            <a:srgbClr val="000000"/>
                          </a:solidFill>
                          <a:latin typeface="Arial"/>
                        </a:rPr>
                        <a:t>timestamp</a:t>
                      </a:r>
                    </a:p>
                  </a:txBody>
                  <a:tcPr marL="64008" marR="64008" marT="9144" marB="9144" anchor="ctr">
                    <a:solidFill>
                      <a:srgbClr val="D2D5E4"/>
                    </a:solidFill>
                  </a:tcPr>
                </a:tc>
                <a:tc>
                  <a:txBody>
                    <a:bodyPr/>
                    <a:lstStyle/>
                    <a:p>
                      <a:pPr algn="l"/>
                      <a:r>
                        <a:rPr sz="950" b="0">
                          <a:solidFill>
                            <a:srgbClr val="000000"/>
                          </a:solidFill>
                          <a:latin typeface="Arial"/>
                        </a:rPr>
                        <a:t>—</a:t>
                      </a:r>
                    </a:p>
                  </a:txBody>
                  <a:tcPr marL="64008" marR="64008" marT="9144" marB="9144" anchor="ctr">
                    <a:solidFill>
                      <a:srgbClr val="D2D5E4"/>
                    </a:solidFill>
                  </a:tcPr>
                </a:tc>
                <a:tc>
                  <a:txBody>
                    <a:bodyPr/>
                    <a:lstStyle/>
                    <a:p>
                      <a:pPr algn="l"/>
                      <a:r>
                        <a:rPr sz="950" b="0" dirty="0">
                          <a:solidFill>
                            <a:srgbClr val="000000"/>
                          </a:solidFill>
                          <a:latin typeface="Arial"/>
                        </a:rPr>
                        <a:t>Date and time the record was last updated.</a:t>
                      </a:r>
                    </a:p>
                  </a:txBody>
                  <a:tcPr marL="64008" marR="64008" marT="9144" marB="9144" anchor="ctr">
                    <a:solidFill>
                      <a:srgbClr val="D2D5E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3.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3063240" y="0"/>
            <a:ext cx="30175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256032"/>
            <a:ext cx="8229600" cy="6327648"/>
          </a:xfrm>
          <a:prstGeom prst="rect">
            <a:avLst/>
          </a:prstGeom>
          <a:solidFill>
            <a:srgbClr val="FFFFFF"/>
          </a:solidFill>
          <a:ln w="10160">
            <a:solidFill>
              <a:srgbClr val="696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47288" y="36576"/>
            <a:ext cx="2249424" cy="438912"/>
          </a:xfrm>
          <a:prstGeom prst="rect">
            <a:avLst/>
          </a:prstGeom>
          <a:solidFill>
            <a:srgbClr val="9C5252"/>
          </a:solidFill>
          <a:ln w="12700">
            <a:solidFill>
              <a:srgbClr val="7E9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00000"/>
                </a:solidFill>
                <a:latin typeface="Times New Roman"/>
              </a:rPr>
              <a:t>Data Dictionary</a:t>
            </a:r>
          </a:p>
        </p:txBody>
      </p:sp>
      <p:sp>
        <p:nvSpPr>
          <p:cNvPr id="6" name="Rectangle 5"/>
          <p:cNvSpPr/>
          <p:nvPr/>
        </p:nvSpPr>
        <p:spPr>
          <a:xfrm>
            <a:off x="3502152" y="832104"/>
            <a:ext cx="1737360" cy="32004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00000"/>
                </a:solidFill>
                <a:latin typeface="Arial"/>
              </a:rPr>
              <a:t>Table : branches</a:t>
            </a:r>
          </a:p>
        </p:txBody>
      </p:sp>
      <p:sp>
        <p:nvSpPr>
          <p:cNvPr id="7" name="TextBox 6"/>
          <p:cNvSpPr txBox="1"/>
          <p:nvPr/>
        </p:nvSpPr>
        <p:spPr>
          <a:xfrm>
            <a:off x="5312664" y="832104"/>
            <a:ext cx="320040" cy="320040"/>
          </a:xfrm>
          <a:prstGeom prst="rect">
            <a:avLst/>
          </a:prstGeom>
          <a:noFill/>
        </p:spPr>
        <p:txBody>
          <a:bodyPr wrap="none" anchor="ctr">
            <a:spAutoFit/>
          </a:bodyPr>
          <a:lstStyle/>
          <a:p>
            <a:pPr algn="l"/>
            <a:r>
              <a:rPr sz="1100">
                <a:solidFill>
                  <a:srgbClr val="000000"/>
                </a:solidFill>
                <a:latin typeface="Arial"/>
              </a:rPr>
              <a:t>:-</a:t>
            </a:r>
          </a:p>
        </p:txBody>
      </p:sp>
      <p:graphicFrame>
        <p:nvGraphicFramePr>
          <p:cNvPr id="8" name="Table 7"/>
          <p:cNvGraphicFramePr>
            <a:graphicFrameLocks noGrp="1"/>
          </p:cNvGraphicFramePr>
          <p:nvPr/>
        </p:nvGraphicFramePr>
        <p:xfrm>
          <a:off x="1170432" y="1225296"/>
          <a:ext cx="6949440" cy="5193782"/>
        </p:xfrm>
        <a:graphic>
          <a:graphicData uri="http://schemas.openxmlformats.org/drawingml/2006/table">
            <a:tbl>
              <a:tblPr firstRow="1" bandRow="1">
                <a:tableStyleId>{5C22544A-7EE6-4342-B048-85BDC9FD1C3A}</a:tableStyleId>
              </a:tblPr>
              <a:tblGrid>
                <a:gridCol w="1572768">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472162">
                <a:tc>
                  <a:txBody>
                    <a:bodyPr/>
                    <a:lstStyle/>
                    <a:p>
                      <a:pPr algn="l"/>
                      <a:r>
                        <a:rPr sz="1050" b="1">
                          <a:solidFill>
                            <a:srgbClr val="FFFFFF"/>
                          </a:solidFill>
                          <a:latin typeface="Arial"/>
                        </a:rPr>
                        <a:t>Field Name</a:t>
                      </a:r>
                    </a:p>
                  </a:txBody>
                  <a:tcPr marL="64008" marR="64008" marT="9144" marB="9144" anchor="ctr">
                    <a:solidFill>
                      <a:srgbClr val="6076B4"/>
                    </a:solidFill>
                  </a:tcPr>
                </a:tc>
                <a:tc>
                  <a:txBody>
                    <a:bodyPr/>
                    <a:lstStyle/>
                    <a:p>
                      <a:pPr algn="l"/>
                      <a:r>
                        <a:rPr sz="1050" b="1">
                          <a:solidFill>
                            <a:srgbClr val="FFFFFF"/>
                          </a:solidFill>
                          <a:latin typeface="Arial"/>
                        </a:rPr>
                        <a:t>Data Type</a:t>
                      </a:r>
                    </a:p>
                  </a:txBody>
                  <a:tcPr marL="64008" marR="64008" marT="9144" marB="9144" anchor="ctr">
                    <a:solidFill>
                      <a:srgbClr val="6076B4"/>
                    </a:solidFill>
                  </a:tcPr>
                </a:tc>
                <a:tc>
                  <a:txBody>
                    <a:bodyPr/>
                    <a:lstStyle/>
                    <a:p>
                      <a:pPr algn="l"/>
                      <a:r>
                        <a:rPr sz="1050" b="1">
                          <a:solidFill>
                            <a:srgbClr val="FFFFFF"/>
                          </a:solidFill>
                          <a:latin typeface="Arial"/>
                        </a:rPr>
                        <a:t>Key</a:t>
                      </a:r>
                    </a:p>
                  </a:txBody>
                  <a:tcPr marL="64008" marR="64008" marT="9144" marB="9144" anchor="ctr">
                    <a:solidFill>
                      <a:srgbClr val="6076B4"/>
                    </a:solidFill>
                  </a:tcPr>
                </a:tc>
                <a:tc>
                  <a:txBody>
                    <a:bodyPr/>
                    <a:lstStyle/>
                    <a:p>
                      <a:pPr algn="l"/>
                      <a:r>
                        <a:rPr sz="1050" b="1">
                          <a:solidFill>
                            <a:srgbClr val="FFFFFF"/>
                          </a:solidFill>
                          <a:latin typeface="Arial"/>
                        </a:rPr>
                        <a:t>Description</a:t>
                      </a:r>
                    </a:p>
                  </a:txBody>
                  <a:tcPr marL="64008" marR="64008" marT="9144" marB="9144" anchor="ctr">
                    <a:solidFill>
                      <a:srgbClr val="6076B4"/>
                    </a:solidFill>
                  </a:tcPr>
                </a:tc>
                <a:extLst>
                  <a:ext uri="{0D108BD9-81ED-4DB2-BD59-A6C34878D82A}">
                    <a16:rowId xmlns:a16="http://schemas.microsoft.com/office/drawing/2014/main" val="10000"/>
                  </a:ext>
                </a:extLst>
              </a:tr>
              <a:tr h="472162">
                <a:tc>
                  <a:txBody>
                    <a:bodyPr/>
                    <a:lstStyle/>
                    <a:p>
                      <a:pPr algn="l"/>
                      <a:r>
                        <a:rPr sz="850" b="0">
                          <a:solidFill>
                            <a:srgbClr val="000000"/>
                          </a:solidFill>
                          <a:latin typeface="Arial"/>
                        </a:rPr>
                        <a:t>id</a:t>
                      </a:r>
                    </a:p>
                  </a:txBody>
                  <a:tcPr marL="64008" marR="64008" marT="9144" marB="9144" anchor="ctr">
                    <a:solidFill>
                      <a:srgbClr val="EAEBF2"/>
                    </a:solidFill>
                  </a:tcPr>
                </a:tc>
                <a:tc>
                  <a:txBody>
                    <a:bodyPr/>
                    <a:lstStyle/>
                    <a:p>
                      <a:pPr algn="l"/>
                      <a:r>
                        <a:rPr sz="850" b="0">
                          <a:solidFill>
                            <a:srgbClr val="000000"/>
                          </a:solidFill>
                          <a:latin typeface="Arial"/>
                        </a:rPr>
                        <a:t>bigint(20) unsigned</a:t>
                      </a:r>
                    </a:p>
                  </a:txBody>
                  <a:tcPr marL="64008" marR="64008" marT="9144" marB="9144" anchor="ctr">
                    <a:solidFill>
                      <a:srgbClr val="EAEBF2"/>
                    </a:solidFill>
                  </a:tcPr>
                </a:tc>
                <a:tc>
                  <a:txBody>
                    <a:bodyPr/>
                    <a:lstStyle/>
                    <a:p>
                      <a:pPr algn="l"/>
                      <a:r>
                        <a:rPr sz="850" b="0">
                          <a:solidFill>
                            <a:srgbClr val="000000"/>
                          </a:solidFill>
                          <a:latin typeface="Arial"/>
                        </a:rPr>
                        <a:t>PK</a:t>
                      </a:r>
                    </a:p>
                  </a:txBody>
                  <a:tcPr marL="64008" marR="64008" marT="9144" marB="9144" anchor="ctr">
                    <a:solidFill>
                      <a:srgbClr val="EAEBF2"/>
                    </a:solidFill>
                  </a:tcPr>
                </a:tc>
                <a:tc>
                  <a:txBody>
                    <a:bodyPr/>
                    <a:lstStyle/>
                    <a:p>
                      <a:pPr algn="l"/>
                      <a:r>
                        <a:rPr sz="850" b="0">
                          <a:solidFill>
                            <a:srgbClr val="000000"/>
                          </a:solidFill>
                          <a:latin typeface="Arial"/>
                        </a:rPr>
                        <a:t>Unique branch identifier.</a:t>
                      </a:r>
                    </a:p>
                  </a:txBody>
                  <a:tcPr marL="64008" marR="64008" marT="9144" marB="9144" anchor="ctr">
                    <a:solidFill>
                      <a:srgbClr val="EAEBF2"/>
                    </a:solidFill>
                  </a:tcPr>
                </a:tc>
                <a:extLst>
                  <a:ext uri="{0D108BD9-81ED-4DB2-BD59-A6C34878D82A}">
                    <a16:rowId xmlns:a16="http://schemas.microsoft.com/office/drawing/2014/main" val="10001"/>
                  </a:ext>
                </a:extLst>
              </a:tr>
              <a:tr h="472162">
                <a:tc>
                  <a:txBody>
                    <a:bodyPr/>
                    <a:lstStyle/>
                    <a:p>
                      <a:pPr algn="l"/>
                      <a:r>
                        <a:rPr sz="850" b="0">
                          <a:solidFill>
                            <a:srgbClr val="000000"/>
                          </a:solidFill>
                          <a:latin typeface="Arial"/>
                        </a:rPr>
                        <a:t>restaurant_id</a:t>
                      </a:r>
                    </a:p>
                  </a:txBody>
                  <a:tcPr marL="64008" marR="64008" marT="9144" marB="9144" anchor="ctr">
                    <a:solidFill>
                      <a:srgbClr val="D2D5E4"/>
                    </a:solidFill>
                  </a:tcPr>
                </a:tc>
                <a:tc>
                  <a:txBody>
                    <a:bodyPr/>
                    <a:lstStyle/>
                    <a:p>
                      <a:pPr algn="l"/>
                      <a:r>
                        <a:rPr sz="850" b="0">
                          <a:solidFill>
                            <a:srgbClr val="000000"/>
                          </a:solidFill>
                          <a:latin typeface="Arial"/>
                        </a:rPr>
                        <a:t>bigint(20) unsigned</a:t>
                      </a:r>
                    </a:p>
                  </a:txBody>
                  <a:tcPr marL="64008" marR="64008" marT="9144" marB="9144" anchor="ctr">
                    <a:solidFill>
                      <a:srgbClr val="D2D5E4"/>
                    </a:solidFill>
                  </a:tcPr>
                </a:tc>
                <a:tc>
                  <a:txBody>
                    <a:bodyPr/>
                    <a:lstStyle/>
                    <a:p>
                      <a:pPr algn="l"/>
                      <a:r>
                        <a:rPr sz="850" b="0">
                          <a:solidFill>
                            <a:srgbClr val="000000"/>
                          </a:solidFill>
                          <a:latin typeface="Arial"/>
                        </a:rPr>
                        <a:t>FK</a:t>
                      </a:r>
                    </a:p>
                  </a:txBody>
                  <a:tcPr marL="64008" marR="64008" marT="9144" marB="9144" anchor="ctr">
                    <a:solidFill>
                      <a:srgbClr val="D2D5E4"/>
                    </a:solidFill>
                  </a:tcPr>
                </a:tc>
                <a:tc>
                  <a:txBody>
                    <a:bodyPr/>
                    <a:lstStyle/>
                    <a:p>
                      <a:pPr algn="l"/>
                      <a:r>
                        <a:rPr sz="850" b="0">
                          <a:solidFill>
                            <a:srgbClr val="000000"/>
                          </a:solidFill>
                          <a:latin typeface="Arial"/>
                        </a:rPr>
                        <a:t>Links the branch to a restaurant.</a:t>
                      </a:r>
                    </a:p>
                  </a:txBody>
                  <a:tcPr marL="64008" marR="64008" marT="9144" marB="9144" anchor="ctr">
                    <a:solidFill>
                      <a:srgbClr val="D2D5E4"/>
                    </a:solidFill>
                  </a:tcPr>
                </a:tc>
                <a:extLst>
                  <a:ext uri="{0D108BD9-81ED-4DB2-BD59-A6C34878D82A}">
                    <a16:rowId xmlns:a16="http://schemas.microsoft.com/office/drawing/2014/main" val="10002"/>
                  </a:ext>
                </a:extLst>
              </a:tr>
              <a:tr h="472162">
                <a:tc>
                  <a:txBody>
                    <a:bodyPr/>
                    <a:lstStyle/>
                    <a:p>
                      <a:pPr algn="l"/>
                      <a:r>
                        <a:rPr sz="850" b="0">
                          <a:solidFill>
                            <a:srgbClr val="000000"/>
                          </a:solidFill>
                          <a:latin typeface="Arial"/>
                        </a:rPr>
                        <a:t>name</a:t>
                      </a:r>
                    </a:p>
                  </a:txBody>
                  <a:tcPr marL="64008" marR="64008" marT="9144" marB="9144" anchor="ctr">
                    <a:solidFill>
                      <a:srgbClr val="EAEBF2"/>
                    </a:solidFill>
                  </a:tcPr>
                </a:tc>
                <a:tc>
                  <a:txBody>
                    <a:bodyPr/>
                    <a:lstStyle/>
                    <a:p>
                      <a:pPr algn="l"/>
                      <a:r>
                        <a:rPr sz="850" b="0">
                          <a:solidFill>
                            <a:srgbClr val="000000"/>
                          </a:solidFill>
                          <a:latin typeface="Arial"/>
                        </a:rPr>
                        <a:t>varchar(150)</a:t>
                      </a:r>
                    </a:p>
                  </a:txBody>
                  <a:tcPr marL="64008" marR="64008" marT="9144" marB="9144" anchor="ctr">
                    <a:solidFill>
                      <a:srgbClr val="EAEBF2"/>
                    </a:solidFill>
                  </a:tcPr>
                </a:tc>
                <a:tc>
                  <a:txBody>
                    <a:bodyPr/>
                    <a:lstStyle/>
                    <a:p>
                      <a:pPr algn="l"/>
                      <a:r>
                        <a:rPr sz="850" b="0">
                          <a:solidFill>
                            <a:srgbClr val="000000"/>
                          </a:solidFill>
                          <a:latin typeface="Arial"/>
                        </a:rPr>
                        <a:t>—</a:t>
                      </a:r>
                    </a:p>
                  </a:txBody>
                  <a:tcPr marL="64008" marR="64008" marT="9144" marB="9144" anchor="ctr">
                    <a:solidFill>
                      <a:srgbClr val="EAEBF2"/>
                    </a:solidFill>
                  </a:tcPr>
                </a:tc>
                <a:tc>
                  <a:txBody>
                    <a:bodyPr/>
                    <a:lstStyle/>
                    <a:p>
                      <a:pPr algn="l"/>
                      <a:r>
                        <a:rPr sz="850" b="0">
                          <a:solidFill>
                            <a:srgbClr val="000000"/>
                          </a:solidFill>
                          <a:latin typeface="Arial"/>
                        </a:rPr>
                        <a:t>Physical branch name.</a:t>
                      </a:r>
                    </a:p>
                  </a:txBody>
                  <a:tcPr marL="64008" marR="64008" marT="9144" marB="9144" anchor="ctr">
                    <a:solidFill>
                      <a:srgbClr val="EAEBF2"/>
                    </a:solidFill>
                  </a:tcPr>
                </a:tc>
                <a:extLst>
                  <a:ext uri="{0D108BD9-81ED-4DB2-BD59-A6C34878D82A}">
                    <a16:rowId xmlns:a16="http://schemas.microsoft.com/office/drawing/2014/main" val="10003"/>
                  </a:ext>
                </a:extLst>
              </a:tr>
              <a:tr h="472162">
                <a:tc>
                  <a:txBody>
                    <a:bodyPr/>
                    <a:lstStyle/>
                    <a:p>
                      <a:pPr algn="l"/>
                      <a:r>
                        <a:rPr sz="850" b="0">
                          <a:solidFill>
                            <a:srgbClr val="000000"/>
                          </a:solidFill>
                          <a:latin typeface="Arial"/>
                        </a:rPr>
                        <a:t>address</a:t>
                      </a:r>
                    </a:p>
                  </a:txBody>
                  <a:tcPr marL="64008" marR="64008" marT="9144" marB="9144" anchor="ctr">
                    <a:solidFill>
                      <a:srgbClr val="D2D5E4"/>
                    </a:solidFill>
                  </a:tcPr>
                </a:tc>
                <a:tc>
                  <a:txBody>
                    <a:bodyPr/>
                    <a:lstStyle/>
                    <a:p>
                      <a:pPr algn="l"/>
                      <a:r>
                        <a:rPr sz="850" b="0">
                          <a:solidFill>
                            <a:srgbClr val="000000"/>
                          </a:solidFill>
                          <a:latin typeface="Arial"/>
                        </a:rPr>
                        <a:t>text</a:t>
                      </a:r>
                    </a:p>
                  </a:txBody>
                  <a:tcPr marL="64008" marR="64008" marT="9144" marB="9144" anchor="ctr">
                    <a:solidFill>
                      <a:srgbClr val="D2D5E4"/>
                    </a:solidFill>
                  </a:tcPr>
                </a:tc>
                <a:tc>
                  <a:txBody>
                    <a:bodyPr/>
                    <a:lstStyle/>
                    <a:p>
                      <a:pPr algn="l"/>
                      <a:r>
                        <a:rPr sz="850" b="0">
                          <a:solidFill>
                            <a:srgbClr val="000000"/>
                          </a:solidFill>
                          <a:latin typeface="Arial"/>
                        </a:rPr>
                        <a:t>—</a:t>
                      </a:r>
                    </a:p>
                  </a:txBody>
                  <a:tcPr marL="64008" marR="64008" marT="9144" marB="9144" anchor="ctr">
                    <a:solidFill>
                      <a:srgbClr val="D2D5E4"/>
                    </a:solidFill>
                  </a:tcPr>
                </a:tc>
                <a:tc>
                  <a:txBody>
                    <a:bodyPr/>
                    <a:lstStyle/>
                    <a:p>
                      <a:pPr algn="l"/>
                      <a:r>
                        <a:rPr sz="850" b="0">
                          <a:solidFill>
                            <a:srgbClr val="000000"/>
                          </a:solidFill>
                          <a:latin typeface="Arial"/>
                        </a:rPr>
                        <a:t>Branch street address.</a:t>
                      </a:r>
                    </a:p>
                  </a:txBody>
                  <a:tcPr marL="64008" marR="64008" marT="9144" marB="9144" anchor="ctr">
                    <a:solidFill>
                      <a:srgbClr val="D2D5E4"/>
                    </a:solidFill>
                  </a:tcPr>
                </a:tc>
                <a:extLst>
                  <a:ext uri="{0D108BD9-81ED-4DB2-BD59-A6C34878D82A}">
                    <a16:rowId xmlns:a16="http://schemas.microsoft.com/office/drawing/2014/main" val="10004"/>
                  </a:ext>
                </a:extLst>
              </a:tr>
              <a:tr h="472162">
                <a:tc>
                  <a:txBody>
                    <a:bodyPr/>
                    <a:lstStyle/>
                    <a:p>
                      <a:pPr algn="l"/>
                      <a:r>
                        <a:rPr sz="850" b="0">
                          <a:solidFill>
                            <a:srgbClr val="000000"/>
                          </a:solidFill>
                          <a:latin typeface="Arial"/>
                        </a:rPr>
                        <a:t>city</a:t>
                      </a:r>
                    </a:p>
                  </a:txBody>
                  <a:tcPr marL="64008" marR="64008" marT="9144" marB="9144" anchor="ctr">
                    <a:solidFill>
                      <a:srgbClr val="EAEBF2"/>
                    </a:solidFill>
                  </a:tcPr>
                </a:tc>
                <a:tc>
                  <a:txBody>
                    <a:bodyPr/>
                    <a:lstStyle/>
                    <a:p>
                      <a:pPr algn="l"/>
                      <a:r>
                        <a:rPr sz="850" b="0">
                          <a:solidFill>
                            <a:srgbClr val="000000"/>
                          </a:solidFill>
                          <a:latin typeface="Arial"/>
                        </a:rPr>
                        <a:t>varchar(100)</a:t>
                      </a:r>
                    </a:p>
                  </a:txBody>
                  <a:tcPr marL="64008" marR="64008" marT="9144" marB="9144" anchor="ctr">
                    <a:solidFill>
                      <a:srgbClr val="EAEBF2"/>
                    </a:solidFill>
                  </a:tcPr>
                </a:tc>
                <a:tc>
                  <a:txBody>
                    <a:bodyPr/>
                    <a:lstStyle/>
                    <a:p>
                      <a:pPr algn="l"/>
                      <a:r>
                        <a:rPr sz="850" b="0">
                          <a:solidFill>
                            <a:srgbClr val="000000"/>
                          </a:solidFill>
                          <a:latin typeface="Arial"/>
                        </a:rPr>
                        <a:t>—</a:t>
                      </a:r>
                    </a:p>
                  </a:txBody>
                  <a:tcPr marL="64008" marR="64008" marT="9144" marB="9144" anchor="ctr">
                    <a:solidFill>
                      <a:srgbClr val="EAEBF2"/>
                    </a:solidFill>
                  </a:tcPr>
                </a:tc>
                <a:tc>
                  <a:txBody>
                    <a:bodyPr/>
                    <a:lstStyle/>
                    <a:p>
                      <a:pPr algn="l"/>
                      <a:r>
                        <a:rPr sz="850" b="0">
                          <a:solidFill>
                            <a:srgbClr val="000000"/>
                          </a:solidFill>
                          <a:latin typeface="Arial"/>
                        </a:rPr>
                        <a:t>Branch city.</a:t>
                      </a:r>
                    </a:p>
                  </a:txBody>
                  <a:tcPr marL="64008" marR="64008" marT="9144" marB="9144" anchor="ctr">
                    <a:solidFill>
                      <a:srgbClr val="EAEBF2"/>
                    </a:solidFill>
                  </a:tcPr>
                </a:tc>
                <a:extLst>
                  <a:ext uri="{0D108BD9-81ED-4DB2-BD59-A6C34878D82A}">
                    <a16:rowId xmlns:a16="http://schemas.microsoft.com/office/drawing/2014/main" val="10005"/>
                  </a:ext>
                </a:extLst>
              </a:tr>
              <a:tr h="472162">
                <a:tc>
                  <a:txBody>
                    <a:bodyPr/>
                    <a:lstStyle/>
                    <a:p>
                      <a:pPr algn="l"/>
                      <a:r>
                        <a:rPr sz="850" b="0">
                          <a:solidFill>
                            <a:srgbClr val="000000"/>
                          </a:solidFill>
                          <a:latin typeface="Arial"/>
                        </a:rPr>
                        <a:t>state</a:t>
                      </a:r>
                    </a:p>
                  </a:txBody>
                  <a:tcPr marL="64008" marR="64008" marT="9144" marB="9144" anchor="ctr">
                    <a:solidFill>
                      <a:srgbClr val="D2D5E4"/>
                    </a:solidFill>
                  </a:tcPr>
                </a:tc>
                <a:tc>
                  <a:txBody>
                    <a:bodyPr/>
                    <a:lstStyle/>
                    <a:p>
                      <a:pPr algn="l"/>
                      <a:r>
                        <a:rPr sz="850" b="0">
                          <a:solidFill>
                            <a:srgbClr val="000000"/>
                          </a:solidFill>
                          <a:latin typeface="Arial"/>
                        </a:rPr>
                        <a:t>varchar(100)</a:t>
                      </a:r>
                    </a:p>
                  </a:txBody>
                  <a:tcPr marL="64008" marR="64008" marT="9144" marB="9144" anchor="ctr">
                    <a:solidFill>
                      <a:srgbClr val="D2D5E4"/>
                    </a:solidFill>
                  </a:tcPr>
                </a:tc>
                <a:tc>
                  <a:txBody>
                    <a:bodyPr/>
                    <a:lstStyle/>
                    <a:p>
                      <a:pPr algn="l"/>
                      <a:r>
                        <a:rPr sz="850" b="0">
                          <a:solidFill>
                            <a:srgbClr val="000000"/>
                          </a:solidFill>
                          <a:latin typeface="Arial"/>
                        </a:rPr>
                        <a:t>—</a:t>
                      </a:r>
                    </a:p>
                  </a:txBody>
                  <a:tcPr marL="64008" marR="64008" marT="9144" marB="9144" anchor="ctr">
                    <a:solidFill>
                      <a:srgbClr val="D2D5E4"/>
                    </a:solidFill>
                  </a:tcPr>
                </a:tc>
                <a:tc>
                  <a:txBody>
                    <a:bodyPr/>
                    <a:lstStyle/>
                    <a:p>
                      <a:pPr algn="l"/>
                      <a:r>
                        <a:rPr sz="850" b="0">
                          <a:solidFill>
                            <a:srgbClr val="000000"/>
                          </a:solidFill>
                          <a:latin typeface="Arial"/>
                        </a:rPr>
                        <a:t>Branch state.</a:t>
                      </a:r>
                    </a:p>
                  </a:txBody>
                  <a:tcPr marL="64008" marR="64008" marT="9144" marB="9144" anchor="ctr">
                    <a:solidFill>
                      <a:srgbClr val="D2D5E4"/>
                    </a:solidFill>
                  </a:tcPr>
                </a:tc>
                <a:extLst>
                  <a:ext uri="{0D108BD9-81ED-4DB2-BD59-A6C34878D82A}">
                    <a16:rowId xmlns:a16="http://schemas.microsoft.com/office/drawing/2014/main" val="10006"/>
                  </a:ext>
                </a:extLst>
              </a:tr>
              <a:tr h="472162">
                <a:tc>
                  <a:txBody>
                    <a:bodyPr/>
                    <a:lstStyle/>
                    <a:p>
                      <a:pPr algn="l"/>
                      <a:r>
                        <a:rPr sz="850" b="0">
                          <a:solidFill>
                            <a:srgbClr val="000000"/>
                          </a:solidFill>
                          <a:latin typeface="Arial"/>
                        </a:rPr>
                        <a:t>phone</a:t>
                      </a:r>
                    </a:p>
                  </a:txBody>
                  <a:tcPr marL="64008" marR="64008" marT="9144" marB="9144" anchor="ctr">
                    <a:solidFill>
                      <a:srgbClr val="EAEBF2"/>
                    </a:solidFill>
                  </a:tcPr>
                </a:tc>
                <a:tc>
                  <a:txBody>
                    <a:bodyPr/>
                    <a:lstStyle/>
                    <a:p>
                      <a:pPr algn="l"/>
                      <a:r>
                        <a:rPr sz="850" b="0">
                          <a:solidFill>
                            <a:srgbClr val="000000"/>
                          </a:solidFill>
                          <a:latin typeface="Arial"/>
                        </a:rPr>
                        <a:t>varchar(30)</a:t>
                      </a:r>
                    </a:p>
                  </a:txBody>
                  <a:tcPr marL="64008" marR="64008" marT="9144" marB="9144" anchor="ctr">
                    <a:solidFill>
                      <a:srgbClr val="EAEBF2"/>
                    </a:solidFill>
                  </a:tcPr>
                </a:tc>
                <a:tc>
                  <a:txBody>
                    <a:bodyPr/>
                    <a:lstStyle/>
                    <a:p>
                      <a:pPr algn="l"/>
                      <a:r>
                        <a:rPr sz="850" b="0">
                          <a:solidFill>
                            <a:srgbClr val="000000"/>
                          </a:solidFill>
                          <a:latin typeface="Arial"/>
                        </a:rPr>
                        <a:t>—</a:t>
                      </a:r>
                    </a:p>
                  </a:txBody>
                  <a:tcPr marL="64008" marR="64008" marT="9144" marB="9144" anchor="ctr">
                    <a:solidFill>
                      <a:srgbClr val="EAEBF2"/>
                    </a:solidFill>
                  </a:tcPr>
                </a:tc>
                <a:tc>
                  <a:txBody>
                    <a:bodyPr/>
                    <a:lstStyle/>
                    <a:p>
                      <a:pPr algn="l"/>
                      <a:r>
                        <a:rPr sz="850" b="0">
                          <a:solidFill>
                            <a:srgbClr val="000000"/>
                          </a:solidFill>
                          <a:latin typeface="Arial"/>
                        </a:rPr>
                        <a:t>Branch contact number.</a:t>
                      </a:r>
                    </a:p>
                  </a:txBody>
                  <a:tcPr marL="64008" marR="64008" marT="9144" marB="9144" anchor="ctr">
                    <a:solidFill>
                      <a:srgbClr val="EAEBF2"/>
                    </a:solidFill>
                  </a:tcPr>
                </a:tc>
                <a:extLst>
                  <a:ext uri="{0D108BD9-81ED-4DB2-BD59-A6C34878D82A}">
                    <a16:rowId xmlns:a16="http://schemas.microsoft.com/office/drawing/2014/main" val="10007"/>
                  </a:ext>
                </a:extLst>
              </a:tr>
              <a:tr h="472162">
                <a:tc>
                  <a:txBody>
                    <a:bodyPr/>
                    <a:lstStyle/>
                    <a:p>
                      <a:pPr algn="l"/>
                      <a:r>
                        <a:rPr sz="850" b="0">
                          <a:solidFill>
                            <a:srgbClr val="000000"/>
                          </a:solidFill>
                          <a:latin typeface="Arial"/>
                        </a:rPr>
                        <a:t>status</a:t>
                      </a:r>
                    </a:p>
                  </a:txBody>
                  <a:tcPr marL="64008" marR="64008" marT="9144" marB="9144" anchor="ctr">
                    <a:solidFill>
                      <a:srgbClr val="D2D5E4"/>
                    </a:solidFill>
                  </a:tcPr>
                </a:tc>
                <a:tc>
                  <a:txBody>
                    <a:bodyPr/>
                    <a:lstStyle/>
                    <a:p>
                      <a:pPr algn="l"/>
                      <a:r>
                        <a:rPr sz="850" b="0">
                          <a:solidFill>
                            <a:srgbClr val="000000"/>
                          </a:solidFill>
                          <a:latin typeface="Arial"/>
                        </a:rPr>
                        <a:t>enum('active','inactive')</a:t>
                      </a:r>
                    </a:p>
                  </a:txBody>
                  <a:tcPr marL="64008" marR="64008" marT="9144" marB="9144" anchor="ctr">
                    <a:solidFill>
                      <a:srgbClr val="D2D5E4"/>
                    </a:solidFill>
                  </a:tcPr>
                </a:tc>
                <a:tc>
                  <a:txBody>
                    <a:bodyPr/>
                    <a:lstStyle/>
                    <a:p>
                      <a:pPr algn="l"/>
                      <a:r>
                        <a:rPr sz="850" b="0">
                          <a:solidFill>
                            <a:srgbClr val="000000"/>
                          </a:solidFill>
                          <a:latin typeface="Arial"/>
                        </a:rPr>
                        <a:t>IDX</a:t>
                      </a:r>
                    </a:p>
                  </a:txBody>
                  <a:tcPr marL="64008" marR="64008" marT="9144" marB="9144" anchor="ctr">
                    <a:solidFill>
                      <a:srgbClr val="D2D5E4"/>
                    </a:solidFill>
                  </a:tcPr>
                </a:tc>
                <a:tc>
                  <a:txBody>
                    <a:bodyPr/>
                    <a:lstStyle/>
                    <a:p>
                      <a:pPr algn="l"/>
                      <a:r>
                        <a:rPr sz="850" b="0">
                          <a:solidFill>
                            <a:srgbClr val="000000"/>
                          </a:solidFill>
                          <a:latin typeface="Arial"/>
                        </a:rPr>
                        <a:t>Operational status of the branch.</a:t>
                      </a:r>
                    </a:p>
                  </a:txBody>
                  <a:tcPr marL="64008" marR="64008" marT="9144" marB="9144" anchor="ctr">
                    <a:solidFill>
                      <a:srgbClr val="D2D5E4"/>
                    </a:solidFill>
                  </a:tcPr>
                </a:tc>
                <a:extLst>
                  <a:ext uri="{0D108BD9-81ED-4DB2-BD59-A6C34878D82A}">
                    <a16:rowId xmlns:a16="http://schemas.microsoft.com/office/drawing/2014/main" val="10008"/>
                  </a:ext>
                </a:extLst>
              </a:tr>
              <a:tr h="472162">
                <a:tc>
                  <a:txBody>
                    <a:bodyPr/>
                    <a:lstStyle/>
                    <a:p>
                      <a:pPr algn="l"/>
                      <a:r>
                        <a:rPr sz="850" b="0">
                          <a:solidFill>
                            <a:srgbClr val="000000"/>
                          </a:solidFill>
                          <a:latin typeface="Arial"/>
                        </a:rPr>
                        <a:t>created_at</a:t>
                      </a:r>
                    </a:p>
                  </a:txBody>
                  <a:tcPr marL="64008" marR="64008" marT="9144" marB="9144" anchor="ctr">
                    <a:solidFill>
                      <a:srgbClr val="EAEBF2"/>
                    </a:solidFill>
                  </a:tcPr>
                </a:tc>
                <a:tc>
                  <a:txBody>
                    <a:bodyPr/>
                    <a:lstStyle/>
                    <a:p>
                      <a:pPr algn="l"/>
                      <a:r>
                        <a:rPr sz="850" b="0">
                          <a:solidFill>
                            <a:srgbClr val="000000"/>
                          </a:solidFill>
                          <a:latin typeface="Arial"/>
                        </a:rPr>
                        <a:t>timestamp</a:t>
                      </a:r>
                    </a:p>
                  </a:txBody>
                  <a:tcPr marL="64008" marR="64008" marT="9144" marB="9144" anchor="ctr">
                    <a:solidFill>
                      <a:srgbClr val="EAEBF2"/>
                    </a:solidFill>
                  </a:tcPr>
                </a:tc>
                <a:tc>
                  <a:txBody>
                    <a:bodyPr/>
                    <a:lstStyle/>
                    <a:p>
                      <a:pPr algn="l"/>
                      <a:r>
                        <a:rPr sz="850" b="0">
                          <a:solidFill>
                            <a:srgbClr val="000000"/>
                          </a:solidFill>
                          <a:latin typeface="Arial"/>
                        </a:rPr>
                        <a:t>—</a:t>
                      </a:r>
                    </a:p>
                  </a:txBody>
                  <a:tcPr marL="64008" marR="64008" marT="9144" marB="9144" anchor="ctr">
                    <a:solidFill>
                      <a:srgbClr val="EAEBF2"/>
                    </a:solidFill>
                  </a:tcPr>
                </a:tc>
                <a:tc>
                  <a:txBody>
                    <a:bodyPr/>
                    <a:lstStyle/>
                    <a:p>
                      <a:pPr algn="l"/>
                      <a:r>
                        <a:rPr sz="850" b="0">
                          <a:solidFill>
                            <a:srgbClr val="000000"/>
                          </a:solidFill>
                          <a:latin typeface="Arial"/>
                        </a:rPr>
                        <a:t>Date and time the record was created.</a:t>
                      </a:r>
                    </a:p>
                  </a:txBody>
                  <a:tcPr marL="64008" marR="64008" marT="9144" marB="9144" anchor="ctr">
                    <a:solidFill>
                      <a:srgbClr val="EAEBF2"/>
                    </a:solidFill>
                  </a:tcPr>
                </a:tc>
                <a:extLst>
                  <a:ext uri="{0D108BD9-81ED-4DB2-BD59-A6C34878D82A}">
                    <a16:rowId xmlns:a16="http://schemas.microsoft.com/office/drawing/2014/main" val="10009"/>
                  </a:ext>
                </a:extLst>
              </a:tr>
              <a:tr h="472162">
                <a:tc>
                  <a:txBody>
                    <a:bodyPr/>
                    <a:lstStyle/>
                    <a:p>
                      <a:pPr algn="l"/>
                      <a:r>
                        <a:rPr sz="850" b="0">
                          <a:solidFill>
                            <a:srgbClr val="000000"/>
                          </a:solidFill>
                          <a:latin typeface="Arial"/>
                        </a:rPr>
                        <a:t>updated_at</a:t>
                      </a:r>
                    </a:p>
                  </a:txBody>
                  <a:tcPr marL="64008" marR="64008" marT="9144" marB="9144" anchor="ctr">
                    <a:solidFill>
                      <a:srgbClr val="D2D5E4"/>
                    </a:solidFill>
                  </a:tcPr>
                </a:tc>
                <a:tc>
                  <a:txBody>
                    <a:bodyPr/>
                    <a:lstStyle/>
                    <a:p>
                      <a:pPr algn="l"/>
                      <a:r>
                        <a:rPr sz="850" b="0">
                          <a:solidFill>
                            <a:srgbClr val="000000"/>
                          </a:solidFill>
                          <a:latin typeface="Arial"/>
                        </a:rPr>
                        <a:t>timestamp</a:t>
                      </a:r>
                    </a:p>
                  </a:txBody>
                  <a:tcPr marL="64008" marR="64008" marT="9144" marB="9144" anchor="ctr">
                    <a:solidFill>
                      <a:srgbClr val="D2D5E4"/>
                    </a:solidFill>
                  </a:tcPr>
                </a:tc>
                <a:tc>
                  <a:txBody>
                    <a:bodyPr/>
                    <a:lstStyle/>
                    <a:p>
                      <a:pPr algn="l"/>
                      <a:r>
                        <a:rPr sz="850" b="0">
                          <a:solidFill>
                            <a:srgbClr val="000000"/>
                          </a:solidFill>
                          <a:latin typeface="Arial"/>
                        </a:rPr>
                        <a:t>—</a:t>
                      </a:r>
                    </a:p>
                  </a:txBody>
                  <a:tcPr marL="64008" marR="64008" marT="9144" marB="9144" anchor="ctr">
                    <a:solidFill>
                      <a:srgbClr val="D2D5E4"/>
                    </a:solidFill>
                  </a:tcPr>
                </a:tc>
                <a:tc>
                  <a:txBody>
                    <a:bodyPr/>
                    <a:lstStyle/>
                    <a:p>
                      <a:pPr algn="l"/>
                      <a:r>
                        <a:rPr sz="850" b="0">
                          <a:solidFill>
                            <a:srgbClr val="000000"/>
                          </a:solidFill>
                          <a:latin typeface="Arial"/>
                        </a:rPr>
                        <a:t>Date and time the record was last updated.</a:t>
                      </a:r>
                    </a:p>
                  </a:txBody>
                  <a:tcPr marL="64008" marR="64008" marT="9144" marB="9144" anchor="ctr">
                    <a:solidFill>
                      <a:srgbClr val="D2D5E4"/>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3.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3063240" y="0"/>
            <a:ext cx="30175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256032"/>
            <a:ext cx="8229600" cy="6327648"/>
          </a:xfrm>
          <a:prstGeom prst="rect">
            <a:avLst/>
          </a:prstGeom>
          <a:solidFill>
            <a:srgbClr val="FFFFFF"/>
          </a:solidFill>
          <a:ln w="10160">
            <a:solidFill>
              <a:srgbClr val="696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47288" y="36576"/>
            <a:ext cx="2249424" cy="438912"/>
          </a:xfrm>
          <a:prstGeom prst="rect">
            <a:avLst/>
          </a:prstGeom>
          <a:solidFill>
            <a:srgbClr val="9C5252"/>
          </a:solidFill>
          <a:ln w="12700">
            <a:solidFill>
              <a:srgbClr val="7E9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00000"/>
                </a:solidFill>
                <a:latin typeface="Times New Roman"/>
              </a:rPr>
              <a:t>Data Dictionary</a:t>
            </a:r>
          </a:p>
        </p:txBody>
      </p:sp>
      <p:sp>
        <p:nvSpPr>
          <p:cNvPr id="6" name="Rectangle 5"/>
          <p:cNvSpPr/>
          <p:nvPr/>
        </p:nvSpPr>
        <p:spPr>
          <a:xfrm>
            <a:off x="3502152" y="832104"/>
            <a:ext cx="1737360" cy="32004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00000"/>
                </a:solidFill>
                <a:latin typeface="Arial"/>
              </a:rPr>
              <a:t>Table : categories</a:t>
            </a:r>
          </a:p>
        </p:txBody>
      </p:sp>
      <p:sp>
        <p:nvSpPr>
          <p:cNvPr id="7" name="TextBox 6"/>
          <p:cNvSpPr txBox="1"/>
          <p:nvPr/>
        </p:nvSpPr>
        <p:spPr>
          <a:xfrm>
            <a:off x="5312664" y="832104"/>
            <a:ext cx="320040" cy="320040"/>
          </a:xfrm>
          <a:prstGeom prst="rect">
            <a:avLst/>
          </a:prstGeom>
          <a:noFill/>
        </p:spPr>
        <p:txBody>
          <a:bodyPr wrap="none" anchor="ctr">
            <a:spAutoFit/>
          </a:bodyPr>
          <a:lstStyle/>
          <a:p>
            <a:pPr algn="l"/>
            <a:r>
              <a:rPr sz="1100">
                <a:solidFill>
                  <a:srgbClr val="000000"/>
                </a:solidFill>
                <a:latin typeface="Arial"/>
              </a:rPr>
              <a:t>:-</a:t>
            </a:r>
          </a:p>
        </p:txBody>
      </p:sp>
      <p:graphicFrame>
        <p:nvGraphicFramePr>
          <p:cNvPr id="8" name="Table 7"/>
          <p:cNvGraphicFramePr>
            <a:graphicFrameLocks noGrp="1"/>
          </p:cNvGraphicFramePr>
          <p:nvPr/>
        </p:nvGraphicFramePr>
        <p:xfrm>
          <a:off x="1170432" y="1225296"/>
          <a:ext cx="6949440" cy="5193792"/>
        </p:xfrm>
        <a:graphic>
          <a:graphicData uri="http://schemas.openxmlformats.org/drawingml/2006/table">
            <a:tbl>
              <a:tblPr firstRow="1" bandRow="1">
                <a:tableStyleId>{5C22544A-7EE6-4342-B048-85BDC9FD1C3A}</a:tableStyleId>
              </a:tblPr>
              <a:tblGrid>
                <a:gridCol w="1572768">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577088">
                <a:tc>
                  <a:txBody>
                    <a:bodyPr/>
                    <a:lstStyle/>
                    <a:p>
                      <a:pPr algn="l"/>
                      <a:r>
                        <a:rPr sz="1050" b="1">
                          <a:solidFill>
                            <a:srgbClr val="FFFFFF"/>
                          </a:solidFill>
                          <a:latin typeface="Arial"/>
                        </a:rPr>
                        <a:t>Field Name</a:t>
                      </a:r>
                    </a:p>
                  </a:txBody>
                  <a:tcPr marL="64008" marR="64008" marT="9144" marB="9144" anchor="ctr">
                    <a:solidFill>
                      <a:srgbClr val="6076B4"/>
                    </a:solidFill>
                  </a:tcPr>
                </a:tc>
                <a:tc>
                  <a:txBody>
                    <a:bodyPr/>
                    <a:lstStyle/>
                    <a:p>
                      <a:pPr algn="l"/>
                      <a:r>
                        <a:rPr sz="1050" b="1">
                          <a:solidFill>
                            <a:srgbClr val="FFFFFF"/>
                          </a:solidFill>
                          <a:latin typeface="Arial"/>
                        </a:rPr>
                        <a:t>Data Type</a:t>
                      </a:r>
                    </a:p>
                  </a:txBody>
                  <a:tcPr marL="64008" marR="64008" marT="9144" marB="9144" anchor="ctr">
                    <a:solidFill>
                      <a:srgbClr val="6076B4"/>
                    </a:solidFill>
                  </a:tcPr>
                </a:tc>
                <a:tc>
                  <a:txBody>
                    <a:bodyPr/>
                    <a:lstStyle/>
                    <a:p>
                      <a:pPr algn="l"/>
                      <a:r>
                        <a:rPr sz="1050" b="1">
                          <a:solidFill>
                            <a:srgbClr val="FFFFFF"/>
                          </a:solidFill>
                          <a:latin typeface="Arial"/>
                        </a:rPr>
                        <a:t>Key</a:t>
                      </a:r>
                    </a:p>
                  </a:txBody>
                  <a:tcPr marL="64008" marR="64008" marT="9144" marB="9144" anchor="ctr">
                    <a:solidFill>
                      <a:srgbClr val="6076B4"/>
                    </a:solidFill>
                  </a:tcPr>
                </a:tc>
                <a:tc>
                  <a:txBody>
                    <a:bodyPr/>
                    <a:lstStyle/>
                    <a:p>
                      <a:pPr algn="l"/>
                      <a:r>
                        <a:rPr sz="1050" b="1">
                          <a:solidFill>
                            <a:srgbClr val="FFFFFF"/>
                          </a:solidFill>
                          <a:latin typeface="Arial"/>
                        </a:rPr>
                        <a:t>Description</a:t>
                      </a:r>
                    </a:p>
                  </a:txBody>
                  <a:tcPr marL="64008" marR="64008" marT="9144" marB="9144" anchor="ctr">
                    <a:solidFill>
                      <a:srgbClr val="6076B4"/>
                    </a:solidFill>
                  </a:tcPr>
                </a:tc>
                <a:extLst>
                  <a:ext uri="{0D108BD9-81ED-4DB2-BD59-A6C34878D82A}">
                    <a16:rowId xmlns:a16="http://schemas.microsoft.com/office/drawing/2014/main" val="10000"/>
                  </a:ext>
                </a:extLst>
              </a:tr>
              <a:tr h="577088">
                <a:tc>
                  <a:txBody>
                    <a:bodyPr/>
                    <a:lstStyle/>
                    <a:p>
                      <a:pPr algn="l"/>
                      <a:r>
                        <a:rPr sz="950" b="0">
                          <a:solidFill>
                            <a:srgbClr val="000000"/>
                          </a:solidFill>
                          <a:latin typeface="Arial"/>
                        </a:rPr>
                        <a:t>id</a:t>
                      </a:r>
                    </a:p>
                  </a:txBody>
                  <a:tcPr marL="64008" marR="64008" marT="9144" marB="9144" anchor="ctr">
                    <a:solidFill>
                      <a:srgbClr val="EAEBF2"/>
                    </a:solidFill>
                  </a:tcPr>
                </a:tc>
                <a:tc>
                  <a:txBody>
                    <a:bodyPr/>
                    <a:lstStyle/>
                    <a:p>
                      <a:pPr algn="l"/>
                      <a:r>
                        <a:rPr sz="950" b="0">
                          <a:solidFill>
                            <a:srgbClr val="000000"/>
                          </a:solidFill>
                          <a:latin typeface="Arial"/>
                        </a:rPr>
                        <a:t>bigint(20) unsigned</a:t>
                      </a:r>
                    </a:p>
                  </a:txBody>
                  <a:tcPr marL="64008" marR="64008" marT="9144" marB="9144" anchor="ctr">
                    <a:solidFill>
                      <a:srgbClr val="EAEBF2"/>
                    </a:solidFill>
                  </a:tcPr>
                </a:tc>
                <a:tc>
                  <a:txBody>
                    <a:bodyPr/>
                    <a:lstStyle/>
                    <a:p>
                      <a:pPr algn="l"/>
                      <a:r>
                        <a:rPr sz="950" b="0">
                          <a:solidFill>
                            <a:srgbClr val="000000"/>
                          </a:solidFill>
                          <a:latin typeface="Arial"/>
                        </a:rPr>
                        <a:t>PK</a:t>
                      </a:r>
                    </a:p>
                  </a:txBody>
                  <a:tcPr marL="64008" marR="64008" marT="9144" marB="9144" anchor="ctr">
                    <a:solidFill>
                      <a:srgbClr val="EAEBF2"/>
                    </a:solidFill>
                  </a:tcPr>
                </a:tc>
                <a:tc>
                  <a:txBody>
                    <a:bodyPr/>
                    <a:lstStyle/>
                    <a:p>
                      <a:pPr algn="l"/>
                      <a:r>
                        <a:rPr sz="950" b="0">
                          <a:solidFill>
                            <a:srgbClr val="000000"/>
                          </a:solidFill>
                          <a:latin typeface="Arial"/>
                        </a:rPr>
                        <a:t>Unique menu category ID.</a:t>
                      </a:r>
                    </a:p>
                  </a:txBody>
                  <a:tcPr marL="64008" marR="64008" marT="9144" marB="9144" anchor="ctr">
                    <a:solidFill>
                      <a:srgbClr val="EAEBF2"/>
                    </a:solidFill>
                  </a:tcPr>
                </a:tc>
                <a:extLst>
                  <a:ext uri="{0D108BD9-81ED-4DB2-BD59-A6C34878D82A}">
                    <a16:rowId xmlns:a16="http://schemas.microsoft.com/office/drawing/2014/main" val="10001"/>
                  </a:ext>
                </a:extLst>
              </a:tr>
              <a:tr h="577088">
                <a:tc>
                  <a:txBody>
                    <a:bodyPr/>
                    <a:lstStyle/>
                    <a:p>
                      <a:pPr algn="l"/>
                      <a:r>
                        <a:rPr sz="950" b="0">
                          <a:solidFill>
                            <a:srgbClr val="000000"/>
                          </a:solidFill>
                          <a:latin typeface="Arial"/>
                        </a:rPr>
                        <a:t>restaurant_id</a:t>
                      </a:r>
                    </a:p>
                  </a:txBody>
                  <a:tcPr marL="64008" marR="64008" marT="9144" marB="9144" anchor="ctr">
                    <a:solidFill>
                      <a:srgbClr val="D2D5E4"/>
                    </a:solidFill>
                  </a:tcPr>
                </a:tc>
                <a:tc>
                  <a:txBody>
                    <a:bodyPr/>
                    <a:lstStyle/>
                    <a:p>
                      <a:pPr algn="l"/>
                      <a:r>
                        <a:rPr sz="950" b="0">
                          <a:solidFill>
                            <a:srgbClr val="000000"/>
                          </a:solidFill>
                          <a:latin typeface="Arial"/>
                        </a:rPr>
                        <a:t>bigint(20) unsigned</a:t>
                      </a:r>
                    </a:p>
                  </a:txBody>
                  <a:tcPr marL="64008" marR="64008" marT="9144" marB="9144" anchor="ctr">
                    <a:solidFill>
                      <a:srgbClr val="D2D5E4"/>
                    </a:solidFill>
                  </a:tcPr>
                </a:tc>
                <a:tc>
                  <a:txBody>
                    <a:bodyPr/>
                    <a:lstStyle/>
                    <a:p>
                      <a:pPr algn="l"/>
                      <a:r>
                        <a:rPr sz="950" b="0">
                          <a:solidFill>
                            <a:srgbClr val="000000"/>
                          </a:solidFill>
                          <a:latin typeface="Arial"/>
                        </a:rPr>
                        <a:t>FK/IDX</a:t>
                      </a:r>
                    </a:p>
                  </a:txBody>
                  <a:tcPr marL="64008" marR="64008" marT="9144" marB="9144" anchor="ctr">
                    <a:solidFill>
                      <a:srgbClr val="D2D5E4"/>
                    </a:solidFill>
                  </a:tcPr>
                </a:tc>
                <a:tc>
                  <a:txBody>
                    <a:bodyPr/>
                    <a:lstStyle/>
                    <a:p>
                      <a:pPr algn="l"/>
                      <a:r>
                        <a:rPr sz="950" b="0">
                          <a:solidFill>
                            <a:srgbClr val="000000"/>
                          </a:solidFill>
                          <a:latin typeface="Arial"/>
                        </a:rPr>
                        <a:t>Links the category to a restaurant.</a:t>
                      </a:r>
                    </a:p>
                  </a:txBody>
                  <a:tcPr marL="64008" marR="64008" marT="9144" marB="9144" anchor="ctr">
                    <a:solidFill>
                      <a:srgbClr val="D2D5E4"/>
                    </a:solidFill>
                  </a:tcPr>
                </a:tc>
                <a:extLst>
                  <a:ext uri="{0D108BD9-81ED-4DB2-BD59-A6C34878D82A}">
                    <a16:rowId xmlns:a16="http://schemas.microsoft.com/office/drawing/2014/main" val="10002"/>
                  </a:ext>
                </a:extLst>
              </a:tr>
              <a:tr h="577088">
                <a:tc>
                  <a:txBody>
                    <a:bodyPr/>
                    <a:lstStyle/>
                    <a:p>
                      <a:pPr algn="l"/>
                      <a:r>
                        <a:rPr sz="950" b="0">
                          <a:solidFill>
                            <a:srgbClr val="000000"/>
                          </a:solidFill>
                          <a:latin typeface="Arial"/>
                        </a:rPr>
                        <a:t>name</a:t>
                      </a:r>
                    </a:p>
                  </a:txBody>
                  <a:tcPr marL="64008" marR="64008" marT="9144" marB="9144" anchor="ctr">
                    <a:solidFill>
                      <a:srgbClr val="EAEBF2"/>
                    </a:solidFill>
                  </a:tcPr>
                </a:tc>
                <a:tc>
                  <a:txBody>
                    <a:bodyPr/>
                    <a:lstStyle/>
                    <a:p>
                      <a:pPr algn="l"/>
                      <a:r>
                        <a:rPr sz="950" b="0">
                          <a:solidFill>
                            <a:srgbClr val="000000"/>
                          </a:solidFill>
                          <a:latin typeface="Arial"/>
                        </a:rPr>
                        <a:t>varchar(100)</a:t>
                      </a:r>
                    </a:p>
                  </a:txBody>
                  <a:tcPr marL="64008" marR="64008" marT="9144" marB="9144" anchor="ctr">
                    <a:solidFill>
                      <a:srgbClr val="EAEBF2"/>
                    </a:solidFill>
                  </a:tcPr>
                </a:tc>
                <a:tc>
                  <a:txBody>
                    <a:bodyPr/>
                    <a:lstStyle/>
                    <a:p>
                      <a:pPr algn="l"/>
                      <a:r>
                        <a:rPr sz="950" b="0">
                          <a:solidFill>
                            <a:srgbClr val="000000"/>
                          </a:solidFill>
                          <a:latin typeface="Arial"/>
                        </a:rPr>
                        <a:t>—</a:t>
                      </a:r>
                    </a:p>
                  </a:txBody>
                  <a:tcPr marL="64008" marR="64008" marT="9144" marB="9144" anchor="ctr">
                    <a:solidFill>
                      <a:srgbClr val="EAEBF2"/>
                    </a:solidFill>
                  </a:tcPr>
                </a:tc>
                <a:tc>
                  <a:txBody>
                    <a:bodyPr/>
                    <a:lstStyle/>
                    <a:p>
                      <a:pPr algn="l"/>
                      <a:r>
                        <a:rPr sz="950" b="0">
                          <a:solidFill>
                            <a:srgbClr val="000000"/>
                          </a:solidFill>
                          <a:latin typeface="Arial"/>
                        </a:rPr>
                        <a:t>Category name such as Bowls or Wraps.</a:t>
                      </a:r>
                    </a:p>
                  </a:txBody>
                  <a:tcPr marL="64008" marR="64008" marT="9144" marB="9144" anchor="ctr">
                    <a:solidFill>
                      <a:srgbClr val="EAEBF2"/>
                    </a:solidFill>
                  </a:tcPr>
                </a:tc>
                <a:extLst>
                  <a:ext uri="{0D108BD9-81ED-4DB2-BD59-A6C34878D82A}">
                    <a16:rowId xmlns:a16="http://schemas.microsoft.com/office/drawing/2014/main" val="10003"/>
                  </a:ext>
                </a:extLst>
              </a:tr>
              <a:tr h="577088">
                <a:tc>
                  <a:txBody>
                    <a:bodyPr/>
                    <a:lstStyle/>
                    <a:p>
                      <a:pPr algn="l"/>
                      <a:r>
                        <a:rPr sz="950" b="0">
                          <a:solidFill>
                            <a:srgbClr val="000000"/>
                          </a:solidFill>
                          <a:latin typeface="Arial"/>
                        </a:rPr>
                        <a:t>slug</a:t>
                      </a:r>
                    </a:p>
                  </a:txBody>
                  <a:tcPr marL="64008" marR="64008" marT="9144" marB="9144" anchor="ctr">
                    <a:solidFill>
                      <a:srgbClr val="D2D5E4"/>
                    </a:solidFill>
                  </a:tcPr>
                </a:tc>
                <a:tc>
                  <a:txBody>
                    <a:bodyPr/>
                    <a:lstStyle/>
                    <a:p>
                      <a:pPr algn="l"/>
                      <a:r>
                        <a:rPr sz="950" b="0">
                          <a:solidFill>
                            <a:srgbClr val="000000"/>
                          </a:solidFill>
                          <a:latin typeface="Arial"/>
                        </a:rPr>
                        <a:t>varchar(100)</a:t>
                      </a:r>
                    </a:p>
                  </a:txBody>
                  <a:tcPr marL="64008" marR="64008" marT="9144" marB="9144" anchor="ctr">
                    <a:solidFill>
                      <a:srgbClr val="D2D5E4"/>
                    </a:solidFill>
                  </a:tcPr>
                </a:tc>
                <a:tc>
                  <a:txBody>
                    <a:bodyPr/>
                    <a:lstStyle/>
                    <a:p>
                      <a:pPr algn="l"/>
                      <a:r>
                        <a:rPr sz="950" b="0">
                          <a:solidFill>
                            <a:srgbClr val="000000"/>
                          </a:solidFill>
                          <a:latin typeface="Arial"/>
                        </a:rPr>
                        <a:t>IDX</a:t>
                      </a:r>
                    </a:p>
                  </a:txBody>
                  <a:tcPr marL="64008" marR="64008" marT="9144" marB="9144" anchor="ctr">
                    <a:solidFill>
                      <a:srgbClr val="D2D5E4"/>
                    </a:solidFill>
                  </a:tcPr>
                </a:tc>
                <a:tc>
                  <a:txBody>
                    <a:bodyPr/>
                    <a:lstStyle/>
                    <a:p>
                      <a:pPr algn="l"/>
                      <a:r>
                        <a:rPr sz="950" b="0">
                          <a:solidFill>
                            <a:srgbClr val="000000"/>
                          </a:solidFill>
                          <a:latin typeface="Arial"/>
                        </a:rPr>
                        <a:t>URL-friendly category identifier.</a:t>
                      </a:r>
                    </a:p>
                  </a:txBody>
                  <a:tcPr marL="64008" marR="64008" marT="9144" marB="9144" anchor="ctr">
                    <a:solidFill>
                      <a:srgbClr val="D2D5E4"/>
                    </a:solidFill>
                  </a:tcPr>
                </a:tc>
                <a:extLst>
                  <a:ext uri="{0D108BD9-81ED-4DB2-BD59-A6C34878D82A}">
                    <a16:rowId xmlns:a16="http://schemas.microsoft.com/office/drawing/2014/main" val="10004"/>
                  </a:ext>
                </a:extLst>
              </a:tr>
              <a:tr h="577088">
                <a:tc>
                  <a:txBody>
                    <a:bodyPr/>
                    <a:lstStyle/>
                    <a:p>
                      <a:pPr algn="l"/>
                      <a:r>
                        <a:rPr sz="950" b="0">
                          <a:solidFill>
                            <a:srgbClr val="000000"/>
                          </a:solidFill>
                          <a:latin typeface="Arial"/>
                        </a:rPr>
                        <a:t>description</a:t>
                      </a:r>
                    </a:p>
                  </a:txBody>
                  <a:tcPr marL="64008" marR="64008" marT="9144" marB="9144" anchor="ctr">
                    <a:solidFill>
                      <a:srgbClr val="EAEBF2"/>
                    </a:solidFill>
                  </a:tcPr>
                </a:tc>
                <a:tc>
                  <a:txBody>
                    <a:bodyPr/>
                    <a:lstStyle/>
                    <a:p>
                      <a:pPr algn="l"/>
                      <a:r>
                        <a:rPr sz="950" b="0">
                          <a:solidFill>
                            <a:srgbClr val="000000"/>
                          </a:solidFill>
                          <a:latin typeface="Arial"/>
                        </a:rPr>
                        <a:t>text</a:t>
                      </a:r>
                    </a:p>
                  </a:txBody>
                  <a:tcPr marL="64008" marR="64008" marT="9144" marB="9144" anchor="ctr">
                    <a:solidFill>
                      <a:srgbClr val="EAEBF2"/>
                    </a:solidFill>
                  </a:tcPr>
                </a:tc>
                <a:tc>
                  <a:txBody>
                    <a:bodyPr/>
                    <a:lstStyle/>
                    <a:p>
                      <a:pPr algn="l"/>
                      <a:r>
                        <a:rPr sz="950" b="0">
                          <a:solidFill>
                            <a:srgbClr val="000000"/>
                          </a:solidFill>
                          <a:latin typeface="Arial"/>
                        </a:rPr>
                        <a:t>—</a:t>
                      </a:r>
                    </a:p>
                  </a:txBody>
                  <a:tcPr marL="64008" marR="64008" marT="9144" marB="9144" anchor="ctr">
                    <a:solidFill>
                      <a:srgbClr val="EAEBF2"/>
                    </a:solidFill>
                  </a:tcPr>
                </a:tc>
                <a:tc>
                  <a:txBody>
                    <a:bodyPr/>
                    <a:lstStyle/>
                    <a:p>
                      <a:pPr algn="l"/>
                      <a:r>
                        <a:rPr sz="950" b="0">
                          <a:solidFill>
                            <a:srgbClr val="000000"/>
                          </a:solidFill>
                          <a:latin typeface="Arial"/>
                        </a:rPr>
                        <a:t>Description of the menu category.</a:t>
                      </a:r>
                    </a:p>
                  </a:txBody>
                  <a:tcPr marL="64008" marR="64008" marT="9144" marB="9144" anchor="ctr">
                    <a:solidFill>
                      <a:srgbClr val="EAEBF2"/>
                    </a:solidFill>
                  </a:tcPr>
                </a:tc>
                <a:extLst>
                  <a:ext uri="{0D108BD9-81ED-4DB2-BD59-A6C34878D82A}">
                    <a16:rowId xmlns:a16="http://schemas.microsoft.com/office/drawing/2014/main" val="10005"/>
                  </a:ext>
                </a:extLst>
              </a:tr>
              <a:tr h="577088">
                <a:tc>
                  <a:txBody>
                    <a:bodyPr/>
                    <a:lstStyle/>
                    <a:p>
                      <a:pPr algn="l"/>
                      <a:r>
                        <a:rPr sz="950" b="0">
                          <a:solidFill>
                            <a:srgbClr val="000000"/>
                          </a:solidFill>
                          <a:latin typeface="Arial"/>
                        </a:rPr>
                        <a:t>image</a:t>
                      </a:r>
                    </a:p>
                  </a:txBody>
                  <a:tcPr marL="64008" marR="64008" marT="9144" marB="9144" anchor="ctr">
                    <a:solidFill>
                      <a:srgbClr val="D2D5E4"/>
                    </a:solidFill>
                  </a:tcPr>
                </a:tc>
                <a:tc>
                  <a:txBody>
                    <a:bodyPr/>
                    <a:lstStyle/>
                    <a:p>
                      <a:pPr algn="l"/>
                      <a:r>
                        <a:rPr sz="950" b="0">
                          <a:solidFill>
                            <a:srgbClr val="000000"/>
                          </a:solidFill>
                          <a:latin typeface="Arial"/>
                        </a:rPr>
                        <a:t>varchar(255)</a:t>
                      </a:r>
                    </a:p>
                  </a:txBody>
                  <a:tcPr marL="64008" marR="64008" marT="9144" marB="9144" anchor="ctr">
                    <a:solidFill>
                      <a:srgbClr val="D2D5E4"/>
                    </a:solidFill>
                  </a:tcPr>
                </a:tc>
                <a:tc>
                  <a:txBody>
                    <a:bodyPr/>
                    <a:lstStyle/>
                    <a:p>
                      <a:pPr algn="l"/>
                      <a:r>
                        <a:rPr sz="950" b="0">
                          <a:solidFill>
                            <a:srgbClr val="000000"/>
                          </a:solidFill>
                          <a:latin typeface="Arial"/>
                        </a:rPr>
                        <a:t>—</a:t>
                      </a:r>
                    </a:p>
                  </a:txBody>
                  <a:tcPr marL="64008" marR="64008" marT="9144" marB="9144" anchor="ctr">
                    <a:solidFill>
                      <a:srgbClr val="D2D5E4"/>
                    </a:solidFill>
                  </a:tcPr>
                </a:tc>
                <a:tc>
                  <a:txBody>
                    <a:bodyPr/>
                    <a:lstStyle/>
                    <a:p>
                      <a:pPr algn="l"/>
                      <a:r>
                        <a:rPr sz="950" b="0">
                          <a:solidFill>
                            <a:srgbClr val="000000"/>
                          </a:solidFill>
                          <a:latin typeface="Arial"/>
                        </a:rPr>
                        <a:t>Category image path.</a:t>
                      </a:r>
                    </a:p>
                  </a:txBody>
                  <a:tcPr marL="64008" marR="64008" marT="9144" marB="9144" anchor="ctr">
                    <a:solidFill>
                      <a:srgbClr val="D2D5E4"/>
                    </a:solidFill>
                  </a:tcPr>
                </a:tc>
                <a:extLst>
                  <a:ext uri="{0D108BD9-81ED-4DB2-BD59-A6C34878D82A}">
                    <a16:rowId xmlns:a16="http://schemas.microsoft.com/office/drawing/2014/main" val="10006"/>
                  </a:ext>
                </a:extLst>
              </a:tr>
              <a:tr h="577088">
                <a:tc>
                  <a:txBody>
                    <a:bodyPr/>
                    <a:lstStyle/>
                    <a:p>
                      <a:pPr algn="l"/>
                      <a:r>
                        <a:rPr sz="950" b="0">
                          <a:solidFill>
                            <a:srgbClr val="000000"/>
                          </a:solidFill>
                          <a:latin typeface="Arial"/>
                        </a:rPr>
                        <a:t>sort_order</a:t>
                      </a:r>
                    </a:p>
                  </a:txBody>
                  <a:tcPr marL="64008" marR="64008" marT="9144" marB="9144" anchor="ctr">
                    <a:solidFill>
                      <a:srgbClr val="EAEBF2"/>
                    </a:solidFill>
                  </a:tcPr>
                </a:tc>
                <a:tc>
                  <a:txBody>
                    <a:bodyPr/>
                    <a:lstStyle/>
                    <a:p>
                      <a:pPr algn="l"/>
                      <a:r>
                        <a:rPr sz="950" b="0">
                          <a:solidFill>
                            <a:srgbClr val="000000"/>
                          </a:solidFill>
                          <a:latin typeface="Arial"/>
                        </a:rPr>
                        <a:t>int(11)</a:t>
                      </a:r>
                    </a:p>
                  </a:txBody>
                  <a:tcPr marL="64008" marR="64008" marT="9144" marB="9144" anchor="ctr">
                    <a:solidFill>
                      <a:srgbClr val="EAEBF2"/>
                    </a:solidFill>
                  </a:tcPr>
                </a:tc>
                <a:tc>
                  <a:txBody>
                    <a:bodyPr/>
                    <a:lstStyle/>
                    <a:p>
                      <a:pPr algn="l"/>
                      <a:r>
                        <a:rPr sz="950" b="0">
                          <a:solidFill>
                            <a:srgbClr val="000000"/>
                          </a:solidFill>
                          <a:latin typeface="Arial"/>
                        </a:rPr>
                        <a:t>—</a:t>
                      </a:r>
                    </a:p>
                  </a:txBody>
                  <a:tcPr marL="64008" marR="64008" marT="9144" marB="9144" anchor="ctr">
                    <a:solidFill>
                      <a:srgbClr val="EAEBF2"/>
                    </a:solidFill>
                  </a:tcPr>
                </a:tc>
                <a:tc>
                  <a:txBody>
                    <a:bodyPr/>
                    <a:lstStyle/>
                    <a:p>
                      <a:pPr algn="l"/>
                      <a:r>
                        <a:rPr sz="950" b="0">
                          <a:solidFill>
                            <a:srgbClr val="000000"/>
                          </a:solidFill>
                          <a:latin typeface="Arial"/>
                        </a:rPr>
                        <a:t>Display order of the category.</a:t>
                      </a:r>
                    </a:p>
                  </a:txBody>
                  <a:tcPr marL="64008" marR="64008" marT="9144" marB="9144" anchor="ctr">
                    <a:solidFill>
                      <a:srgbClr val="EAEBF2"/>
                    </a:solidFill>
                  </a:tcPr>
                </a:tc>
                <a:extLst>
                  <a:ext uri="{0D108BD9-81ED-4DB2-BD59-A6C34878D82A}">
                    <a16:rowId xmlns:a16="http://schemas.microsoft.com/office/drawing/2014/main" val="10007"/>
                  </a:ext>
                </a:extLst>
              </a:tr>
              <a:tr h="577088">
                <a:tc>
                  <a:txBody>
                    <a:bodyPr/>
                    <a:lstStyle/>
                    <a:p>
                      <a:pPr algn="l"/>
                      <a:r>
                        <a:rPr sz="950" b="0">
                          <a:solidFill>
                            <a:srgbClr val="000000"/>
                          </a:solidFill>
                          <a:latin typeface="Arial"/>
                        </a:rPr>
                        <a:t>status</a:t>
                      </a:r>
                    </a:p>
                  </a:txBody>
                  <a:tcPr marL="64008" marR="64008" marT="9144" marB="9144" anchor="ctr">
                    <a:solidFill>
                      <a:srgbClr val="D2D5E4"/>
                    </a:solidFill>
                  </a:tcPr>
                </a:tc>
                <a:tc>
                  <a:txBody>
                    <a:bodyPr/>
                    <a:lstStyle/>
                    <a:p>
                      <a:pPr algn="l"/>
                      <a:r>
                        <a:rPr sz="950" b="0">
                          <a:solidFill>
                            <a:srgbClr val="000000"/>
                          </a:solidFill>
                          <a:latin typeface="Arial"/>
                        </a:rPr>
                        <a:t>enum('active','inactive')</a:t>
                      </a:r>
                    </a:p>
                  </a:txBody>
                  <a:tcPr marL="64008" marR="64008" marT="9144" marB="9144" anchor="ctr">
                    <a:solidFill>
                      <a:srgbClr val="D2D5E4"/>
                    </a:solidFill>
                  </a:tcPr>
                </a:tc>
                <a:tc>
                  <a:txBody>
                    <a:bodyPr/>
                    <a:lstStyle/>
                    <a:p>
                      <a:pPr algn="l"/>
                      <a:r>
                        <a:rPr sz="950" b="0">
                          <a:solidFill>
                            <a:srgbClr val="000000"/>
                          </a:solidFill>
                          <a:latin typeface="Arial"/>
                        </a:rPr>
                        <a:t>—</a:t>
                      </a:r>
                    </a:p>
                  </a:txBody>
                  <a:tcPr marL="64008" marR="64008" marT="9144" marB="9144" anchor="ctr">
                    <a:solidFill>
                      <a:srgbClr val="D2D5E4"/>
                    </a:solidFill>
                  </a:tcPr>
                </a:tc>
                <a:tc>
                  <a:txBody>
                    <a:bodyPr/>
                    <a:lstStyle/>
                    <a:p>
                      <a:pPr algn="l"/>
                      <a:r>
                        <a:rPr sz="950" b="0">
                          <a:solidFill>
                            <a:srgbClr val="000000"/>
                          </a:solidFill>
                          <a:latin typeface="Arial"/>
                        </a:rPr>
                        <a:t>Whether the category is active.</a:t>
                      </a:r>
                    </a:p>
                  </a:txBody>
                  <a:tcPr marL="64008" marR="64008" marT="9144" marB="9144" anchor="ctr">
                    <a:solidFill>
                      <a:srgbClr val="D2D5E4"/>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3.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3063240" y="0"/>
            <a:ext cx="30175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256032"/>
            <a:ext cx="8229600" cy="6327648"/>
          </a:xfrm>
          <a:prstGeom prst="rect">
            <a:avLst/>
          </a:prstGeom>
          <a:solidFill>
            <a:srgbClr val="FFFFFF"/>
          </a:solidFill>
          <a:ln w="10160">
            <a:solidFill>
              <a:srgbClr val="696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47288" y="36576"/>
            <a:ext cx="2249424" cy="438912"/>
          </a:xfrm>
          <a:prstGeom prst="rect">
            <a:avLst/>
          </a:prstGeom>
          <a:solidFill>
            <a:srgbClr val="9C5252"/>
          </a:solidFill>
          <a:ln w="12700">
            <a:solidFill>
              <a:srgbClr val="7E9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00000"/>
                </a:solidFill>
                <a:latin typeface="Times New Roman"/>
              </a:rPr>
              <a:t>Data Dictionary</a:t>
            </a:r>
          </a:p>
        </p:txBody>
      </p:sp>
      <p:sp>
        <p:nvSpPr>
          <p:cNvPr id="6" name="Rectangle 5"/>
          <p:cNvSpPr/>
          <p:nvPr/>
        </p:nvSpPr>
        <p:spPr>
          <a:xfrm>
            <a:off x="3502152" y="832104"/>
            <a:ext cx="1737360" cy="32004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00000"/>
                </a:solidFill>
                <a:latin typeface="Arial"/>
              </a:rPr>
              <a:t>Table : customers</a:t>
            </a:r>
          </a:p>
        </p:txBody>
      </p:sp>
      <p:sp>
        <p:nvSpPr>
          <p:cNvPr id="7" name="TextBox 6"/>
          <p:cNvSpPr txBox="1"/>
          <p:nvPr/>
        </p:nvSpPr>
        <p:spPr>
          <a:xfrm>
            <a:off x="5312664" y="832104"/>
            <a:ext cx="320040" cy="320040"/>
          </a:xfrm>
          <a:prstGeom prst="rect">
            <a:avLst/>
          </a:prstGeom>
          <a:noFill/>
        </p:spPr>
        <p:txBody>
          <a:bodyPr wrap="none" anchor="ctr">
            <a:spAutoFit/>
          </a:bodyPr>
          <a:lstStyle/>
          <a:p>
            <a:pPr algn="l"/>
            <a:r>
              <a:rPr sz="1100">
                <a:solidFill>
                  <a:srgbClr val="000000"/>
                </a:solidFill>
                <a:latin typeface="Arial"/>
              </a:rPr>
              <a:t>:-</a:t>
            </a:r>
          </a:p>
        </p:txBody>
      </p:sp>
      <p:graphicFrame>
        <p:nvGraphicFramePr>
          <p:cNvPr id="8" name="Table 7"/>
          <p:cNvGraphicFramePr>
            <a:graphicFrameLocks noGrp="1"/>
          </p:cNvGraphicFramePr>
          <p:nvPr/>
        </p:nvGraphicFramePr>
        <p:xfrm>
          <a:off x="1170432" y="1225296"/>
          <a:ext cx="6949440" cy="5193790"/>
        </p:xfrm>
        <a:graphic>
          <a:graphicData uri="http://schemas.openxmlformats.org/drawingml/2006/table">
            <a:tbl>
              <a:tblPr firstRow="1" bandRow="1">
                <a:tableStyleId>{5C22544A-7EE6-4342-B048-85BDC9FD1C3A}</a:tableStyleId>
              </a:tblPr>
              <a:tblGrid>
                <a:gridCol w="1572768">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741970">
                <a:tc>
                  <a:txBody>
                    <a:bodyPr/>
                    <a:lstStyle/>
                    <a:p>
                      <a:pPr algn="l"/>
                      <a:r>
                        <a:rPr sz="1050" b="1">
                          <a:solidFill>
                            <a:srgbClr val="FFFFFF"/>
                          </a:solidFill>
                          <a:latin typeface="Arial"/>
                        </a:rPr>
                        <a:t>Field Name</a:t>
                      </a:r>
                    </a:p>
                  </a:txBody>
                  <a:tcPr marL="64008" marR="64008" marT="9144" marB="9144" anchor="ctr">
                    <a:solidFill>
                      <a:srgbClr val="6076B4"/>
                    </a:solidFill>
                  </a:tcPr>
                </a:tc>
                <a:tc>
                  <a:txBody>
                    <a:bodyPr/>
                    <a:lstStyle/>
                    <a:p>
                      <a:pPr algn="l"/>
                      <a:r>
                        <a:rPr sz="1050" b="1">
                          <a:solidFill>
                            <a:srgbClr val="FFFFFF"/>
                          </a:solidFill>
                          <a:latin typeface="Arial"/>
                        </a:rPr>
                        <a:t>Data Type</a:t>
                      </a:r>
                    </a:p>
                  </a:txBody>
                  <a:tcPr marL="64008" marR="64008" marT="9144" marB="9144" anchor="ctr">
                    <a:solidFill>
                      <a:srgbClr val="6076B4"/>
                    </a:solidFill>
                  </a:tcPr>
                </a:tc>
                <a:tc>
                  <a:txBody>
                    <a:bodyPr/>
                    <a:lstStyle/>
                    <a:p>
                      <a:pPr algn="l"/>
                      <a:r>
                        <a:rPr sz="1050" b="1">
                          <a:solidFill>
                            <a:srgbClr val="FFFFFF"/>
                          </a:solidFill>
                          <a:latin typeface="Arial"/>
                        </a:rPr>
                        <a:t>Key</a:t>
                      </a:r>
                    </a:p>
                  </a:txBody>
                  <a:tcPr marL="64008" marR="64008" marT="9144" marB="9144" anchor="ctr">
                    <a:solidFill>
                      <a:srgbClr val="6076B4"/>
                    </a:solidFill>
                  </a:tcPr>
                </a:tc>
                <a:tc>
                  <a:txBody>
                    <a:bodyPr/>
                    <a:lstStyle/>
                    <a:p>
                      <a:pPr algn="l"/>
                      <a:r>
                        <a:rPr sz="1050" b="1">
                          <a:solidFill>
                            <a:srgbClr val="FFFFFF"/>
                          </a:solidFill>
                          <a:latin typeface="Arial"/>
                        </a:rPr>
                        <a:t>Description</a:t>
                      </a:r>
                    </a:p>
                  </a:txBody>
                  <a:tcPr marL="64008" marR="64008" marT="9144" marB="9144" anchor="ctr">
                    <a:solidFill>
                      <a:srgbClr val="6076B4"/>
                    </a:solidFill>
                  </a:tcPr>
                </a:tc>
                <a:extLst>
                  <a:ext uri="{0D108BD9-81ED-4DB2-BD59-A6C34878D82A}">
                    <a16:rowId xmlns:a16="http://schemas.microsoft.com/office/drawing/2014/main" val="10000"/>
                  </a:ext>
                </a:extLst>
              </a:tr>
              <a:tr h="741970">
                <a:tc>
                  <a:txBody>
                    <a:bodyPr/>
                    <a:lstStyle/>
                    <a:p>
                      <a:pPr algn="l"/>
                      <a:r>
                        <a:rPr sz="950" b="0">
                          <a:solidFill>
                            <a:srgbClr val="000000"/>
                          </a:solidFill>
                          <a:latin typeface="Arial"/>
                        </a:rPr>
                        <a:t>id</a:t>
                      </a:r>
                    </a:p>
                  </a:txBody>
                  <a:tcPr marL="64008" marR="64008" marT="9144" marB="9144" anchor="ctr">
                    <a:solidFill>
                      <a:srgbClr val="EAEBF2"/>
                    </a:solidFill>
                  </a:tcPr>
                </a:tc>
                <a:tc>
                  <a:txBody>
                    <a:bodyPr/>
                    <a:lstStyle/>
                    <a:p>
                      <a:pPr algn="l"/>
                      <a:r>
                        <a:rPr sz="950" b="0">
                          <a:solidFill>
                            <a:srgbClr val="000000"/>
                          </a:solidFill>
                          <a:latin typeface="Arial"/>
                        </a:rPr>
                        <a:t>bigint(20) unsigned</a:t>
                      </a:r>
                    </a:p>
                  </a:txBody>
                  <a:tcPr marL="64008" marR="64008" marT="9144" marB="9144" anchor="ctr">
                    <a:solidFill>
                      <a:srgbClr val="EAEBF2"/>
                    </a:solidFill>
                  </a:tcPr>
                </a:tc>
                <a:tc>
                  <a:txBody>
                    <a:bodyPr/>
                    <a:lstStyle/>
                    <a:p>
                      <a:pPr algn="l"/>
                      <a:r>
                        <a:rPr sz="950" b="0">
                          <a:solidFill>
                            <a:srgbClr val="000000"/>
                          </a:solidFill>
                          <a:latin typeface="Arial"/>
                        </a:rPr>
                        <a:t>PK</a:t>
                      </a:r>
                    </a:p>
                  </a:txBody>
                  <a:tcPr marL="64008" marR="64008" marT="9144" marB="9144" anchor="ctr">
                    <a:solidFill>
                      <a:srgbClr val="EAEBF2"/>
                    </a:solidFill>
                  </a:tcPr>
                </a:tc>
                <a:tc>
                  <a:txBody>
                    <a:bodyPr/>
                    <a:lstStyle/>
                    <a:p>
                      <a:pPr algn="l"/>
                      <a:r>
                        <a:rPr sz="950" b="0">
                          <a:solidFill>
                            <a:srgbClr val="000000"/>
                          </a:solidFill>
                          <a:latin typeface="Arial"/>
                        </a:rPr>
                        <a:t>Unique customer ID.</a:t>
                      </a:r>
                    </a:p>
                  </a:txBody>
                  <a:tcPr marL="64008" marR="64008" marT="9144" marB="9144" anchor="ctr">
                    <a:solidFill>
                      <a:srgbClr val="EAEBF2"/>
                    </a:solidFill>
                  </a:tcPr>
                </a:tc>
                <a:extLst>
                  <a:ext uri="{0D108BD9-81ED-4DB2-BD59-A6C34878D82A}">
                    <a16:rowId xmlns:a16="http://schemas.microsoft.com/office/drawing/2014/main" val="10001"/>
                  </a:ext>
                </a:extLst>
              </a:tr>
              <a:tr h="741970">
                <a:tc>
                  <a:txBody>
                    <a:bodyPr/>
                    <a:lstStyle/>
                    <a:p>
                      <a:pPr algn="l"/>
                      <a:r>
                        <a:rPr sz="950" b="0">
                          <a:solidFill>
                            <a:srgbClr val="000000"/>
                          </a:solidFill>
                          <a:latin typeface="Arial"/>
                        </a:rPr>
                        <a:t>name</a:t>
                      </a:r>
                    </a:p>
                  </a:txBody>
                  <a:tcPr marL="64008" marR="64008" marT="9144" marB="9144" anchor="ctr">
                    <a:solidFill>
                      <a:srgbClr val="D2D5E4"/>
                    </a:solidFill>
                  </a:tcPr>
                </a:tc>
                <a:tc>
                  <a:txBody>
                    <a:bodyPr/>
                    <a:lstStyle/>
                    <a:p>
                      <a:pPr algn="l"/>
                      <a:r>
                        <a:rPr sz="950" b="0">
                          <a:solidFill>
                            <a:srgbClr val="000000"/>
                          </a:solidFill>
                          <a:latin typeface="Arial"/>
                        </a:rPr>
                        <a:t>varchar(120)</a:t>
                      </a:r>
                    </a:p>
                  </a:txBody>
                  <a:tcPr marL="64008" marR="64008" marT="9144" marB="9144" anchor="ctr">
                    <a:solidFill>
                      <a:srgbClr val="D2D5E4"/>
                    </a:solidFill>
                  </a:tcPr>
                </a:tc>
                <a:tc>
                  <a:txBody>
                    <a:bodyPr/>
                    <a:lstStyle/>
                    <a:p>
                      <a:pPr algn="l"/>
                      <a:r>
                        <a:rPr sz="950" b="0">
                          <a:solidFill>
                            <a:srgbClr val="000000"/>
                          </a:solidFill>
                          <a:latin typeface="Arial"/>
                        </a:rPr>
                        <a:t>—</a:t>
                      </a:r>
                    </a:p>
                  </a:txBody>
                  <a:tcPr marL="64008" marR="64008" marT="9144" marB="9144" anchor="ctr">
                    <a:solidFill>
                      <a:srgbClr val="D2D5E4"/>
                    </a:solidFill>
                  </a:tcPr>
                </a:tc>
                <a:tc>
                  <a:txBody>
                    <a:bodyPr/>
                    <a:lstStyle/>
                    <a:p>
                      <a:pPr algn="l"/>
                      <a:r>
                        <a:rPr sz="950" b="0">
                          <a:solidFill>
                            <a:srgbClr val="000000"/>
                          </a:solidFill>
                          <a:latin typeface="Arial"/>
                        </a:rPr>
                        <a:t>Customer name.</a:t>
                      </a:r>
                    </a:p>
                  </a:txBody>
                  <a:tcPr marL="64008" marR="64008" marT="9144" marB="9144" anchor="ctr">
                    <a:solidFill>
                      <a:srgbClr val="D2D5E4"/>
                    </a:solidFill>
                  </a:tcPr>
                </a:tc>
                <a:extLst>
                  <a:ext uri="{0D108BD9-81ED-4DB2-BD59-A6C34878D82A}">
                    <a16:rowId xmlns:a16="http://schemas.microsoft.com/office/drawing/2014/main" val="10002"/>
                  </a:ext>
                </a:extLst>
              </a:tr>
              <a:tr h="741970">
                <a:tc>
                  <a:txBody>
                    <a:bodyPr/>
                    <a:lstStyle/>
                    <a:p>
                      <a:pPr algn="l"/>
                      <a:r>
                        <a:rPr sz="950" b="0">
                          <a:solidFill>
                            <a:srgbClr val="000000"/>
                          </a:solidFill>
                          <a:latin typeface="Arial"/>
                        </a:rPr>
                        <a:t>mobile</a:t>
                      </a:r>
                    </a:p>
                  </a:txBody>
                  <a:tcPr marL="64008" marR="64008" marT="9144" marB="9144" anchor="ctr">
                    <a:solidFill>
                      <a:srgbClr val="EAEBF2"/>
                    </a:solidFill>
                  </a:tcPr>
                </a:tc>
                <a:tc>
                  <a:txBody>
                    <a:bodyPr/>
                    <a:lstStyle/>
                    <a:p>
                      <a:pPr algn="l"/>
                      <a:r>
                        <a:rPr sz="950" b="0">
                          <a:solidFill>
                            <a:srgbClr val="000000"/>
                          </a:solidFill>
                          <a:latin typeface="Arial"/>
                        </a:rPr>
                        <a:t>varchar(30)</a:t>
                      </a:r>
                    </a:p>
                  </a:txBody>
                  <a:tcPr marL="64008" marR="64008" marT="9144" marB="9144" anchor="ctr">
                    <a:solidFill>
                      <a:srgbClr val="EAEBF2"/>
                    </a:solidFill>
                  </a:tcPr>
                </a:tc>
                <a:tc>
                  <a:txBody>
                    <a:bodyPr/>
                    <a:lstStyle/>
                    <a:p>
                      <a:pPr algn="l"/>
                      <a:r>
                        <a:rPr sz="950" b="0">
                          <a:solidFill>
                            <a:srgbClr val="000000"/>
                          </a:solidFill>
                          <a:latin typeface="Arial"/>
                        </a:rPr>
                        <a:t>IDX</a:t>
                      </a:r>
                    </a:p>
                  </a:txBody>
                  <a:tcPr marL="64008" marR="64008" marT="9144" marB="9144" anchor="ctr">
                    <a:solidFill>
                      <a:srgbClr val="EAEBF2"/>
                    </a:solidFill>
                  </a:tcPr>
                </a:tc>
                <a:tc>
                  <a:txBody>
                    <a:bodyPr/>
                    <a:lstStyle/>
                    <a:p>
                      <a:pPr algn="l"/>
                      <a:r>
                        <a:rPr sz="950" b="0">
                          <a:solidFill>
                            <a:srgbClr val="000000"/>
                          </a:solidFill>
                          <a:latin typeface="Arial"/>
                        </a:rPr>
                        <a:t>Customer mobile number.</a:t>
                      </a:r>
                    </a:p>
                  </a:txBody>
                  <a:tcPr marL="64008" marR="64008" marT="9144" marB="9144" anchor="ctr">
                    <a:solidFill>
                      <a:srgbClr val="EAEBF2"/>
                    </a:solidFill>
                  </a:tcPr>
                </a:tc>
                <a:extLst>
                  <a:ext uri="{0D108BD9-81ED-4DB2-BD59-A6C34878D82A}">
                    <a16:rowId xmlns:a16="http://schemas.microsoft.com/office/drawing/2014/main" val="10003"/>
                  </a:ext>
                </a:extLst>
              </a:tr>
              <a:tr h="741970">
                <a:tc>
                  <a:txBody>
                    <a:bodyPr/>
                    <a:lstStyle/>
                    <a:p>
                      <a:pPr algn="l"/>
                      <a:r>
                        <a:rPr sz="950" b="0">
                          <a:solidFill>
                            <a:srgbClr val="000000"/>
                          </a:solidFill>
                          <a:latin typeface="Arial"/>
                        </a:rPr>
                        <a:t>email</a:t>
                      </a:r>
                    </a:p>
                  </a:txBody>
                  <a:tcPr marL="64008" marR="64008" marT="9144" marB="9144" anchor="ctr">
                    <a:solidFill>
                      <a:srgbClr val="D2D5E4"/>
                    </a:solidFill>
                  </a:tcPr>
                </a:tc>
                <a:tc>
                  <a:txBody>
                    <a:bodyPr/>
                    <a:lstStyle/>
                    <a:p>
                      <a:pPr algn="l"/>
                      <a:r>
                        <a:rPr sz="950" b="0">
                          <a:solidFill>
                            <a:srgbClr val="000000"/>
                          </a:solidFill>
                          <a:latin typeface="Arial"/>
                        </a:rPr>
                        <a:t>varchar(191)</a:t>
                      </a:r>
                    </a:p>
                  </a:txBody>
                  <a:tcPr marL="64008" marR="64008" marT="9144" marB="9144" anchor="ctr">
                    <a:solidFill>
                      <a:srgbClr val="D2D5E4"/>
                    </a:solidFill>
                  </a:tcPr>
                </a:tc>
                <a:tc>
                  <a:txBody>
                    <a:bodyPr/>
                    <a:lstStyle/>
                    <a:p>
                      <a:pPr algn="l"/>
                      <a:r>
                        <a:rPr sz="950" b="0">
                          <a:solidFill>
                            <a:srgbClr val="000000"/>
                          </a:solidFill>
                          <a:latin typeface="Arial"/>
                        </a:rPr>
                        <a:t>IDX</a:t>
                      </a:r>
                    </a:p>
                  </a:txBody>
                  <a:tcPr marL="64008" marR="64008" marT="9144" marB="9144" anchor="ctr">
                    <a:solidFill>
                      <a:srgbClr val="D2D5E4"/>
                    </a:solidFill>
                  </a:tcPr>
                </a:tc>
                <a:tc>
                  <a:txBody>
                    <a:bodyPr/>
                    <a:lstStyle/>
                    <a:p>
                      <a:pPr algn="l"/>
                      <a:r>
                        <a:rPr sz="950" b="0">
                          <a:solidFill>
                            <a:srgbClr val="000000"/>
                          </a:solidFill>
                          <a:latin typeface="Arial"/>
                        </a:rPr>
                        <a:t>Customer email address.</a:t>
                      </a:r>
                    </a:p>
                  </a:txBody>
                  <a:tcPr marL="64008" marR="64008" marT="9144" marB="9144" anchor="ctr">
                    <a:solidFill>
                      <a:srgbClr val="D2D5E4"/>
                    </a:solidFill>
                  </a:tcPr>
                </a:tc>
                <a:extLst>
                  <a:ext uri="{0D108BD9-81ED-4DB2-BD59-A6C34878D82A}">
                    <a16:rowId xmlns:a16="http://schemas.microsoft.com/office/drawing/2014/main" val="10004"/>
                  </a:ext>
                </a:extLst>
              </a:tr>
              <a:tr h="741970">
                <a:tc>
                  <a:txBody>
                    <a:bodyPr/>
                    <a:lstStyle/>
                    <a:p>
                      <a:pPr algn="l"/>
                      <a:r>
                        <a:rPr sz="950" b="0">
                          <a:solidFill>
                            <a:srgbClr val="000000"/>
                          </a:solidFill>
                          <a:latin typeface="Arial"/>
                        </a:rPr>
                        <a:t>created_at</a:t>
                      </a:r>
                    </a:p>
                  </a:txBody>
                  <a:tcPr marL="64008" marR="64008" marT="9144" marB="9144" anchor="ctr">
                    <a:solidFill>
                      <a:srgbClr val="EAEBF2"/>
                    </a:solidFill>
                  </a:tcPr>
                </a:tc>
                <a:tc>
                  <a:txBody>
                    <a:bodyPr/>
                    <a:lstStyle/>
                    <a:p>
                      <a:pPr algn="l"/>
                      <a:r>
                        <a:rPr sz="950" b="0">
                          <a:solidFill>
                            <a:srgbClr val="000000"/>
                          </a:solidFill>
                          <a:latin typeface="Arial"/>
                        </a:rPr>
                        <a:t>timestamp</a:t>
                      </a:r>
                    </a:p>
                  </a:txBody>
                  <a:tcPr marL="64008" marR="64008" marT="9144" marB="9144" anchor="ctr">
                    <a:solidFill>
                      <a:srgbClr val="EAEBF2"/>
                    </a:solidFill>
                  </a:tcPr>
                </a:tc>
                <a:tc>
                  <a:txBody>
                    <a:bodyPr/>
                    <a:lstStyle/>
                    <a:p>
                      <a:pPr algn="l"/>
                      <a:r>
                        <a:rPr sz="950" b="0">
                          <a:solidFill>
                            <a:srgbClr val="000000"/>
                          </a:solidFill>
                          <a:latin typeface="Arial"/>
                        </a:rPr>
                        <a:t>—</a:t>
                      </a:r>
                    </a:p>
                  </a:txBody>
                  <a:tcPr marL="64008" marR="64008" marT="9144" marB="9144" anchor="ctr">
                    <a:solidFill>
                      <a:srgbClr val="EAEBF2"/>
                    </a:solidFill>
                  </a:tcPr>
                </a:tc>
                <a:tc>
                  <a:txBody>
                    <a:bodyPr/>
                    <a:lstStyle/>
                    <a:p>
                      <a:pPr algn="l"/>
                      <a:r>
                        <a:rPr sz="950" b="0">
                          <a:solidFill>
                            <a:srgbClr val="000000"/>
                          </a:solidFill>
                          <a:latin typeface="Arial"/>
                        </a:rPr>
                        <a:t>Date and time the customer was created.</a:t>
                      </a:r>
                    </a:p>
                  </a:txBody>
                  <a:tcPr marL="64008" marR="64008" marT="9144" marB="9144" anchor="ctr">
                    <a:solidFill>
                      <a:srgbClr val="EAEBF2"/>
                    </a:solidFill>
                  </a:tcPr>
                </a:tc>
                <a:extLst>
                  <a:ext uri="{0D108BD9-81ED-4DB2-BD59-A6C34878D82A}">
                    <a16:rowId xmlns:a16="http://schemas.microsoft.com/office/drawing/2014/main" val="10005"/>
                  </a:ext>
                </a:extLst>
              </a:tr>
              <a:tr h="741970">
                <a:tc>
                  <a:txBody>
                    <a:bodyPr/>
                    <a:lstStyle/>
                    <a:p>
                      <a:pPr algn="l"/>
                      <a:r>
                        <a:rPr sz="950" b="0">
                          <a:solidFill>
                            <a:srgbClr val="000000"/>
                          </a:solidFill>
                          <a:latin typeface="Arial"/>
                        </a:rPr>
                        <a:t>updated_at</a:t>
                      </a:r>
                    </a:p>
                  </a:txBody>
                  <a:tcPr marL="64008" marR="64008" marT="9144" marB="9144" anchor="ctr">
                    <a:solidFill>
                      <a:srgbClr val="D2D5E4"/>
                    </a:solidFill>
                  </a:tcPr>
                </a:tc>
                <a:tc>
                  <a:txBody>
                    <a:bodyPr/>
                    <a:lstStyle/>
                    <a:p>
                      <a:pPr algn="l"/>
                      <a:r>
                        <a:rPr sz="950" b="0">
                          <a:solidFill>
                            <a:srgbClr val="000000"/>
                          </a:solidFill>
                          <a:latin typeface="Arial"/>
                        </a:rPr>
                        <a:t>timestamp</a:t>
                      </a:r>
                    </a:p>
                  </a:txBody>
                  <a:tcPr marL="64008" marR="64008" marT="9144" marB="9144" anchor="ctr">
                    <a:solidFill>
                      <a:srgbClr val="D2D5E4"/>
                    </a:solidFill>
                  </a:tcPr>
                </a:tc>
                <a:tc>
                  <a:txBody>
                    <a:bodyPr/>
                    <a:lstStyle/>
                    <a:p>
                      <a:pPr algn="l"/>
                      <a:r>
                        <a:rPr sz="950" b="0">
                          <a:solidFill>
                            <a:srgbClr val="000000"/>
                          </a:solidFill>
                          <a:latin typeface="Arial"/>
                        </a:rPr>
                        <a:t>—</a:t>
                      </a:r>
                    </a:p>
                  </a:txBody>
                  <a:tcPr marL="64008" marR="64008" marT="9144" marB="9144" anchor="ctr">
                    <a:solidFill>
                      <a:srgbClr val="D2D5E4"/>
                    </a:solidFill>
                  </a:tcPr>
                </a:tc>
                <a:tc>
                  <a:txBody>
                    <a:bodyPr/>
                    <a:lstStyle/>
                    <a:p>
                      <a:pPr algn="l"/>
                      <a:r>
                        <a:rPr sz="950" b="0">
                          <a:solidFill>
                            <a:srgbClr val="000000"/>
                          </a:solidFill>
                          <a:latin typeface="Arial"/>
                        </a:rPr>
                        <a:t>Date and time the customer was last updated.</a:t>
                      </a:r>
                    </a:p>
                  </a:txBody>
                  <a:tcPr marL="64008" marR="64008" marT="9144" marB="9144" anchor="ctr">
                    <a:solidFill>
                      <a:srgbClr val="D2D5E4"/>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3.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3063240" y="0"/>
            <a:ext cx="30175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256032"/>
            <a:ext cx="8229600" cy="6327648"/>
          </a:xfrm>
          <a:prstGeom prst="rect">
            <a:avLst/>
          </a:prstGeom>
          <a:solidFill>
            <a:srgbClr val="FFFFFF"/>
          </a:solidFill>
          <a:ln w="10160">
            <a:solidFill>
              <a:srgbClr val="696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47288" y="36576"/>
            <a:ext cx="2249424" cy="438912"/>
          </a:xfrm>
          <a:prstGeom prst="rect">
            <a:avLst/>
          </a:prstGeom>
          <a:solidFill>
            <a:srgbClr val="9C5252"/>
          </a:solidFill>
          <a:ln w="12700">
            <a:solidFill>
              <a:srgbClr val="7E9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00000"/>
                </a:solidFill>
                <a:latin typeface="Times New Roman"/>
              </a:rPr>
              <a:t>Data Dictionary</a:t>
            </a:r>
          </a:p>
        </p:txBody>
      </p:sp>
      <p:sp>
        <p:nvSpPr>
          <p:cNvPr id="6" name="Rectangle 5"/>
          <p:cNvSpPr/>
          <p:nvPr/>
        </p:nvSpPr>
        <p:spPr>
          <a:xfrm>
            <a:off x="3262122" y="832104"/>
            <a:ext cx="2217420" cy="32004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000000"/>
                </a:solidFill>
                <a:latin typeface="Arial"/>
              </a:rPr>
              <a:t>Table : food_customizations</a:t>
            </a:r>
          </a:p>
        </p:txBody>
      </p:sp>
      <p:sp>
        <p:nvSpPr>
          <p:cNvPr id="7" name="TextBox 6"/>
          <p:cNvSpPr txBox="1"/>
          <p:nvPr/>
        </p:nvSpPr>
        <p:spPr>
          <a:xfrm>
            <a:off x="5552694" y="832104"/>
            <a:ext cx="320040" cy="320040"/>
          </a:xfrm>
          <a:prstGeom prst="rect">
            <a:avLst/>
          </a:prstGeom>
          <a:noFill/>
        </p:spPr>
        <p:txBody>
          <a:bodyPr wrap="none" anchor="ctr">
            <a:spAutoFit/>
          </a:bodyPr>
          <a:lstStyle/>
          <a:p>
            <a:pPr algn="l"/>
            <a:r>
              <a:rPr sz="1100">
                <a:solidFill>
                  <a:srgbClr val="000000"/>
                </a:solidFill>
                <a:latin typeface="Arial"/>
              </a:rPr>
              <a:t>:-</a:t>
            </a:r>
          </a:p>
        </p:txBody>
      </p:sp>
      <p:graphicFrame>
        <p:nvGraphicFramePr>
          <p:cNvPr id="8" name="Table 7"/>
          <p:cNvGraphicFramePr>
            <a:graphicFrameLocks noGrp="1"/>
          </p:cNvGraphicFramePr>
          <p:nvPr/>
        </p:nvGraphicFramePr>
        <p:xfrm>
          <a:off x="1170432" y="1225296"/>
          <a:ext cx="6949440" cy="5193782"/>
        </p:xfrm>
        <a:graphic>
          <a:graphicData uri="http://schemas.openxmlformats.org/drawingml/2006/table">
            <a:tbl>
              <a:tblPr firstRow="1" bandRow="1">
                <a:tableStyleId>{5C22544A-7EE6-4342-B048-85BDC9FD1C3A}</a:tableStyleId>
              </a:tblPr>
              <a:tblGrid>
                <a:gridCol w="1572768">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236081">
                <a:tc>
                  <a:txBody>
                    <a:bodyPr/>
                    <a:lstStyle/>
                    <a:p>
                      <a:pPr algn="l"/>
                      <a:r>
                        <a:rPr sz="950" b="1">
                          <a:solidFill>
                            <a:srgbClr val="FFFFFF"/>
                          </a:solidFill>
                          <a:latin typeface="Arial"/>
                        </a:rPr>
                        <a:t>Field Name</a:t>
                      </a:r>
                    </a:p>
                  </a:txBody>
                  <a:tcPr marL="64008" marR="64008" marT="9144" marB="9144" anchor="ctr">
                    <a:solidFill>
                      <a:srgbClr val="6076B4"/>
                    </a:solidFill>
                  </a:tcPr>
                </a:tc>
                <a:tc>
                  <a:txBody>
                    <a:bodyPr/>
                    <a:lstStyle/>
                    <a:p>
                      <a:pPr algn="l"/>
                      <a:r>
                        <a:rPr sz="950" b="1">
                          <a:solidFill>
                            <a:srgbClr val="FFFFFF"/>
                          </a:solidFill>
                          <a:latin typeface="Arial"/>
                        </a:rPr>
                        <a:t>Data Type</a:t>
                      </a:r>
                    </a:p>
                  </a:txBody>
                  <a:tcPr marL="64008" marR="64008" marT="9144" marB="9144" anchor="ctr">
                    <a:solidFill>
                      <a:srgbClr val="6076B4"/>
                    </a:solidFill>
                  </a:tcPr>
                </a:tc>
                <a:tc>
                  <a:txBody>
                    <a:bodyPr/>
                    <a:lstStyle/>
                    <a:p>
                      <a:pPr algn="l"/>
                      <a:r>
                        <a:rPr sz="950" b="1">
                          <a:solidFill>
                            <a:srgbClr val="FFFFFF"/>
                          </a:solidFill>
                          <a:latin typeface="Arial"/>
                        </a:rPr>
                        <a:t>Key</a:t>
                      </a:r>
                    </a:p>
                  </a:txBody>
                  <a:tcPr marL="64008" marR="64008" marT="9144" marB="9144" anchor="ctr">
                    <a:solidFill>
                      <a:srgbClr val="6076B4"/>
                    </a:solidFill>
                  </a:tcPr>
                </a:tc>
                <a:tc>
                  <a:txBody>
                    <a:bodyPr/>
                    <a:lstStyle/>
                    <a:p>
                      <a:pPr algn="l"/>
                      <a:r>
                        <a:rPr sz="950" b="1">
                          <a:solidFill>
                            <a:srgbClr val="FFFFFF"/>
                          </a:solidFill>
                          <a:latin typeface="Arial"/>
                        </a:rPr>
                        <a:t>Description</a:t>
                      </a:r>
                    </a:p>
                  </a:txBody>
                  <a:tcPr marL="64008" marR="64008" marT="9144" marB="9144" anchor="ctr">
                    <a:solidFill>
                      <a:srgbClr val="6076B4"/>
                    </a:solidFill>
                  </a:tcPr>
                </a:tc>
                <a:extLst>
                  <a:ext uri="{0D108BD9-81ED-4DB2-BD59-A6C34878D82A}">
                    <a16:rowId xmlns:a16="http://schemas.microsoft.com/office/drawing/2014/main" val="10000"/>
                  </a:ext>
                </a:extLst>
              </a:tr>
              <a:tr h="236081">
                <a:tc>
                  <a:txBody>
                    <a:bodyPr/>
                    <a:lstStyle/>
                    <a:p>
                      <a:pPr algn="l"/>
                      <a:r>
                        <a:rPr sz="750" b="0">
                          <a:solidFill>
                            <a:srgbClr val="000000"/>
                          </a:solidFill>
                          <a:latin typeface="Arial"/>
                        </a:rPr>
                        <a:t>id</a:t>
                      </a:r>
                    </a:p>
                  </a:txBody>
                  <a:tcPr marL="64008" marR="64008" marT="9144" marB="9144" anchor="ctr">
                    <a:solidFill>
                      <a:srgbClr val="EAEBF2"/>
                    </a:solidFill>
                  </a:tcPr>
                </a:tc>
                <a:tc>
                  <a:txBody>
                    <a:bodyPr/>
                    <a:lstStyle/>
                    <a:p>
                      <a:pPr algn="l"/>
                      <a:r>
                        <a:rPr sz="750" b="0">
                          <a:solidFill>
                            <a:srgbClr val="000000"/>
                          </a:solidFill>
                          <a:latin typeface="Arial"/>
                        </a:rPr>
                        <a:t>bigint(20) unsigned</a:t>
                      </a:r>
                    </a:p>
                  </a:txBody>
                  <a:tcPr marL="64008" marR="64008" marT="9144" marB="9144" anchor="ctr">
                    <a:solidFill>
                      <a:srgbClr val="EAEBF2"/>
                    </a:solidFill>
                  </a:tcPr>
                </a:tc>
                <a:tc>
                  <a:txBody>
                    <a:bodyPr/>
                    <a:lstStyle/>
                    <a:p>
                      <a:pPr algn="l"/>
                      <a:r>
                        <a:rPr sz="750" b="0">
                          <a:solidFill>
                            <a:srgbClr val="000000"/>
                          </a:solidFill>
                          <a:latin typeface="Arial"/>
                        </a:rPr>
                        <a:t>PK</a:t>
                      </a:r>
                    </a:p>
                  </a:txBody>
                  <a:tcPr marL="64008" marR="64008" marT="9144" marB="9144" anchor="ctr">
                    <a:solidFill>
                      <a:srgbClr val="EAEBF2"/>
                    </a:solidFill>
                  </a:tcPr>
                </a:tc>
                <a:tc>
                  <a:txBody>
                    <a:bodyPr/>
                    <a:lstStyle/>
                    <a:p>
                      <a:pPr algn="l"/>
                      <a:r>
                        <a:rPr sz="750" b="0">
                          <a:solidFill>
                            <a:srgbClr val="000000"/>
                          </a:solidFill>
                          <a:latin typeface="Arial"/>
                        </a:rPr>
                        <a:t>Unique customization ID.</a:t>
                      </a:r>
                    </a:p>
                  </a:txBody>
                  <a:tcPr marL="64008" marR="64008" marT="9144" marB="9144" anchor="ctr">
                    <a:solidFill>
                      <a:srgbClr val="EAEBF2"/>
                    </a:solidFill>
                  </a:tcPr>
                </a:tc>
                <a:extLst>
                  <a:ext uri="{0D108BD9-81ED-4DB2-BD59-A6C34878D82A}">
                    <a16:rowId xmlns:a16="http://schemas.microsoft.com/office/drawing/2014/main" val="10001"/>
                  </a:ext>
                </a:extLst>
              </a:tr>
              <a:tr h="236081">
                <a:tc>
                  <a:txBody>
                    <a:bodyPr/>
                    <a:lstStyle/>
                    <a:p>
                      <a:pPr algn="l"/>
                      <a:r>
                        <a:rPr sz="750" b="0">
                          <a:solidFill>
                            <a:srgbClr val="000000"/>
                          </a:solidFill>
                          <a:latin typeface="Arial"/>
                        </a:rPr>
                        <a:t>food_item_id</a:t>
                      </a:r>
                    </a:p>
                  </a:txBody>
                  <a:tcPr marL="64008" marR="64008" marT="9144" marB="9144" anchor="ctr">
                    <a:solidFill>
                      <a:srgbClr val="D2D5E4"/>
                    </a:solidFill>
                  </a:tcPr>
                </a:tc>
                <a:tc>
                  <a:txBody>
                    <a:bodyPr/>
                    <a:lstStyle/>
                    <a:p>
                      <a:pPr algn="l"/>
                      <a:r>
                        <a:rPr sz="750" b="0">
                          <a:solidFill>
                            <a:srgbClr val="000000"/>
                          </a:solidFill>
                          <a:latin typeface="Arial"/>
                        </a:rPr>
                        <a:t>bigint(20) unsigned</a:t>
                      </a:r>
                    </a:p>
                  </a:txBody>
                  <a:tcPr marL="64008" marR="64008" marT="9144" marB="9144" anchor="ctr">
                    <a:solidFill>
                      <a:srgbClr val="D2D5E4"/>
                    </a:solidFill>
                  </a:tcPr>
                </a:tc>
                <a:tc>
                  <a:txBody>
                    <a:bodyPr/>
                    <a:lstStyle/>
                    <a:p>
                      <a:pPr algn="l"/>
                      <a:r>
                        <a:rPr sz="750" b="0">
                          <a:solidFill>
                            <a:srgbClr val="000000"/>
                          </a:solidFill>
                          <a:latin typeface="Arial"/>
                        </a:rPr>
                        <a:t>FK/IDX</a:t>
                      </a:r>
                    </a:p>
                  </a:txBody>
                  <a:tcPr marL="64008" marR="64008" marT="9144" marB="9144" anchor="ctr">
                    <a:solidFill>
                      <a:srgbClr val="D2D5E4"/>
                    </a:solidFill>
                  </a:tcPr>
                </a:tc>
                <a:tc>
                  <a:txBody>
                    <a:bodyPr/>
                    <a:lstStyle/>
                    <a:p>
                      <a:pPr algn="l"/>
                      <a:r>
                        <a:rPr sz="750" b="0">
                          <a:solidFill>
                            <a:srgbClr val="000000"/>
                          </a:solidFill>
                          <a:latin typeface="Arial"/>
                        </a:rPr>
                        <a:t>Links the customization to a food item.</a:t>
                      </a:r>
                    </a:p>
                  </a:txBody>
                  <a:tcPr marL="64008" marR="64008" marT="9144" marB="9144" anchor="ctr">
                    <a:solidFill>
                      <a:srgbClr val="D2D5E4"/>
                    </a:solidFill>
                  </a:tcPr>
                </a:tc>
                <a:extLst>
                  <a:ext uri="{0D108BD9-81ED-4DB2-BD59-A6C34878D82A}">
                    <a16:rowId xmlns:a16="http://schemas.microsoft.com/office/drawing/2014/main" val="10002"/>
                  </a:ext>
                </a:extLst>
              </a:tr>
              <a:tr h="236081">
                <a:tc>
                  <a:txBody>
                    <a:bodyPr/>
                    <a:lstStyle/>
                    <a:p>
                      <a:pPr algn="l"/>
                      <a:r>
                        <a:rPr sz="750" b="0">
                          <a:solidFill>
                            <a:srgbClr val="000000"/>
                          </a:solidFill>
                          <a:latin typeface="Arial"/>
                        </a:rPr>
                        <a:t>name</a:t>
                      </a:r>
                    </a:p>
                  </a:txBody>
                  <a:tcPr marL="64008" marR="64008" marT="9144" marB="9144" anchor="ctr">
                    <a:solidFill>
                      <a:srgbClr val="EAEBF2"/>
                    </a:solidFill>
                  </a:tcPr>
                </a:tc>
                <a:tc>
                  <a:txBody>
                    <a:bodyPr/>
                    <a:lstStyle/>
                    <a:p>
                      <a:pPr algn="l"/>
                      <a:r>
                        <a:rPr sz="750" b="0">
                          <a:solidFill>
                            <a:srgbClr val="000000"/>
                          </a:solidFill>
                          <a:latin typeface="Arial"/>
                        </a:rPr>
                        <a:t>varchar(100)</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Customization option name.</a:t>
                      </a:r>
                    </a:p>
                  </a:txBody>
                  <a:tcPr marL="64008" marR="64008" marT="9144" marB="9144" anchor="ctr">
                    <a:solidFill>
                      <a:srgbClr val="EAEBF2"/>
                    </a:solidFill>
                  </a:tcPr>
                </a:tc>
                <a:extLst>
                  <a:ext uri="{0D108BD9-81ED-4DB2-BD59-A6C34878D82A}">
                    <a16:rowId xmlns:a16="http://schemas.microsoft.com/office/drawing/2014/main" val="10003"/>
                  </a:ext>
                </a:extLst>
              </a:tr>
              <a:tr h="236081">
                <a:tc>
                  <a:txBody>
                    <a:bodyPr/>
                    <a:lstStyle/>
                    <a:p>
                      <a:pPr algn="l"/>
                      <a:r>
                        <a:rPr sz="750" b="0">
                          <a:solidFill>
                            <a:srgbClr val="000000"/>
                          </a:solidFill>
                          <a:latin typeface="Arial"/>
                        </a:rPr>
                        <a:t>description</a:t>
                      </a:r>
                    </a:p>
                  </a:txBody>
                  <a:tcPr marL="64008" marR="64008" marT="9144" marB="9144" anchor="ctr">
                    <a:solidFill>
                      <a:srgbClr val="D2D5E4"/>
                    </a:solidFill>
                  </a:tcPr>
                </a:tc>
                <a:tc>
                  <a:txBody>
                    <a:bodyPr/>
                    <a:lstStyle/>
                    <a:p>
                      <a:pPr algn="l"/>
                      <a:r>
                        <a:rPr sz="750" b="0">
                          <a:solidFill>
                            <a:srgbClr val="000000"/>
                          </a:solidFill>
                          <a:latin typeface="Arial"/>
                        </a:rPr>
                        <a:t>varchar(255)</a:t>
                      </a:r>
                    </a:p>
                  </a:txBody>
                  <a:tcPr marL="64008" marR="64008" marT="9144" marB="9144" anchor="ctr">
                    <a:solidFill>
                      <a:srgbClr val="D2D5E4"/>
                    </a:solidFill>
                  </a:tcPr>
                </a:tc>
                <a:tc>
                  <a:txBody>
                    <a:bodyPr/>
                    <a:lstStyle/>
                    <a:p>
                      <a:pPr algn="l"/>
                      <a:r>
                        <a:rPr sz="750" b="0">
                          <a:solidFill>
                            <a:srgbClr val="000000"/>
                          </a:solidFill>
                          <a:latin typeface="Arial"/>
                        </a:rPr>
                        <a:t>—</a:t>
                      </a:r>
                    </a:p>
                  </a:txBody>
                  <a:tcPr marL="64008" marR="64008" marT="9144" marB="9144" anchor="ctr">
                    <a:solidFill>
                      <a:srgbClr val="D2D5E4"/>
                    </a:solidFill>
                  </a:tcPr>
                </a:tc>
                <a:tc>
                  <a:txBody>
                    <a:bodyPr/>
                    <a:lstStyle/>
                    <a:p>
                      <a:pPr algn="l"/>
                      <a:r>
                        <a:rPr sz="750" b="0">
                          <a:solidFill>
                            <a:srgbClr val="000000"/>
                          </a:solidFill>
                          <a:latin typeface="Arial"/>
                        </a:rPr>
                        <a:t>Description of the customization.</a:t>
                      </a:r>
                    </a:p>
                  </a:txBody>
                  <a:tcPr marL="64008" marR="64008" marT="9144" marB="9144" anchor="ctr">
                    <a:solidFill>
                      <a:srgbClr val="D2D5E4"/>
                    </a:solidFill>
                  </a:tcPr>
                </a:tc>
                <a:extLst>
                  <a:ext uri="{0D108BD9-81ED-4DB2-BD59-A6C34878D82A}">
                    <a16:rowId xmlns:a16="http://schemas.microsoft.com/office/drawing/2014/main" val="10004"/>
                  </a:ext>
                </a:extLst>
              </a:tr>
              <a:tr h="236081">
                <a:tc>
                  <a:txBody>
                    <a:bodyPr/>
                    <a:lstStyle/>
                    <a:p>
                      <a:pPr algn="l"/>
                      <a:r>
                        <a:rPr sz="750" b="0">
                          <a:solidFill>
                            <a:srgbClr val="000000"/>
                          </a:solidFill>
                          <a:latin typeface="Arial"/>
                        </a:rPr>
                        <a:t>group_name</a:t>
                      </a:r>
                    </a:p>
                  </a:txBody>
                  <a:tcPr marL="64008" marR="64008" marT="9144" marB="9144" anchor="ctr">
                    <a:solidFill>
                      <a:srgbClr val="EAEBF2"/>
                    </a:solidFill>
                  </a:tcPr>
                </a:tc>
                <a:tc>
                  <a:txBody>
                    <a:bodyPr/>
                    <a:lstStyle/>
                    <a:p>
                      <a:pPr algn="l"/>
                      <a:r>
                        <a:rPr sz="750" b="0">
                          <a:solidFill>
                            <a:srgbClr val="000000"/>
                          </a:solidFill>
                          <a:latin typeface="Arial"/>
                        </a:rPr>
                        <a:t>varchar(100)</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Customization group such as toppings or protein.</a:t>
                      </a:r>
                    </a:p>
                  </a:txBody>
                  <a:tcPr marL="64008" marR="64008" marT="9144" marB="9144" anchor="ctr">
                    <a:solidFill>
                      <a:srgbClr val="EAEBF2"/>
                    </a:solidFill>
                  </a:tcPr>
                </a:tc>
                <a:extLst>
                  <a:ext uri="{0D108BD9-81ED-4DB2-BD59-A6C34878D82A}">
                    <a16:rowId xmlns:a16="http://schemas.microsoft.com/office/drawing/2014/main" val="10005"/>
                  </a:ext>
                </a:extLst>
              </a:tr>
              <a:tr h="236081">
                <a:tc>
                  <a:txBody>
                    <a:bodyPr/>
                    <a:lstStyle/>
                    <a:p>
                      <a:pPr algn="l"/>
                      <a:r>
                        <a:rPr sz="750" b="0">
                          <a:solidFill>
                            <a:srgbClr val="000000"/>
                          </a:solidFill>
                          <a:latin typeface="Arial"/>
                        </a:rPr>
                        <a:t>price_adjustment</a:t>
                      </a:r>
                    </a:p>
                  </a:txBody>
                  <a:tcPr marL="64008" marR="64008" marT="9144" marB="9144" anchor="ctr">
                    <a:solidFill>
                      <a:srgbClr val="D2D5E4"/>
                    </a:solidFill>
                  </a:tcPr>
                </a:tc>
                <a:tc>
                  <a:txBody>
                    <a:bodyPr/>
                    <a:lstStyle/>
                    <a:p>
                      <a:pPr algn="l"/>
                      <a:r>
                        <a:rPr sz="750" b="0">
                          <a:solidFill>
                            <a:srgbClr val="000000"/>
                          </a:solidFill>
                          <a:latin typeface="Arial"/>
                        </a:rPr>
                        <a:t>decimal(10,2)</a:t>
                      </a:r>
                    </a:p>
                  </a:txBody>
                  <a:tcPr marL="64008" marR="64008" marT="9144" marB="9144" anchor="ctr">
                    <a:solidFill>
                      <a:srgbClr val="D2D5E4"/>
                    </a:solidFill>
                  </a:tcPr>
                </a:tc>
                <a:tc>
                  <a:txBody>
                    <a:bodyPr/>
                    <a:lstStyle/>
                    <a:p>
                      <a:pPr algn="l"/>
                      <a:r>
                        <a:rPr sz="750" b="0">
                          <a:solidFill>
                            <a:srgbClr val="000000"/>
                          </a:solidFill>
                          <a:latin typeface="Arial"/>
                        </a:rPr>
                        <a:t>—</a:t>
                      </a:r>
                    </a:p>
                  </a:txBody>
                  <a:tcPr marL="64008" marR="64008" marT="9144" marB="9144" anchor="ctr">
                    <a:solidFill>
                      <a:srgbClr val="D2D5E4"/>
                    </a:solidFill>
                  </a:tcPr>
                </a:tc>
                <a:tc>
                  <a:txBody>
                    <a:bodyPr/>
                    <a:lstStyle/>
                    <a:p>
                      <a:pPr algn="l"/>
                      <a:r>
                        <a:rPr sz="750" b="0">
                          <a:solidFill>
                            <a:srgbClr val="000000"/>
                          </a:solidFill>
                          <a:latin typeface="Arial"/>
                        </a:rPr>
                        <a:t>Price added or adjusted by the option.</a:t>
                      </a:r>
                    </a:p>
                  </a:txBody>
                  <a:tcPr marL="64008" marR="64008" marT="9144" marB="9144" anchor="ctr">
                    <a:solidFill>
                      <a:srgbClr val="D2D5E4"/>
                    </a:solidFill>
                  </a:tcPr>
                </a:tc>
                <a:extLst>
                  <a:ext uri="{0D108BD9-81ED-4DB2-BD59-A6C34878D82A}">
                    <a16:rowId xmlns:a16="http://schemas.microsoft.com/office/drawing/2014/main" val="10006"/>
                  </a:ext>
                </a:extLst>
              </a:tr>
              <a:tr h="236081">
                <a:tc>
                  <a:txBody>
                    <a:bodyPr/>
                    <a:lstStyle/>
                    <a:p>
                      <a:pPr algn="l"/>
                      <a:r>
                        <a:rPr sz="750" b="0">
                          <a:solidFill>
                            <a:srgbClr val="000000"/>
                          </a:solidFill>
                          <a:latin typeface="Arial"/>
                        </a:rPr>
                        <a:t>calories_adjustment</a:t>
                      </a:r>
                    </a:p>
                  </a:txBody>
                  <a:tcPr marL="64008" marR="64008" marT="9144" marB="9144" anchor="ctr">
                    <a:solidFill>
                      <a:srgbClr val="EAEBF2"/>
                    </a:solidFill>
                  </a:tcPr>
                </a:tc>
                <a:tc>
                  <a:txBody>
                    <a:bodyPr/>
                    <a:lstStyle/>
                    <a:p>
                      <a:pPr algn="l"/>
                      <a:r>
                        <a:rPr sz="750" b="0">
                          <a:solidFill>
                            <a:srgbClr val="000000"/>
                          </a:solidFill>
                          <a:latin typeface="Arial"/>
                        </a:rPr>
                        <a:t>int(11)</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Calories added or adjusted.</a:t>
                      </a:r>
                    </a:p>
                  </a:txBody>
                  <a:tcPr marL="64008" marR="64008" marT="9144" marB="9144" anchor="ctr">
                    <a:solidFill>
                      <a:srgbClr val="EAEBF2"/>
                    </a:solidFill>
                  </a:tcPr>
                </a:tc>
                <a:extLst>
                  <a:ext uri="{0D108BD9-81ED-4DB2-BD59-A6C34878D82A}">
                    <a16:rowId xmlns:a16="http://schemas.microsoft.com/office/drawing/2014/main" val="10007"/>
                  </a:ext>
                </a:extLst>
              </a:tr>
              <a:tr h="236081">
                <a:tc>
                  <a:txBody>
                    <a:bodyPr/>
                    <a:lstStyle/>
                    <a:p>
                      <a:pPr algn="l"/>
                      <a:r>
                        <a:rPr sz="750" b="0">
                          <a:solidFill>
                            <a:srgbClr val="000000"/>
                          </a:solidFill>
                          <a:latin typeface="Arial"/>
                        </a:rPr>
                        <a:t>protein_adjustment</a:t>
                      </a:r>
                    </a:p>
                  </a:txBody>
                  <a:tcPr marL="64008" marR="64008" marT="9144" marB="9144" anchor="ctr">
                    <a:solidFill>
                      <a:srgbClr val="D2D5E4"/>
                    </a:solidFill>
                  </a:tcPr>
                </a:tc>
                <a:tc>
                  <a:txBody>
                    <a:bodyPr/>
                    <a:lstStyle/>
                    <a:p>
                      <a:pPr algn="l"/>
                      <a:r>
                        <a:rPr sz="750" b="0">
                          <a:solidFill>
                            <a:srgbClr val="000000"/>
                          </a:solidFill>
                          <a:latin typeface="Arial"/>
                        </a:rPr>
                        <a:t>decimal(6,2)</a:t>
                      </a:r>
                    </a:p>
                  </a:txBody>
                  <a:tcPr marL="64008" marR="64008" marT="9144" marB="9144" anchor="ctr">
                    <a:solidFill>
                      <a:srgbClr val="D2D5E4"/>
                    </a:solidFill>
                  </a:tcPr>
                </a:tc>
                <a:tc>
                  <a:txBody>
                    <a:bodyPr/>
                    <a:lstStyle/>
                    <a:p>
                      <a:pPr algn="l"/>
                      <a:r>
                        <a:rPr sz="750" b="0">
                          <a:solidFill>
                            <a:srgbClr val="000000"/>
                          </a:solidFill>
                          <a:latin typeface="Arial"/>
                        </a:rPr>
                        <a:t>—</a:t>
                      </a:r>
                    </a:p>
                  </a:txBody>
                  <a:tcPr marL="64008" marR="64008" marT="9144" marB="9144" anchor="ctr">
                    <a:solidFill>
                      <a:srgbClr val="D2D5E4"/>
                    </a:solidFill>
                  </a:tcPr>
                </a:tc>
                <a:tc>
                  <a:txBody>
                    <a:bodyPr/>
                    <a:lstStyle/>
                    <a:p>
                      <a:pPr algn="l"/>
                      <a:r>
                        <a:rPr sz="750" b="0">
                          <a:solidFill>
                            <a:srgbClr val="000000"/>
                          </a:solidFill>
                          <a:latin typeface="Arial"/>
                        </a:rPr>
                        <a:t>Protein adjustment in grams.</a:t>
                      </a:r>
                    </a:p>
                  </a:txBody>
                  <a:tcPr marL="64008" marR="64008" marT="9144" marB="9144" anchor="ctr">
                    <a:solidFill>
                      <a:srgbClr val="D2D5E4"/>
                    </a:solidFill>
                  </a:tcPr>
                </a:tc>
                <a:extLst>
                  <a:ext uri="{0D108BD9-81ED-4DB2-BD59-A6C34878D82A}">
                    <a16:rowId xmlns:a16="http://schemas.microsoft.com/office/drawing/2014/main" val="10008"/>
                  </a:ext>
                </a:extLst>
              </a:tr>
              <a:tr h="236081">
                <a:tc>
                  <a:txBody>
                    <a:bodyPr/>
                    <a:lstStyle/>
                    <a:p>
                      <a:pPr algn="l"/>
                      <a:r>
                        <a:rPr sz="750" b="0">
                          <a:solidFill>
                            <a:srgbClr val="000000"/>
                          </a:solidFill>
                          <a:latin typeface="Arial"/>
                        </a:rPr>
                        <a:t>carbs_adjustment</a:t>
                      </a:r>
                    </a:p>
                  </a:txBody>
                  <a:tcPr marL="64008" marR="64008" marT="9144" marB="9144" anchor="ctr">
                    <a:solidFill>
                      <a:srgbClr val="EAEBF2"/>
                    </a:solidFill>
                  </a:tcPr>
                </a:tc>
                <a:tc>
                  <a:txBody>
                    <a:bodyPr/>
                    <a:lstStyle/>
                    <a:p>
                      <a:pPr algn="l"/>
                      <a:r>
                        <a:rPr sz="750" b="0">
                          <a:solidFill>
                            <a:srgbClr val="000000"/>
                          </a:solidFill>
                          <a:latin typeface="Arial"/>
                        </a:rPr>
                        <a:t>decimal(6,2)</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Carbohydrate adjustment in grams.</a:t>
                      </a:r>
                    </a:p>
                  </a:txBody>
                  <a:tcPr marL="64008" marR="64008" marT="9144" marB="9144" anchor="ctr">
                    <a:solidFill>
                      <a:srgbClr val="EAEBF2"/>
                    </a:solidFill>
                  </a:tcPr>
                </a:tc>
                <a:extLst>
                  <a:ext uri="{0D108BD9-81ED-4DB2-BD59-A6C34878D82A}">
                    <a16:rowId xmlns:a16="http://schemas.microsoft.com/office/drawing/2014/main" val="10009"/>
                  </a:ext>
                </a:extLst>
              </a:tr>
              <a:tr h="236081">
                <a:tc>
                  <a:txBody>
                    <a:bodyPr/>
                    <a:lstStyle/>
                    <a:p>
                      <a:pPr algn="l"/>
                      <a:r>
                        <a:rPr sz="750" b="0">
                          <a:solidFill>
                            <a:srgbClr val="000000"/>
                          </a:solidFill>
                          <a:latin typeface="Arial"/>
                        </a:rPr>
                        <a:t>fat_adjustment</a:t>
                      </a:r>
                    </a:p>
                  </a:txBody>
                  <a:tcPr marL="64008" marR="64008" marT="9144" marB="9144" anchor="ctr">
                    <a:solidFill>
                      <a:srgbClr val="D2D5E4"/>
                    </a:solidFill>
                  </a:tcPr>
                </a:tc>
                <a:tc>
                  <a:txBody>
                    <a:bodyPr/>
                    <a:lstStyle/>
                    <a:p>
                      <a:pPr algn="l"/>
                      <a:r>
                        <a:rPr sz="750" b="0">
                          <a:solidFill>
                            <a:srgbClr val="000000"/>
                          </a:solidFill>
                          <a:latin typeface="Arial"/>
                        </a:rPr>
                        <a:t>decimal(6,2)</a:t>
                      </a:r>
                    </a:p>
                  </a:txBody>
                  <a:tcPr marL="64008" marR="64008" marT="9144" marB="9144" anchor="ctr">
                    <a:solidFill>
                      <a:srgbClr val="D2D5E4"/>
                    </a:solidFill>
                  </a:tcPr>
                </a:tc>
                <a:tc>
                  <a:txBody>
                    <a:bodyPr/>
                    <a:lstStyle/>
                    <a:p>
                      <a:pPr algn="l"/>
                      <a:r>
                        <a:rPr sz="750" b="0">
                          <a:solidFill>
                            <a:srgbClr val="000000"/>
                          </a:solidFill>
                          <a:latin typeface="Arial"/>
                        </a:rPr>
                        <a:t>—</a:t>
                      </a:r>
                    </a:p>
                  </a:txBody>
                  <a:tcPr marL="64008" marR="64008" marT="9144" marB="9144" anchor="ctr">
                    <a:solidFill>
                      <a:srgbClr val="D2D5E4"/>
                    </a:solidFill>
                  </a:tcPr>
                </a:tc>
                <a:tc>
                  <a:txBody>
                    <a:bodyPr/>
                    <a:lstStyle/>
                    <a:p>
                      <a:pPr algn="l"/>
                      <a:r>
                        <a:rPr sz="750" b="0">
                          <a:solidFill>
                            <a:srgbClr val="000000"/>
                          </a:solidFill>
                          <a:latin typeface="Arial"/>
                        </a:rPr>
                        <a:t>Fat adjustment in grams.</a:t>
                      </a:r>
                    </a:p>
                  </a:txBody>
                  <a:tcPr marL="64008" marR="64008" marT="9144" marB="9144" anchor="ctr">
                    <a:solidFill>
                      <a:srgbClr val="D2D5E4"/>
                    </a:solidFill>
                  </a:tcPr>
                </a:tc>
                <a:extLst>
                  <a:ext uri="{0D108BD9-81ED-4DB2-BD59-A6C34878D82A}">
                    <a16:rowId xmlns:a16="http://schemas.microsoft.com/office/drawing/2014/main" val="10010"/>
                  </a:ext>
                </a:extLst>
              </a:tr>
              <a:tr h="236081">
                <a:tc>
                  <a:txBody>
                    <a:bodyPr/>
                    <a:lstStyle/>
                    <a:p>
                      <a:pPr algn="l"/>
                      <a:r>
                        <a:rPr sz="750" b="0">
                          <a:solidFill>
                            <a:srgbClr val="000000"/>
                          </a:solidFill>
                          <a:latin typeface="Arial"/>
                        </a:rPr>
                        <a:t>fiber_adjustment</a:t>
                      </a:r>
                    </a:p>
                  </a:txBody>
                  <a:tcPr marL="64008" marR="64008" marT="9144" marB="9144" anchor="ctr">
                    <a:solidFill>
                      <a:srgbClr val="EAEBF2"/>
                    </a:solidFill>
                  </a:tcPr>
                </a:tc>
                <a:tc>
                  <a:txBody>
                    <a:bodyPr/>
                    <a:lstStyle/>
                    <a:p>
                      <a:pPr algn="l"/>
                      <a:r>
                        <a:rPr sz="750" b="0">
                          <a:solidFill>
                            <a:srgbClr val="000000"/>
                          </a:solidFill>
                          <a:latin typeface="Arial"/>
                        </a:rPr>
                        <a:t>decimal(6,2)</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Fiber adjustment in grams.</a:t>
                      </a:r>
                    </a:p>
                  </a:txBody>
                  <a:tcPr marL="64008" marR="64008" marT="9144" marB="9144" anchor="ctr">
                    <a:solidFill>
                      <a:srgbClr val="EAEBF2"/>
                    </a:solidFill>
                  </a:tcPr>
                </a:tc>
                <a:extLst>
                  <a:ext uri="{0D108BD9-81ED-4DB2-BD59-A6C34878D82A}">
                    <a16:rowId xmlns:a16="http://schemas.microsoft.com/office/drawing/2014/main" val="10011"/>
                  </a:ext>
                </a:extLst>
              </a:tr>
              <a:tr h="236081">
                <a:tc>
                  <a:txBody>
                    <a:bodyPr/>
                    <a:lstStyle/>
                    <a:p>
                      <a:pPr algn="l"/>
                      <a:r>
                        <a:rPr sz="750" b="0">
                          <a:solidFill>
                            <a:srgbClr val="000000"/>
                          </a:solidFill>
                          <a:latin typeface="Arial"/>
                        </a:rPr>
                        <a:t>sugar_adjustment</a:t>
                      </a:r>
                    </a:p>
                  </a:txBody>
                  <a:tcPr marL="64008" marR="64008" marT="9144" marB="9144" anchor="ctr">
                    <a:solidFill>
                      <a:srgbClr val="D2D5E4"/>
                    </a:solidFill>
                  </a:tcPr>
                </a:tc>
                <a:tc>
                  <a:txBody>
                    <a:bodyPr/>
                    <a:lstStyle/>
                    <a:p>
                      <a:pPr algn="l"/>
                      <a:r>
                        <a:rPr sz="750" b="0">
                          <a:solidFill>
                            <a:srgbClr val="000000"/>
                          </a:solidFill>
                          <a:latin typeface="Arial"/>
                        </a:rPr>
                        <a:t>decimal(6,2)</a:t>
                      </a:r>
                    </a:p>
                  </a:txBody>
                  <a:tcPr marL="64008" marR="64008" marT="9144" marB="9144" anchor="ctr">
                    <a:solidFill>
                      <a:srgbClr val="D2D5E4"/>
                    </a:solidFill>
                  </a:tcPr>
                </a:tc>
                <a:tc>
                  <a:txBody>
                    <a:bodyPr/>
                    <a:lstStyle/>
                    <a:p>
                      <a:pPr algn="l"/>
                      <a:r>
                        <a:rPr sz="750" b="0">
                          <a:solidFill>
                            <a:srgbClr val="000000"/>
                          </a:solidFill>
                          <a:latin typeface="Arial"/>
                        </a:rPr>
                        <a:t>—</a:t>
                      </a:r>
                    </a:p>
                  </a:txBody>
                  <a:tcPr marL="64008" marR="64008" marT="9144" marB="9144" anchor="ctr">
                    <a:solidFill>
                      <a:srgbClr val="D2D5E4"/>
                    </a:solidFill>
                  </a:tcPr>
                </a:tc>
                <a:tc>
                  <a:txBody>
                    <a:bodyPr/>
                    <a:lstStyle/>
                    <a:p>
                      <a:pPr algn="l"/>
                      <a:r>
                        <a:rPr sz="750" b="0">
                          <a:solidFill>
                            <a:srgbClr val="000000"/>
                          </a:solidFill>
                          <a:latin typeface="Arial"/>
                        </a:rPr>
                        <a:t>Sugar adjustment in grams.</a:t>
                      </a:r>
                    </a:p>
                  </a:txBody>
                  <a:tcPr marL="64008" marR="64008" marT="9144" marB="9144" anchor="ctr">
                    <a:solidFill>
                      <a:srgbClr val="D2D5E4"/>
                    </a:solidFill>
                  </a:tcPr>
                </a:tc>
                <a:extLst>
                  <a:ext uri="{0D108BD9-81ED-4DB2-BD59-A6C34878D82A}">
                    <a16:rowId xmlns:a16="http://schemas.microsoft.com/office/drawing/2014/main" val="10012"/>
                  </a:ext>
                </a:extLst>
              </a:tr>
              <a:tr h="236081">
                <a:tc>
                  <a:txBody>
                    <a:bodyPr/>
                    <a:lstStyle/>
                    <a:p>
                      <a:pPr algn="l"/>
                      <a:r>
                        <a:rPr sz="750" b="0">
                          <a:solidFill>
                            <a:srgbClr val="000000"/>
                          </a:solidFill>
                          <a:latin typeface="Arial"/>
                        </a:rPr>
                        <a:t>sodium_adjustment</a:t>
                      </a:r>
                    </a:p>
                  </a:txBody>
                  <a:tcPr marL="64008" marR="64008" marT="9144" marB="9144" anchor="ctr">
                    <a:solidFill>
                      <a:srgbClr val="EAEBF2"/>
                    </a:solidFill>
                  </a:tcPr>
                </a:tc>
                <a:tc>
                  <a:txBody>
                    <a:bodyPr/>
                    <a:lstStyle/>
                    <a:p>
                      <a:pPr algn="l"/>
                      <a:r>
                        <a:rPr sz="750" b="0">
                          <a:solidFill>
                            <a:srgbClr val="000000"/>
                          </a:solidFill>
                          <a:latin typeface="Arial"/>
                        </a:rPr>
                        <a:t>decimal(7,2)</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Sodium adjustment in milligrams.</a:t>
                      </a:r>
                    </a:p>
                  </a:txBody>
                  <a:tcPr marL="64008" marR="64008" marT="9144" marB="9144" anchor="ctr">
                    <a:solidFill>
                      <a:srgbClr val="EAEBF2"/>
                    </a:solidFill>
                  </a:tcPr>
                </a:tc>
                <a:extLst>
                  <a:ext uri="{0D108BD9-81ED-4DB2-BD59-A6C34878D82A}">
                    <a16:rowId xmlns:a16="http://schemas.microsoft.com/office/drawing/2014/main" val="10013"/>
                  </a:ext>
                </a:extLst>
              </a:tr>
              <a:tr h="236081">
                <a:tc>
                  <a:txBody>
                    <a:bodyPr/>
                    <a:lstStyle/>
                    <a:p>
                      <a:pPr algn="l"/>
                      <a:r>
                        <a:rPr sz="750" b="0">
                          <a:solidFill>
                            <a:srgbClr val="000000"/>
                          </a:solidFill>
                          <a:latin typeface="Arial"/>
                        </a:rPr>
                        <a:t>caffeine_adjustment</a:t>
                      </a:r>
                    </a:p>
                  </a:txBody>
                  <a:tcPr marL="64008" marR="64008" marT="9144" marB="9144" anchor="ctr">
                    <a:solidFill>
                      <a:srgbClr val="D2D5E4"/>
                    </a:solidFill>
                  </a:tcPr>
                </a:tc>
                <a:tc>
                  <a:txBody>
                    <a:bodyPr/>
                    <a:lstStyle/>
                    <a:p>
                      <a:pPr algn="l"/>
                      <a:r>
                        <a:rPr sz="750" b="0">
                          <a:solidFill>
                            <a:srgbClr val="000000"/>
                          </a:solidFill>
                          <a:latin typeface="Arial"/>
                        </a:rPr>
                        <a:t>decimal(6,2)</a:t>
                      </a:r>
                    </a:p>
                  </a:txBody>
                  <a:tcPr marL="64008" marR="64008" marT="9144" marB="9144" anchor="ctr">
                    <a:solidFill>
                      <a:srgbClr val="D2D5E4"/>
                    </a:solidFill>
                  </a:tcPr>
                </a:tc>
                <a:tc>
                  <a:txBody>
                    <a:bodyPr/>
                    <a:lstStyle/>
                    <a:p>
                      <a:pPr algn="l"/>
                      <a:r>
                        <a:rPr sz="750" b="0">
                          <a:solidFill>
                            <a:srgbClr val="000000"/>
                          </a:solidFill>
                          <a:latin typeface="Arial"/>
                        </a:rPr>
                        <a:t>—</a:t>
                      </a:r>
                    </a:p>
                  </a:txBody>
                  <a:tcPr marL="64008" marR="64008" marT="9144" marB="9144" anchor="ctr">
                    <a:solidFill>
                      <a:srgbClr val="D2D5E4"/>
                    </a:solidFill>
                  </a:tcPr>
                </a:tc>
                <a:tc>
                  <a:txBody>
                    <a:bodyPr/>
                    <a:lstStyle/>
                    <a:p>
                      <a:pPr algn="l"/>
                      <a:r>
                        <a:rPr sz="750" b="0">
                          <a:solidFill>
                            <a:srgbClr val="000000"/>
                          </a:solidFill>
                          <a:latin typeface="Arial"/>
                        </a:rPr>
                        <a:t>Caffeine adjustment in grams.</a:t>
                      </a:r>
                    </a:p>
                  </a:txBody>
                  <a:tcPr marL="64008" marR="64008" marT="9144" marB="9144" anchor="ctr">
                    <a:solidFill>
                      <a:srgbClr val="D2D5E4"/>
                    </a:solidFill>
                  </a:tcPr>
                </a:tc>
                <a:extLst>
                  <a:ext uri="{0D108BD9-81ED-4DB2-BD59-A6C34878D82A}">
                    <a16:rowId xmlns:a16="http://schemas.microsoft.com/office/drawing/2014/main" val="10014"/>
                  </a:ext>
                </a:extLst>
              </a:tr>
              <a:tr h="236081">
                <a:tc>
                  <a:txBody>
                    <a:bodyPr/>
                    <a:lstStyle/>
                    <a:p>
                      <a:pPr algn="l"/>
                      <a:r>
                        <a:rPr sz="750" b="0">
                          <a:solidFill>
                            <a:srgbClr val="000000"/>
                          </a:solidFill>
                          <a:latin typeface="Arial"/>
                        </a:rPr>
                        <a:t>is_required</a:t>
                      </a:r>
                    </a:p>
                  </a:txBody>
                  <a:tcPr marL="64008" marR="64008" marT="9144" marB="9144" anchor="ctr">
                    <a:solidFill>
                      <a:srgbClr val="EAEBF2"/>
                    </a:solidFill>
                  </a:tcPr>
                </a:tc>
                <a:tc>
                  <a:txBody>
                    <a:bodyPr/>
                    <a:lstStyle/>
                    <a:p>
                      <a:pPr algn="l"/>
                      <a:r>
                        <a:rPr sz="750" b="0">
                          <a:solidFill>
                            <a:srgbClr val="000000"/>
                          </a:solidFill>
                          <a:latin typeface="Arial"/>
                        </a:rPr>
                        <a:t>tinyint(1)</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Indicates whether the option is required.</a:t>
                      </a:r>
                    </a:p>
                  </a:txBody>
                  <a:tcPr marL="64008" marR="64008" marT="9144" marB="9144" anchor="ctr">
                    <a:solidFill>
                      <a:srgbClr val="EAEBF2"/>
                    </a:solidFill>
                  </a:tcPr>
                </a:tc>
                <a:extLst>
                  <a:ext uri="{0D108BD9-81ED-4DB2-BD59-A6C34878D82A}">
                    <a16:rowId xmlns:a16="http://schemas.microsoft.com/office/drawing/2014/main" val="10015"/>
                  </a:ext>
                </a:extLst>
              </a:tr>
              <a:tr h="236081">
                <a:tc>
                  <a:txBody>
                    <a:bodyPr/>
                    <a:lstStyle/>
                    <a:p>
                      <a:pPr algn="l"/>
                      <a:r>
                        <a:rPr sz="750" b="0">
                          <a:solidFill>
                            <a:srgbClr val="000000"/>
                          </a:solidFill>
                          <a:latin typeface="Arial"/>
                        </a:rPr>
                        <a:t>min_quantity</a:t>
                      </a:r>
                    </a:p>
                  </a:txBody>
                  <a:tcPr marL="64008" marR="64008" marT="9144" marB="9144" anchor="ctr">
                    <a:solidFill>
                      <a:srgbClr val="D2D5E4"/>
                    </a:solidFill>
                  </a:tcPr>
                </a:tc>
                <a:tc>
                  <a:txBody>
                    <a:bodyPr/>
                    <a:lstStyle/>
                    <a:p>
                      <a:pPr algn="l"/>
                      <a:r>
                        <a:rPr sz="750" b="0">
                          <a:solidFill>
                            <a:srgbClr val="000000"/>
                          </a:solidFill>
                          <a:latin typeface="Arial"/>
                        </a:rPr>
                        <a:t>int(10) unsigned</a:t>
                      </a:r>
                    </a:p>
                  </a:txBody>
                  <a:tcPr marL="64008" marR="64008" marT="9144" marB="9144" anchor="ctr">
                    <a:solidFill>
                      <a:srgbClr val="D2D5E4"/>
                    </a:solidFill>
                  </a:tcPr>
                </a:tc>
                <a:tc>
                  <a:txBody>
                    <a:bodyPr/>
                    <a:lstStyle/>
                    <a:p>
                      <a:pPr algn="l"/>
                      <a:r>
                        <a:rPr sz="750" b="0">
                          <a:solidFill>
                            <a:srgbClr val="000000"/>
                          </a:solidFill>
                          <a:latin typeface="Arial"/>
                        </a:rPr>
                        <a:t>—</a:t>
                      </a:r>
                    </a:p>
                  </a:txBody>
                  <a:tcPr marL="64008" marR="64008" marT="9144" marB="9144" anchor="ctr">
                    <a:solidFill>
                      <a:srgbClr val="D2D5E4"/>
                    </a:solidFill>
                  </a:tcPr>
                </a:tc>
                <a:tc>
                  <a:txBody>
                    <a:bodyPr/>
                    <a:lstStyle/>
                    <a:p>
                      <a:pPr algn="l"/>
                      <a:r>
                        <a:rPr sz="750" b="0">
                          <a:solidFill>
                            <a:srgbClr val="000000"/>
                          </a:solidFill>
                          <a:latin typeface="Arial"/>
                        </a:rPr>
                        <a:t>Minimum selectable quantity.</a:t>
                      </a:r>
                    </a:p>
                  </a:txBody>
                  <a:tcPr marL="64008" marR="64008" marT="9144" marB="9144" anchor="ctr">
                    <a:solidFill>
                      <a:srgbClr val="D2D5E4"/>
                    </a:solidFill>
                  </a:tcPr>
                </a:tc>
                <a:extLst>
                  <a:ext uri="{0D108BD9-81ED-4DB2-BD59-A6C34878D82A}">
                    <a16:rowId xmlns:a16="http://schemas.microsoft.com/office/drawing/2014/main" val="10016"/>
                  </a:ext>
                </a:extLst>
              </a:tr>
              <a:tr h="236081">
                <a:tc>
                  <a:txBody>
                    <a:bodyPr/>
                    <a:lstStyle/>
                    <a:p>
                      <a:pPr algn="l"/>
                      <a:r>
                        <a:rPr sz="750" b="0">
                          <a:solidFill>
                            <a:srgbClr val="000000"/>
                          </a:solidFill>
                          <a:latin typeface="Arial"/>
                        </a:rPr>
                        <a:t>max_quantity</a:t>
                      </a:r>
                    </a:p>
                  </a:txBody>
                  <a:tcPr marL="64008" marR="64008" marT="9144" marB="9144" anchor="ctr">
                    <a:solidFill>
                      <a:srgbClr val="EAEBF2"/>
                    </a:solidFill>
                  </a:tcPr>
                </a:tc>
                <a:tc>
                  <a:txBody>
                    <a:bodyPr/>
                    <a:lstStyle/>
                    <a:p>
                      <a:pPr algn="l"/>
                      <a:r>
                        <a:rPr sz="750" b="0">
                          <a:solidFill>
                            <a:srgbClr val="000000"/>
                          </a:solidFill>
                          <a:latin typeface="Arial"/>
                        </a:rPr>
                        <a:t>int(10) unsigned</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Maximum selectable quantity.</a:t>
                      </a:r>
                    </a:p>
                  </a:txBody>
                  <a:tcPr marL="64008" marR="64008" marT="9144" marB="9144" anchor="ctr">
                    <a:solidFill>
                      <a:srgbClr val="EAEBF2"/>
                    </a:solidFill>
                  </a:tcPr>
                </a:tc>
                <a:extLst>
                  <a:ext uri="{0D108BD9-81ED-4DB2-BD59-A6C34878D82A}">
                    <a16:rowId xmlns:a16="http://schemas.microsoft.com/office/drawing/2014/main" val="10017"/>
                  </a:ext>
                </a:extLst>
              </a:tr>
              <a:tr h="236081">
                <a:tc>
                  <a:txBody>
                    <a:bodyPr/>
                    <a:lstStyle/>
                    <a:p>
                      <a:pPr algn="l"/>
                      <a:r>
                        <a:rPr sz="750" b="0">
                          <a:solidFill>
                            <a:srgbClr val="000000"/>
                          </a:solidFill>
                          <a:latin typeface="Arial"/>
                        </a:rPr>
                        <a:t>is_available</a:t>
                      </a:r>
                    </a:p>
                  </a:txBody>
                  <a:tcPr marL="64008" marR="64008" marT="9144" marB="9144" anchor="ctr">
                    <a:solidFill>
                      <a:srgbClr val="D2D5E4"/>
                    </a:solidFill>
                  </a:tcPr>
                </a:tc>
                <a:tc>
                  <a:txBody>
                    <a:bodyPr/>
                    <a:lstStyle/>
                    <a:p>
                      <a:pPr algn="l"/>
                      <a:r>
                        <a:rPr sz="750" b="0">
                          <a:solidFill>
                            <a:srgbClr val="000000"/>
                          </a:solidFill>
                          <a:latin typeface="Arial"/>
                        </a:rPr>
                        <a:t>tinyint(1)</a:t>
                      </a:r>
                    </a:p>
                  </a:txBody>
                  <a:tcPr marL="64008" marR="64008" marT="9144" marB="9144" anchor="ctr">
                    <a:solidFill>
                      <a:srgbClr val="D2D5E4"/>
                    </a:solidFill>
                  </a:tcPr>
                </a:tc>
                <a:tc>
                  <a:txBody>
                    <a:bodyPr/>
                    <a:lstStyle/>
                    <a:p>
                      <a:pPr algn="l"/>
                      <a:r>
                        <a:rPr sz="750" b="0">
                          <a:solidFill>
                            <a:srgbClr val="000000"/>
                          </a:solidFill>
                          <a:latin typeface="Arial"/>
                        </a:rPr>
                        <a:t>IDX</a:t>
                      </a:r>
                    </a:p>
                  </a:txBody>
                  <a:tcPr marL="64008" marR="64008" marT="9144" marB="9144" anchor="ctr">
                    <a:solidFill>
                      <a:srgbClr val="D2D5E4"/>
                    </a:solidFill>
                  </a:tcPr>
                </a:tc>
                <a:tc>
                  <a:txBody>
                    <a:bodyPr/>
                    <a:lstStyle/>
                    <a:p>
                      <a:pPr algn="l"/>
                      <a:r>
                        <a:rPr sz="750" b="0">
                          <a:solidFill>
                            <a:srgbClr val="000000"/>
                          </a:solidFill>
                          <a:latin typeface="Arial"/>
                        </a:rPr>
                        <a:t>Indicates whether the option is available.</a:t>
                      </a:r>
                    </a:p>
                  </a:txBody>
                  <a:tcPr marL="64008" marR="64008" marT="9144" marB="9144" anchor="ctr">
                    <a:solidFill>
                      <a:srgbClr val="D2D5E4"/>
                    </a:solidFill>
                  </a:tcPr>
                </a:tc>
                <a:extLst>
                  <a:ext uri="{0D108BD9-81ED-4DB2-BD59-A6C34878D82A}">
                    <a16:rowId xmlns:a16="http://schemas.microsoft.com/office/drawing/2014/main" val="10018"/>
                  </a:ext>
                </a:extLst>
              </a:tr>
              <a:tr h="236081">
                <a:tc>
                  <a:txBody>
                    <a:bodyPr/>
                    <a:lstStyle/>
                    <a:p>
                      <a:pPr algn="l"/>
                      <a:r>
                        <a:rPr sz="750" b="0">
                          <a:solidFill>
                            <a:srgbClr val="000000"/>
                          </a:solidFill>
                          <a:latin typeface="Arial"/>
                        </a:rPr>
                        <a:t>sort_order</a:t>
                      </a:r>
                    </a:p>
                  </a:txBody>
                  <a:tcPr marL="64008" marR="64008" marT="9144" marB="9144" anchor="ctr">
                    <a:solidFill>
                      <a:srgbClr val="EAEBF2"/>
                    </a:solidFill>
                  </a:tcPr>
                </a:tc>
                <a:tc>
                  <a:txBody>
                    <a:bodyPr/>
                    <a:lstStyle/>
                    <a:p>
                      <a:pPr algn="l"/>
                      <a:r>
                        <a:rPr sz="750" b="0">
                          <a:solidFill>
                            <a:srgbClr val="000000"/>
                          </a:solidFill>
                          <a:latin typeface="Arial"/>
                        </a:rPr>
                        <a:t>int(11)</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Display order of the customization.</a:t>
                      </a:r>
                    </a:p>
                  </a:txBody>
                  <a:tcPr marL="64008" marR="64008" marT="9144" marB="9144" anchor="ctr">
                    <a:solidFill>
                      <a:srgbClr val="EAEBF2"/>
                    </a:solidFill>
                  </a:tcPr>
                </a:tc>
                <a:extLst>
                  <a:ext uri="{0D108BD9-81ED-4DB2-BD59-A6C34878D82A}">
                    <a16:rowId xmlns:a16="http://schemas.microsoft.com/office/drawing/2014/main" val="10019"/>
                  </a:ext>
                </a:extLst>
              </a:tr>
              <a:tr h="236081">
                <a:tc>
                  <a:txBody>
                    <a:bodyPr/>
                    <a:lstStyle/>
                    <a:p>
                      <a:pPr algn="l"/>
                      <a:r>
                        <a:rPr sz="750" b="0">
                          <a:solidFill>
                            <a:srgbClr val="000000"/>
                          </a:solidFill>
                          <a:latin typeface="Arial"/>
                        </a:rPr>
                        <a:t>created_at</a:t>
                      </a:r>
                    </a:p>
                  </a:txBody>
                  <a:tcPr marL="64008" marR="64008" marT="9144" marB="9144" anchor="ctr">
                    <a:solidFill>
                      <a:srgbClr val="D2D5E4"/>
                    </a:solidFill>
                  </a:tcPr>
                </a:tc>
                <a:tc>
                  <a:txBody>
                    <a:bodyPr/>
                    <a:lstStyle/>
                    <a:p>
                      <a:pPr algn="l"/>
                      <a:r>
                        <a:rPr sz="750" b="0">
                          <a:solidFill>
                            <a:srgbClr val="000000"/>
                          </a:solidFill>
                          <a:latin typeface="Arial"/>
                        </a:rPr>
                        <a:t>timestamp</a:t>
                      </a:r>
                    </a:p>
                  </a:txBody>
                  <a:tcPr marL="64008" marR="64008" marT="9144" marB="9144" anchor="ctr">
                    <a:solidFill>
                      <a:srgbClr val="D2D5E4"/>
                    </a:solidFill>
                  </a:tcPr>
                </a:tc>
                <a:tc>
                  <a:txBody>
                    <a:bodyPr/>
                    <a:lstStyle/>
                    <a:p>
                      <a:pPr algn="l"/>
                      <a:r>
                        <a:rPr sz="750" b="0">
                          <a:solidFill>
                            <a:srgbClr val="000000"/>
                          </a:solidFill>
                          <a:latin typeface="Arial"/>
                        </a:rPr>
                        <a:t>—</a:t>
                      </a:r>
                    </a:p>
                  </a:txBody>
                  <a:tcPr marL="64008" marR="64008" marT="9144" marB="9144" anchor="ctr">
                    <a:solidFill>
                      <a:srgbClr val="D2D5E4"/>
                    </a:solidFill>
                  </a:tcPr>
                </a:tc>
                <a:tc>
                  <a:txBody>
                    <a:bodyPr/>
                    <a:lstStyle/>
                    <a:p>
                      <a:pPr algn="l"/>
                      <a:r>
                        <a:rPr sz="750" b="0">
                          <a:solidFill>
                            <a:srgbClr val="000000"/>
                          </a:solidFill>
                          <a:latin typeface="Arial"/>
                        </a:rPr>
                        <a:t>Date and time the record was created.</a:t>
                      </a:r>
                    </a:p>
                  </a:txBody>
                  <a:tcPr marL="64008" marR="64008" marT="9144" marB="9144" anchor="ctr">
                    <a:solidFill>
                      <a:srgbClr val="D2D5E4"/>
                    </a:solidFill>
                  </a:tcPr>
                </a:tc>
                <a:extLst>
                  <a:ext uri="{0D108BD9-81ED-4DB2-BD59-A6C34878D82A}">
                    <a16:rowId xmlns:a16="http://schemas.microsoft.com/office/drawing/2014/main" val="10020"/>
                  </a:ext>
                </a:extLst>
              </a:tr>
              <a:tr h="236081">
                <a:tc>
                  <a:txBody>
                    <a:bodyPr/>
                    <a:lstStyle/>
                    <a:p>
                      <a:pPr algn="l"/>
                      <a:r>
                        <a:rPr sz="750" b="0">
                          <a:solidFill>
                            <a:srgbClr val="000000"/>
                          </a:solidFill>
                          <a:latin typeface="Arial"/>
                        </a:rPr>
                        <a:t>updated_at</a:t>
                      </a:r>
                    </a:p>
                  </a:txBody>
                  <a:tcPr marL="64008" marR="64008" marT="9144" marB="9144" anchor="ctr">
                    <a:solidFill>
                      <a:srgbClr val="EAEBF2"/>
                    </a:solidFill>
                  </a:tcPr>
                </a:tc>
                <a:tc>
                  <a:txBody>
                    <a:bodyPr/>
                    <a:lstStyle/>
                    <a:p>
                      <a:pPr algn="l"/>
                      <a:r>
                        <a:rPr sz="750" b="0">
                          <a:solidFill>
                            <a:srgbClr val="000000"/>
                          </a:solidFill>
                          <a:latin typeface="Arial"/>
                        </a:rPr>
                        <a:t>timestamp</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Date and time the record was last updated.</a:t>
                      </a:r>
                    </a:p>
                  </a:txBody>
                  <a:tcPr marL="64008" marR="64008" marT="9144" marB="9144" anchor="ctr">
                    <a:solidFill>
                      <a:srgbClr val="EAEBF2"/>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3.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3063240" y="0"/>
            <a:ext cx="30175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256032"/>
            <a:ext cx="8229600" cy="6327648"/>
          </a:xfrm>
          <a:prstGeom prst="rect">
            <a:avLst/>
          </a:prstGeom>
          <a:solidFill>
            <a:srgbClr val="FFFFFF"/>
          </a:solidFill>
          <a:ln w="10160">
            <a:solidFill>
              <a:srgbClr val="696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47288" y="36576"/>
            <a:ext cx="2249424" cy="438912"/>
          </a:xfrm>
          <a:prstGeom prst="rect">
            <a:avLst/>
          </a:prstGeom>
          <a:solidFill>
            <a:srgbClr val="9C5252"/>
          </a:solidFill>
          <a:ln w="12700">
            <a:solidFill>
              <a:srgbClr val="7E9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00000"/>
                </a:solidFill>
                <a:latin typeface="Times New Roman"/>
              </a:rPr>
              <a:t>Data Dictionary</a:t>
            </a:r>
          </a:p>
        </p:txBody>
      </p:sp>
      <p:sp>
        <p:nvSpPr>
          <p:cNvPr id="6" name="Rectangle 5"/>
          <p:cNvSpPr/>
          <p:nvPr/>
        </p:nvSpPr>
        <p:spPr>
          <a:xfrm>
            <a:off x="3502152" y="832104"/>
            <a:ext cx="1737360" cy="32004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00000"/>
                </a:solidFill>
                <a:latin typeface="Arial"/>
              </a:rPr>
              <a:t>Table : food_items</a:t>
            </a:r>
          </a:p>
        </p:txBody>
      </p:sp>
      <p:sp>
        <p:nvSpPr>
          <p:cNvPr id="7" name="TextBox 6"/>
          <p:cNvSpPr txBox="1"/>
          <p:nvPr/>
        </p:nvSpPr>
        <p:spPr>
          <a:xfrm>
            <a:off x="5312664" y="832104"/>
            <a:ext cx="320040" cy="320040"/>
          </a:xfrm>
          <a:prstGeom prst="rect">
            <a:avLst/>
          </a:prstGeom>
          <a:noFill/>
        </p:spPr>
        <p:txBody>
          <a:bodyPr wrap="none" anchor="ctr">
            <a:spAutoFit/>
          </a:bodyPr>
          <a:lstStyle/>
          <a:p>
            <a:pPr algn="l"/>
            <a:r>
              <a:rPr sz="1100">
                <a:solidFill>
                  <a:srgbClr val="000000"/>
                </a:solidFill>
                <a:latin typeface="Arial"/>
              </a:rPr>
              <a:t>:-</a:t>
            </a:r>
          </a:p>
        </p:txBody>
      </p:sp>
      <p:graphicFrame>
        <p:nvGraphicFramePr>
          <p:cNvPr id="8" name="Table 7"/>
          <p:cNvGraphicFramePr>
            <a:graphicFrameLocks noGrp="1"/>
          </p:cNvGraphicFramePr>
          <p:nvPr/>
        </p:nvGraphicFramePr>
        <p:xfrm>
          <a:off x="1170432" y="1225296"/>
          <a:ext cx="6949440" cy="5193786"/>
        </p:xfrm>
        <a:graphic>
          <a:graphicData uri="http://schemas.openxmlformats.org/drawingml/2006/table">
            <a:tbl>
              <a:tblPr firstRow="1" bandRow="1">
                <a:tableStyleId>{5C22544A-7EE6-4342-B048-85BDC9FD1C3A}</a:tableStyleId>
              </a:tblPr>
              <a:tblGrid>
                <a:gridCol w="1572768">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199761">
                <a:tc>
                  <a:txBody>
                    <a:bodyPr/>
                    <a:lstStyle/>
                    <a:p>
                      <a:pPr algn="l"/>
                      <a:r>
                        <a:rPr sz="950" b="1">
                          <a:solidFill>
                            <a:srgbClr val="FFFFFF"/>
                          </a:solidFill>
                          <a:latin typeface="Arial"/>
                        </a:rPr>
                        <a:t>Field Name</a:t>
                      </a:r>
                    </a:p>
                  </a:txBody>
                  <a:tcPr marL="64008" marR="64008" marT="9144" marB="9144" anchor="ctr">
                    <a:solidFill>
                      <a:srgbClr val="6076B4"/>
                    </a:solidFill>
                  </a:tcPr>
                </a:tc>
                <a:tc>
                  <a:txBody>
                    <a:bodyPr/>
                    <a:lstStyle/>
                    <a:p>
                      <a:pPr algn="l"/>
                      <a:r>
                        <a:rPr sz="950" b="1">
                          <a:solidFill>
                            <a:srgbClr val="FFFFFF"/>
                          </a:solidFill>
                          <a:latin typeface="Arial"/>
                        </a:rPr>
                        <a:t>Data Type</a:t>
                      </a:r>
                    </a:p>
                  </a:txBody>
                  <a:tcPr marL="64008" marR="64008" marT="9144" marB="9144" anchor="ctr">
                    <a:solidFill>
                      <a:srgbClr val="6076B4"/>
                    </a:solidFill>
                  </a:tcPr>
                </a:tc>
                <a:tc>
                  <a:txBody>
                    <a:bodyPr/>
                    <a:lstStyle/>
                    <a:p>
                      <a:pPr algn="l"/>
                      <a:r>
                        <a:rPr sz="950" b="1">
                          <a:solidFill>
                            <a:srgbClr val="FFFFFF"/>
                          </a:solidFill>
                          <a:latin typeface="Arial"/>
                        </a:rPr>
                        <a:t>Key</a:t>
                      </a:r>
                    </a:p>
                  </a:txBody>
                  <a:tcPr marL="64008" marR="64008" marT="9144" marB="9144" anchor="ctr">
                    <a:solidFill>
                      <a:srgbClr val="6076B4"/>
                    </a:solidFill>
                  </a:tcPr>
                </a:tc>
                <a:tc>
                  <a:txBody>
                    <a:bodyPr/>
                    <a:lstStyle/>
                    <a:p>
                      <a:pPr algn="l"/>
                      <a:r>
                        <a:rPr sz="950" b="1">
                          <a:solidFill>
                            <a:srgbClr val="FFFFFF"/>
                          </a:solidFill>
                          <a:latin typeface="Arial"/>
                        </a:rPr>
                        <a:t>Description</a:t>
                      </a:r>
                    </a:p>
                  </a:txBody>
                  <a:tcPr marL="64008" marR="64008" marT="9144" marB="9144" anchor="ctr">
                    <a:solidFill>
                      <a:srgbClr val="6076B4"/>
                    </a:solidFill>
                  </a:tcPr>
                </a:tc>
                <a:extLst>
                  <a:ext uri="{0D108BD9-81ED-4DB2-BD59-A6C34878D82A}">
                    <a16:rowId xmlns:a16="http://schemas.microsoft.com/office/drawing/2014/main" val="10000"/>
                  </a:ext>
                </a:extLst>
              </a:tr>
              <a:tr h="199761">
                <a:tc>
                  <a:txBody>
                    <a:bodyPr/>
                    <a:lstStyle/>
                    <a:p>
                      <a:pPr algn="l"/>
                      <a:r>
                        <a:rPr sz="700" b="0">
                          <a:solidFill>
                            <a:srgbClr val="000000"/>
                          </a:solidFill>
                          <a:latin typeface="Arial"/>
                        </a:rPr>
                        <a:t>id</a:t>
                      </a:r>
                    </a:p>
                  </a:txBody>
                  <a:tcPr marL="64008" marR="64008" marT="9144" marB="9144" anchor="ctr">
                    <a:solidFill>
                      <a:srgbClr val="EAEBF2"/>
                    </a:solidFill>
                  </a:tcPr>
                </a:tc>
                <a:tc>
                  <a:txBody>
                    <a:bodyPr/>
                    <a:lstStyle/>
                    <a:p>
                      <a:pPr algn="l"/>
                      <a:r>
                        <a:rPr sz="700" b="0">
                          <a:solidFill>
                            <a:srgbClr val="000000"/>
                          </a:solidFill>
                          <a:latin typeface="Arial"/>
                        </a:rPr>
                        <a:t>bigint(20) unsigned</a:t>
                      </a:r>
                    </a:p>
                  </a:txBody>
                  <a:tcPr marL="64008" marR="64008" marT="9144" marB="9144" anchor="ctr">
                    <a:solidFill>
                      <a:srgbClr val="EAEBF2"/>
                    </a:solidFill>
                  </a:tcPr>
                </a:tc>
                <a:tc>
                  <a:txBody>
                    <a:bodyPr/>
                    <a:lstStyle/>
                    <a:p>
                      <a:pPr algn="l"/>
                      <a:r>
                        <a:rPr sz="700" b="0">
                          <a:solidFill>
                            <a:srgbClr val="000000"/>
                          </a:solidFill>
                          <a:latin typeface="Arial"/>
                        </a:rPr>
                        <a:t>PK</a:t>
                      </a:r>
                    </a:p>
                  </a:txBody>
                  <a:tcPr marL="64008" marR="64008" marT="9144" marB="9144" anchor="ctr">
                    <a:solidFill>
                      <a:srgbClr val="EAEBF2"/>
                    </a:solidFill>
                  </a:tcPr>
                </a:tc>
                <a:tc>
                  <a:txBody>
                    <a:bodyPr/>
                    <a:lstStyle/>
                    <a:p>
                      <a:pPr algn="l"/>
                      <a:r>
                        <a:rPr sz="700" b="0">
                          <a:solidFill>
                            <a:srgbClr val="000000"/>
                          </a:solidFill>
                          <a:latin typeface="Arial"/>
                        </a:rPr>
                        <a:t>Unique food item ID.</a:t>
                      </a:r>
                    </a:p>
                  </a:txBody>
                  <a:tcPr marL="64008" marR="64008" marT="9144" marB="9144" anchor="ctr">
                    <a:solidFill>
                      <a:srgbClr val="EAEBF2"/>
                    </a:solidFill>
                  </a:tcPr>
                </a:tc>
                <a:extLst>
                  <a:ext uri="{0D108BD9-81ED-4DB2-BD59-A6C34878D82A}">
                    <a16:rowId xmlns:a16="http://schemas.microsoft.com/office/drawing/2014/main" val="10001"/>
                  </a:ext>
                </a:extLst>
              </a:tr>
              <a:tr h="199761">
                <a:tc>
                  <a:txBody>
                    <a:bodyPr/>
                    <a:lstStyle/>
                    <a:p>
                      <a:pPr algn="l"/>
                      <a:r>
                        <a:rPr sz="700" b="0">
                          <a:solidFill>
                            <a:srgbClr val="000000"/>
                          </a:solidFill>
                          <a:latin typeface="Arial"/>
                        </a:rPr>
                        <a:t>restaurant_id</a:t>
                      </a:r>
                    </a:p>
                  </a:txBody>
                  <a:tcPr marL="64008" marR="64008" marT="9144" marB="9144" anchor="ctr">
                    <a:solidFill>
                      <a:srgbClr val="D2D5E4"/>
                    </a:solidFill>
                  </a:tcPr>
                </a:tc>
                <a:tc>
                  <a:txBody>
                    <a:bodyPr/>
                    <a:lstStyle/>
                    <a:p>
                      <a:pPr algn="l"/>
                      <a:r>
                        <a:rPr sz="700" b="0">
                          <a:solidFill>
                            <a:srgbClr val="000000"/>
                          </a:solidFill>
                          <a:latin typeface="Arial"/>
                        </a:rPr>
                        <a:t>bigint(20) unsigned</a:t>
                      </a:r>
                    </a:p>
                  </a:txBody>
                  <a:tcPr marL="64008" marR="64008" marT="9144" marB="9144" anchor="ctr">
                    <a:solidFill>
                      <a:srgbClr val="D2D5E4"/>
                    </a:solidFill>
                  </a:tcPr>
                </a:tc>
                <a:tc>
                  <a:txBody>
                    <a:bodyPr/>
                    <a:lstStyle/>
                    <a:p>
                      <a:pPr algn="l"/>
                      <a:r>
                        <a:rPr sz="700" b="0">
                          <a:solidFill>
                            <a:srgbClr val="000000"/>
                          </a:solidFill>
                          <a:latin typeface="Arial"/>
                        </a:rPr>
                        <a:t>FK/IDX</a:t>
                      </a:r>
                    </a:p>
                  </a:txBody>
                  <a:tcPr marL="64008" marR="64008" marT="9144" marB="9144" anchor="ctr">
                    <a:solidFill>
                      <a:srgbClr val="D2D5E4"/>
                    </a:solidFill>
                  </a:tcPr>
                </a:tc>
                <a:tc>
                  <a:txBody>
                    <a:bodyPr/>
                    <a:lstStyle/>
                    <a:p>
                      <a:pPr algn="l"/>
                      <a:r>
                        <a:rPr sz="700" b="0">
                          <a:solidFill>
                            <a:srgbClr val="000000"/>
                          </a:solidFill>
                          <a:latin typeface="Arial"/>
                        </a:rPr>
                        <a:t>Links the food item to a restaurant.</a:t>
                      </a:r>
                    </a:p>
                  </a:txBody>
                  <a:tcPr marL="64008" marR="64008" marT="9144" marB="9144" anchor="ctr">
                    <a:solidFill>
                      <a:srgbClr val="D2D5E4"/>
                    </a:solidFill>
                  </a:tcPr>
                </a:tc>
                <a:extLst>
                  <a:ext uri="{0D108BD9-81ED-4DB2-BD59-A6C34878D82A}">
                    <a16:rowId xmlns:a16="http://schemas.microsoft.com/office/drawing/2014/main" val="10002"/>
                  </a:ext>
                </a:extLst>
              </a:tr>
              <a:tr h="199761">
                <a:tc>
                  <a:txBody>
                    <a:bodyPr/>
                    <a:lstStyle/>
                    <a:p>
                      <a:pPr algn="l"/>
                      <a:r>
                        <a:rPr sz="700" b="0">
                          <a:solidFill>
                            <a:srgbClr val="000000"/>
                          </a:solidFill>
                          <a:latin typeface="Arial"/>
                        </a:rPr>
                        <a:t>category_id</a:t>
                      </a:r>
                    </a:p>
                  </a:txBody>
                  <a:tcPr marL="64008" marR="64008" marT="9144" marB="9144" anchor="ctr">
                    <a:solidFill>
                      <a:srgbClr val="EAEBF2"/>
                    </a:solidFill>
                  </a:tcPr>
                </a:tc>
                <a:tc>
                  <a:txBody>
                    <a:bodyPr/>
                    <a:lstStyle/>
                    <a:p>
                      <a:pPr algn="l"/>
                      <a:r>
                        <a:rPr sz="700" b="0">
                          <a:solidFill>
                            <a:srgbClr val="000000"/>
                          </a:solidFill>
                          <a:latin typeface="Arial"/>
                        </a:rPr>
                        <a:t>bigint(20) unsigned</a:t>
                      </a:r>
                    </a:p>
                  </a:txBody>
                  <a:tcPr marL="64008" marR="64008" marT="9144" marB="9144" anchor="ctr">
                    <a:solidFill>
                      <a:srgbClr val="EAEBF2"/>
                    </a:solidFill>
                  </a:tcPr>
                </a:tc>
                <a:tc>
                  <a:txBody>
                    <a:bodyPr/>
                    <a:lstStyle/>
                    <a:p>
                      <a:pPr algn="l"/>
                      <a:r>
                        <a:rPr sz="700" b="0">
                          <a:solidFill>
                            <a:srgbClr val="000000"/>
                          </a:solidFill>
                          <a:latin typeface="Arial"/>
                        </a:rPr>
                        <a:t>FK/IDX</a:t>
                      </a:r>
                    </a:p>
                  </a:txBody>
                  <a:tcPr marL="64008" marR="64008" marT="9144" marB="9144" anchor="ctr">
                    <a:solidFill>
                      <a:srgbClr val="EAEBF2"/>
                    </a:solidFill>
                  </a:tcPr>
                </a:tc>
                <a:tc>
                  <a:txBody>
                    <a:bodyPr/>
                    <a:lstStyle/>
                    <a:p>
                      <a:pPr algn="l"/>
                      <a:r>
                        <a:rPr sz="700" b="0">
                          <a:solidFill>
                            <a:srgbClr val="000000"/>
                          </a:solidFill>
                          <a:latin typeface="Arial"/>
                        </a:rPr>
                        <a:t>Links the food item to a menu category.</a:t>
                      </a:r>
                    </a:p>
                  </a:txBody>
                  <a:tcPr marL="64008" marR="64008" marT="9144" marB="9144" anchor="ctr">
                    <a:solidFill>
                      <a:srgbClr val="EAEBF2"/>
                    </a:solidFill>
                  </a:tcPr>
                </a:tc>
                <a:extLst>
                  <a:ext uri="{0D108BD9-81ED-4DB2-BD59-A6C34878D82A}">
                    <a16:rowId xmlns:a16="http://schemas.microsoft.com/office/drawing/2014/main" val="10003"/>
                  </a:ext>
                </a:extLst>
              </a:tr>
              <a:tr h="199761">
                <a:tc>
                  <a:txBody>
                    <a:bodyPr/>
                    <a:lstStyle/>
                    <a:p>
                      <a:pPr algn="l"/>
                      <a:r>
                        <a:rPr sz="700" b="0">
                          <a:solidFill>
                            <a:srgbClr val="000000"/>
                          </a:solidFill>
                          <a:latin typeface="Arial"/>
                        </a:rPr>
                        <a:t>name</a:t>
                      </a:r>
                    </a:p>
                  </a:txBody>
                  <a:tcPr marL="64008" marR="64008" marT="9144" marB="9144" anchor="ctr">
                    <a:solidFill>
                      <a:srgbClr val="D2D5E4"/>
                    </a:solidFill>
                  </a:tcPr>
                </a:tc>
                <a:tc>
                  <a:txBody>
                    <a:bodyPr/>
                    <a:lstStyle/>
                    <a:p>
                      <a:pPr algn="l"/>
                      <a:r>
                        <a:rPr sz="700" b="0">
                          <a:solidFill>
                            <a:srgbClr val="000000"/>
                          </a:solidFill>
                          <a:latin typeface="Arial"/>
                        </a:rPr>
                        <a:t>varchar(150)</a:t>
                      </a:r>
                    </a:p>
                  </a:txBody>
                  <a:tcPr marL="64008" marR="64008" marT="9144" marB="9144" anchor="ctr">
                    <a:solidFill>
                      <a:srgbClr val="D2D5E4"/>
                    </a:solidFill>
                  </a:tcPr>
                </a:tc>
                <a:tc>
                  <a:txBody>
                    <a:bodyPr/>
                    <a:lstStyle/>
                    <a:p>
                      <a:pPr algn="l"/>
                      <a:r>
                        <a:rPr sz="700" b="0">
                          <a:solidFill>
                            <a:srgbClr val="000000"/>
                          </a:solidFill>
                          <a:latin typeface="Arial"/>
                        </a:rPr>
                        <a:t>—</a:t>
                      </a:r>
                    </a:p>
                  </a:txBody>
                  <a:tcPr marL="64008" marR="64008" marT="9144" marB="9144" anchor="ctr">
                    <a:solidFill>
                      <a:srgbClr val="D2D5E4"/>
                    </a:solidFill>
                  </a:tcPr>
                </a:tc>
                <a:tc>
                  <a:txBody>
                    <a:bodyPr/>
                    <a:lstStyle/>
                    <a:p>
                      <a:pPr algn="l"/>
                      <a:r>
                        <a:rPr sz="700" b="0">
                          <a:solidFill>
                            <a:srgbClr val="000000"/>
                          </a:solidFill>
                          <a:latin typeface="Arial"/>
                        </a:rPr>
                        <a:t>Food item name.</a:t>
                      </a:r>
                    </a:p>
                  </a:txBody>
                  <a:tcPr marL="64008" marR="64008" marT="9144" marB="9144" anchor="ctr">
                    <a:solidFill>
                      <a:srgbClr val="D2D5E4"/>
                    </a:solidFill>
                  </a:tcPr>
                </a:tc>
                <a:extLst>
                  <a:ext uri="{0D108BD9-81ED-4DB2-BD59-A6C34878D82A}">
                    <a16:rowId xmlns:a16="http://schemas.microsoft.com/office/drawing/2014/main" val="10004"/>
                  </a:ext>
                </a:extLst>
              </a:tr>
              <a:tr h="199761">
                <a:tc>
                  <a:txBody>
                    <a:bodyPr/>
                    <a:lstStyle/>
                    <a:p>
                      <a:pPr algn="l"/>
                      <a:r>
                        <a:rPr sz="700" b="0">
                          <a:solidFill>
                            <a:srgbClr val="000000"/>
                          </a:solidFill>
                          <a:latin typeface="Arial"/>
                        </a:rPr>
                        <a:t>slug</a:t>
                      </a:r>
                    </a:p>
                  </a:txBody>
                  <a:tcPr marL="64008" marR="64008" marT="9144" marB="9144" anchor="ctr">
                    <a:solidFill>
                      <a:srgbClr val="EAEBF2"/>
                    </a:solidFill>
                  </a:tcPr>
                </a:tc>
                <a:tc>
                  <a:txBody>
                    <a:bodyPr/>
                    <a:lstStyle/>
                    <a:p>
                      <a:pPr algn="l"/>
                      <a:r>
                        <a:rPr sz="700" b="0">
                          <a:solidFill>
                            <a:srgbClr val="000000"/>
                          </a:solidFill>
                          <a:latin typeface="Arial"/>
                        </a:rPr>
                        <a:t>varchar(150)</a:t>
                      </a:r>
                    </a:p>
                  </a:txBody>
                  <a:tcPr marL="64008" marR="64008" marT="9144" marB="9144" anchor="ctr">
                    <a:solidFill>
                      <a:srgbClr val="EAEBF2"/>
                    </a:solidFill>
                  </a:tcPr>
                </a:tc>
                <a:tc>
                  <a:txBody>
                    <a:bodyPr/>
                    <a:lstStyle/>
                    <a:p>
                      <a:pPr algn="l"/>
                      <a:r>
                        <a:rPr sz="700" b="0">
                          <a:solidFill>
                            <a:srgbClr val="000000"/>
                          </a:solidFill>
                          <a:latin typeface="Arial"/>
                        </a:rPr>
                        <a:t>IDX</a:t>
                      </a:r>
                    </a:p>
                  </a:txBody>
                  <a:tcPr marL="64008" marR="64008" marT="9144" marB="9144" anchor="ctr">
                    <a:solidFill>
                      <a:srgbClr val="EAEBF2"/>
                    </a:solidFill>
                  </a:tcPr>
                </a:tc>
                <a:tc>
                  <a:txBody>
                    <a:bodyPr/>
                    <a:lstStyle/>
                    <a:p>
                      <a:pPr algn="l"/>
                      <a:r>
                        <a:rPr sz="700" b="0">
                          <a:solidFill>
                            <a:srgbClr val="000000"/>
                          </a:solidFill>
                          <a:latin typeface="Arial"/>
                        </a:rPr>
                        <a:t>URL-friendly food item identifier.</a:t>
                      </a:r>
                    </a:p>
                  </a:txBody>
                  <a:tcPr marL="64008" marR="64008" marT="9144" marB="9144" anchor="ctr">
                    <a:solidFill>
                      <a:srgbClr val="EAEBF2"/>
                    </a:solidFill>
                  </a:tcPr>
                </a:tc>
                <a:extLst>
                  <a:ext uri="{0D108BD9-81ED-4DB2-BD59-A6C34878D82A}">
                    <a16:rowId xmlns:a16="http://schemas.microsoft.com/office/drawing/2014/main" val="10005"/>
                  </a:ext>
                </a:extLst>
              </a:tr>
              <a:tr h="199761">
                <a:tc>
                  <a:txBody>
                    <a:bodyPr/>
                    <a:lstStyle/>
                    <a:p>
                      <a:pPr algn="l"/>
                      <a:r>
                        <a:rPr sz="700" b="0">
                          <a:solidFill>
                            <a:srgbClr val="000000"/>
                          </a:solidFill>
                          <a:latin typeface="Arial"/>
                        </a:rPr>
                        <a:t>description</a:t>
                      </a:r>
                    </a:p>
                  </a:txBody>
                  <a:tcPr marL="64008" marR="64008" marT="9144" marB="9144" anchor="ctr">
                    <a:solidFill>
                      <a:srgbClr val="D2D5E4"/>
                    </a:solidFill>
                  </a:tcPr>
                </a:tc>
                <a:tc>
                  <a:txBody>
                    <a:bodyPr/>
                    <a:lstStyle/>
                    <a:p>
                      <a:pPr algn="l"/>
                      <a:r>
                        <a:rPr sz="700" b="0">
                          <a:solidFill>
                            <a:srgbClr val="000000"/>
                          </a:solidFill>
                          <a:latin typeface="Arial"/>
                        </a:rPr>
                        <a:t>text</a:t>
                      </a:r>
                    </a:p>
                  </a:txBody>
                  <a:tcPr marL="64008" marR="64008" marT="9144" marB="9144" anchor="ctr">
                    <a:solidFill>
                      <a:srgbClr val="D2D5E4"/>
                    </a:solidFill>
                  </a:tcPr>
                </a:tc>
                <a:tc>
                  <a:txBody>
                    <a:bodyPr/>
                    <a:lstStyle/>
                    <a:p>
                      <a:pPr algn="l"/>
                      <a:r>
                        <a:rPr sz="700" b="0">
                          <a:solidFill>
                            <a:srgbClr val="000000"/>
                          </a:solidFill>
                          <a:latin typeface="Arial"/>
                        </a:rPr>
                        <a:t>—</a:t>
                      </a:r>
                    </a:p>
                  </a:txBody>
                  <a:tcPr marL="64008" marR="64008" marT="9144" marB="9144" anchor="ctr">
                    <a:solidFill>
                      <a:srgbClr val="D2D5E4"/>
                    </a:solidFill>
                  </a:tcPr>
                </a:tc>
                <a:tc>
                  <a:txBody>
                    <a:bodyPr/>
                    <a:lstStyle/>
                    <a:p>
                      <a:pPr algn="l"/>
                      <a:r>
                        <a:rPr sz="700" b="0">
                          <a:solidFill>
                            <a:srgbClr val="000000"/>
                          </a:solidFill>
                          <a:latin typeface="Arial"/>
                        </a:rPr>
                        <a:t>Description of the food item.</a:t>
                      </a:r>
                    </a:p>
                  </a:txBody>
                  <a:tcPr marL="64008" marR="64008" marT="9144" marB="9144" anchor="ctr">
                    <a:solidFill>
                      <a:srgbClr val="D2D5E4"/>
                    </a:solidFill>
                  </a:tcPr>
                </a:tc>
                <a:extLst>
                  <a:ext uri="{0D108BD9-81ED-4DB2-BD59-A6C34878D82A}">
                    <a16:rowId xmlns:a16="http://schemas.microsoft.com/office/drawing/2014/main" val="10006"/>
                  </a:ext>
                </a:extLst>
              </a:tr>
              <a:tr h="199761">
                <a:tc>
                  <a:txBody>
                    <a:bodyPr/>
                    <a:lstStyle/>
                    <a:p>
                      <a:pPr algn="l"/>
                      <a:r>
                        <a:rPr sz="700" b="0">
                          <a:solidFill>
                            <a:srgbClr val="000000"/>
                          </a:solidFill>
                          <a:latin typeface="Arial"/>
                        </a:rPr>
                        <a:t>image</a:t>
                      </a:r>
                    </a:p>
                  </a:txBody>
                  <a:tcPr marL="64008" marR="64008" marT="9144" marB="9144" anchor="ctr">
                    <a:solidFill>
                      <a:srgbClr val="EAEBF2"/>
                    </a:solidFill>
                  </a:tcPr>
                </a:tc>
                <a:tc>
                  <a:txBody>
                    <a:bodyPr/>
                    <a:lstStyle/>
                    <a:p>
                      <a:pPr algn="l"/>
                      <a:r>
                        <a:rPr sz="700" b="0">
                          <a:solidFill>
                            <a:srgbClr val="000000"/>
                          </a:solidFill>
                          <a:latin typeface="Arial"/>
                        </a:rPr>
                        <a:t>varchar(255)</a:t>
                      </a:r>
                    </a:p>
                  </a:txBody>
                  <a:tcPr marL="64008" marR="64008" marT="9144" marB="9144" anchor="ctr">
                    <a:solidFill>
                      <a:srgbClr val="EAEBF2"/>
                    </a:solidFill>
                  </a:tcPr>
                </a:tc>
                <a:tc>
                  <a:txBody>
                    <a:bodyPr/>
                    <a:lstStyle/>
                    <a:p>
                      <a:pPr algn="l"/>
                      <a:r>
                        <a:rPr sz="700" b="0">
                          <a:solidFill>
                            <a:srgbClr val="000000"/>
                          </a:solidFill>
                          <a:latin typeface="Arial"/>
                        </a:rPr>
                        <a:t>—</a:t>
                      </a:r>
                    </a:p>
                  </a:txBody>
                  <a:tcPr marL="64008" marR="64008" marT="9144" marB="9144" anchor="ctr">
                    <a:solidFill>
                      <a:srgbClr val="EAEBF2"/>
                    </a:solidFill>
                  </a:tcPr>
                </a:tc>
                <a:tc>
                  <a:txBody>
                    <a:bodyPr/>
                    <a:lstStyle/>
                    <a:p>
                      <a:pPr algn="l"/>
                      <a:r>
                        <a:rPr sz="700" b="0">
                          <a:solidFill>
                            <a:srgbClr val="000000"/>
                          </a:solidFill>
                          <a:latin typeface="Arial"/>
                        </a:rPr>
                        <a:t>Food image path.</a:t>
                      </a:r>
                    </a:p>
                  </a:txBody>
                  <a:tcPr marL="64008" marR="64008" marT="9144" marB="9144" anchor="ctr">
                    <a:solidFill>
                      <a:srgbClr val="EAEBF2"/>
                    </a:solidFill>
                  </a:tcPr>
                </a:tc>
                <a:extLst>
                  <a:ext uri="{0D108BD9-81ED-4DB2-BD59-A6C34878D82A}">
                    <a16:rowId xmlns:a16="http://schemas.microsoft.com/office/drawing/2014/main" val="10007"/>
                  </a:ext>
                </a:extLst>
              </a:tr>
              <a:tr h="199761">
                <a:tc>
                  <a:txBody>
                    <a:bodyPr/>
                    <a:lstStyle/>
                    <a:p>
                      <a:pPr algn="l"/>
                      <a:r>
                        <a:rPr sz="700" b="0">
                          <a:solidFill>
                            <a:srgbClr val="000000"/>
                          </a:solidFill>
                          <a:latin typeface="Arial"/>
                        </a:rPr>
                        <a:t>ingredients</a:t>
                      </a:r>
                    </a:p>
                  </a:txBody>
                  <a:tcPr marL="64008" marR="64008" marT="9144" marB="9144" anchor="ctr">
                    <a:solidFill>
                      <a:srgbClr val="D2D5E4"/>
                    </a:solidFill>
                  </a:tcPr>
                </a:tc>
                <a:tc>
                  <a:txBody>
                    <a:bodyPr/>
                    <a:lstStyle/>
                    <a:p>
                      <a:pPr algn="l"/>
                      <a:r>
                        <a:rPr sz="700" b="0">
                          <a:solidFill>
                            <a:srgbClr val="000000"/>
                          </a:solidFill>
                          <a:latin typeface="Arial"/>
                        </a:rPr>
                        <a:t>text</a:t>
                      </a:r>
                    </a:p>
                  </a:txBody>
                  <a:tcPr marL="64008" marR="64008" marT="9144" marB="9144" anchor="ctr">
                    <a:solidFill>
                      <a:srgbClr val="D2D5E4"/>
                    </a:solidFill>
                  </a:tcPr>
                </a:tc>
                <a:tc>
                  <a:txBody>
                    <a:bodyPr/>
                    <a:lstStyle/>
                    <a:p>
                      <a:pPr algn="l"/>
                      <a:r>
                        <a:rPr sz="700" b="0">
                          <a:solidFill>
                            <a:srgbClr val="000000"/>
                          </a:solidFill>
                          <a:latin typeface="Arial"/>
                        </a:rPr>
                        <a:t>—</a:t>
                      </a:r>
                    </a:p>
                  </a:txBody>
                  <a:tcPr marL="64008" marR="64008" marT="9144" marB="9144" anchor="ctr">
                    <a:solidFill>
                      <a:srgbClr val="D2D5E4"/>
                    </a:solidFill>
                  </a:tcPr>
                </a:tc>
                <a:tc>
                  <a:txBody>
                    <a:bodyPr/>
                    <a:lstStyle/>
                    <a:p>
                      <a:pPr algn="l"/>
                      <a:r>
                        <a:rPr sz="700" b="0">
                          <a:solidFill>
                            <a:srgbClr val="000000"/>
                          </a:solidFill>
                          <a:latin typeface="Arial"/>
                        </a:rPr>
                        <a:t>Ingredients used in the food item.</a:t>
                      </a:r>
                    </a:p>
                  </a:txBody>
                  <a:tcPr marL="64008" marR="64008" marT="9144" marB="9144" anchor="ctr">
                    <a:solidFill>
                      <a:srgbClr val="D2D5E4"/>
                    </a:solidFill>
                  </a:tcPr>
                </a:tc>
                <a:extLst>
                  <a:ext uri="{0D108BD9-81ED-4DB2-BD59-A6C34878D82A}">
                    <a16:rowId xmlns:a16="http://schemas.microsoft.com/office/drawing/2014/main" val="10008"/>
                  </a:ext>
                </a:extLst>
              </a:tr>
              <a:tr h="199761">
                <a:tc>
                  <a:txBody>
                    <a:bodyPr/>
                    <a:lstStyle/>
                    <a:p>
                      <a:pPr algn="l"/>
                      <a:r>
                        <a:rPr sz="700" b="0">
                          <a:solidFill>
                            <a:srgbClr val="000000"/>
                          </a:solidFill>
                          <a:latin typeface="Arial"/>
                        </a:rPr>
                        <a:t>allergens</a:t>
                      </a:r>
                    </a:p>
                  </a:txBody>
                  <a:tcPr marL="64008" marR="64008" marT="9144" marB="9144" anchor="ctr">
                    <a:solidFill>
                      <a:srgbClr val="EAEBF2"/>
                    </a:solidFill>
                  </a:tcPr>
                </a:tc>
                <a:tc>
                  <a:txBody>
                    <a:bodyPr/>
                    <a:lstStyle/>
                    <a:p>
                      <a:pPr algn="l"/>
                      <a:r>
                        <a:rPr sz="700" b="0">
                          <a:solidFill>
                            <a:srgbClr val="000000"/>
                          </a:solidFill>
                          <a:latin typeface="Arial"/>
                        </a:rPr>
                        <a:t>varchar(255)</a:t>
                      </a:r>
                    </a:p>
                  </a:txBody>
                  <a:tcPr marL="64008" marR="64008" marT="9144" marB="9144" anchor="ctr">
                    <a:solidFill>
                      <a:srgbClr val="EAEBF2"/>
                    </a:solidFill>
                  </a:tcPr>
                </a:tc>
                <a:tc>
                  <a:txBody>
                    <a:bodyPr/>
                    <a:lstStyle/>
                    <a:p>
                      <a:pPr algn="l"/>
                      <a:r>
                        <a:rPr sz="700" b="0">
                          <a:solidFill>
                            <a:srgbClr val="000000"/>
                          </a:solidFill>
                          <a:latin typeface="Arial"/>
                        </a:rPr>
                        <a:t>—</a:t>
                      </a:r>
                    </a:p>
                  </a:txBody>
                  <a:tcPr marL="64008" marR="64008" marT="9144" marB="9144" anchor="ctr">
                    <a:solidFill>
                      <a:srgbClr val="EAEBF2"/>
                    </a:solidFill>
                  </a:tcPr>
                </a:tc>
                <a:tc>
                  <a:txBody>
                    <a:bodyPr/>
                    <a:lstStyle/>
                    <a:p>
                      <a:pPr algn="l"/>
                      <a:r>
                        <a:rPr sz="700" b="0">
                          <a:solidFill>
                            <a:srgbClr val="000000"/>
                          </a:solidFill>
                          <a:latin typeface="Arial"/>
                        </a:rPr>
                        <a:t>Allergen information.</a:t>
                      </a:r>
                    </a:p>
                  </a:txBody>
                  <a:tcPr marL="64008" marR="64008" marT="9144" marB="9144" anchor="ctr">
                    <a:solidFill>
                      <a:srgbClr val="EAEBF2"/>
                    </a:solidFill>
                  </a:tcPr>
                </a:tc>
                <a:extLst>
                  <a:ext uri="{0D108BD9-81ED-4DB2-BD59-A6C34878D82A}">
                    <a16:rowId xmlns:a16="http://schemas.microsoft.com/office/drawing/2014/main" val="10009"/>
                  </a:ext>
                </a:extLst>
              </a:tr>
              <a:tr h="199761">
                <a:tc>
                  <a:txBody>
                    <a:bodyPr/>
                    <a:lstStyle/>
                    <a:p>
                      <a:pPr algn="l"/>
                      <a:r>
                        <a:rPr sz="700" b="0">
                          <a:solidFill>
                            <a:srgbClr val="000000"/>
                          </a:solidFill>
                          <a:latin typeface="Arial"/>
                        </a:rPr>
                        <a:t>food_type</a:t>
                      </a:r>
                    </a:p>
                  </a:txBody>
                  <a:tcPr marL="64008" marR="64008" marT="9144" marB="9144" anchor="ctr">
                    <a:solidFill>
                      <a:srgbClr val="D2D5E4"/>
                    </a:solidFill>
                  </a:tcPr>
                </a:tc>
                <a:tc>
                  <a:txBody>
                    <a:bodyPr/>
                    <a:lstStyle/>
                    <a:p>
                      <a:pPr algn="l"/>
                      <a:r>
                        <a:rPr sz="700" b="0">
                          <a:solidFill>
                            <a:srgbClr val="000000"/>
                          </a:solidFill>
                          <a:latin typeface="Arial"/>
                        </a:rPr>
                        <a:t>enum(...)</a:t>
                      </a:r>
                    </a:p>
                  </a:txBody>
                  <a:tcPr marL="64008" marR="64008" marT="9144" marB="9144" anchor="ctr">
                    <a:solidFill>
                      <a:srgbClr val="D2D5E4"/>
                    </a:solidFill>
                  </a:tcPr>
                </a:tc>
                <a:tc>
                  <a:txBody>
                    <a:bodyPr/>
                    <a:lstStyle/>
                    <a:p>
                      <a:pPr algn="l"/>
                      <a:r>
                        <a:rPr sz="700" b="0">
                          <a:solidFill>
                            <a:srgbClr val="000000"/>
                          </a:solidFill>
                          <a:latin typeface="Arial"/>
                        </a:rPr>
                        <a:t>—</a:t>
                      </a:r>
                    </a:p>
                  </a:txBody>
                  <a:tcPr marL="64008" marR="64008" marT="9144" marB="9144" anchor="ctr">
                    <a:solidFill>
                      <a:srgbClr val="D2D5E4"/>
                    </a:solidFill>
                  </a:tcPr>
                </a:tc>
                <a:tc>
                  <a:txBody>
                    <a:bodyPr/>
                    <a:lstStyle/>
                    <a:p>
                      <a:pPr algn="l"/>
                      <a:r>
                        <a:rPr sz="700" b="0">
                          <a:solidFill>
                            <a:srgbClr val="000000"/>
                          </a:solidFill>
                          <a:latin typeface="Arial"/>
                        </a:rPr>
                        <a:t>Dietary type such as vegetarian, vegan, Jain or other.</a:t>
                      </a:r>
                    </a:p>
                  </a:txBody>
                  <a:tcPr marL="64008" marR="64008" marT="9144" marB="9144" anchor="ctr">
                    <a:solidFill>
                      <a:srgbClr val="D2D5E4"/>
                    </a:solidFill>
                  </a:tcPr>
                </a:tc>
                <a:extLst>
                  <a:ext uri="{0D108BD9-81ED-4DB2-BD59-A6C34878D82A}">
                    <a16:rowId xmlns:a16="http://schemas.microsoft.com/office/drawing/2014/main" val="10010"/>
                  </a:ext>
                </a:extLst>
              </a:tr>
              <a:tr h="199761">
                <a:tc>
                  <a:txBody>
                    <a:bodyPr/>
                    <a:lstStyle/>
                    <a:p>
                      <a:pPr algn="l"/>
                      <a:r>
                        <a:rPr sz="700" b="0">
                          <a:solidFill>
                            <a:srgbClr val="000000"/>
                          </a:solidFill>
                          <a:latin typeface="Arial"/>
                        </a:rPr>
                        <a:t>base_price</a:t>
                      </a:r>
                    </a:p>
                  </a:txBody>
                  <a:tcPr marL="64008" marR="64008" marT="9144" marB="9144" anchor="ctr">
                    <a:solidFill>
                      <a:srgbClr val="EAEBF2"/>
                    </a:solidFill>
                  </a:tcPr>
                </a:tc>
                <a:tc>
                  <a:txBody>
                    <a:bodyPr/>
                    <a:lstStyle/>
                    <a:p>
                      <a:pPr algn="l"/>
                      <a:r>
                        <a:rPr sz="700" b="0">
                          <a:solidFill>
                            <a:srgbClr val="000000"/>
                          </a:solidFill>
                          <a:latin typeface="Arial"/>
                        </a:rPr>
                        <a:t>decimal(10,2)</a:t>
                      </a:r>
                    </a:p>
                  </a:txBody>
                  <a:tcPr marL="64008" marR="64008" marT="9144" marB="9144" anchor="ctr">
                    <a:solidFill>
                      <a:srgbClr val="EAEBF2"/>
                    </a:solidFill>
                  </a:tcPr>
                </a:tc>
                <a:tc>
                  <a:txBody>
                    <a:bodyPr/>
                    <a:lstStyle/>
                    <a:p>
                      <a:pPr algn="l"/>
                      <a:r>
                        <a:rPr sz="700" b="0">
                          <a:solidFill>
                            <a:srgbClr val="000000"/>
                          </a:solidFill>
                          <a:latin typeface="Arial"/>
                        </a:rPr>
                        <a:t>—</a:t>
                      </a:r>
                    </a:p>
                  </a:txBody>
                  <a:tcPr marL="64008" marR="64008" marT="9144" marB="9144" anchor="ctr">
                    <a:solidFill>
                      <a:srgbClr val="EAEBF2"/>
                    </a:solidFill>
                  </a:tcPr>
                </a:tc>
                <a:tc>
                  <a:txBody>
                    <a:bodyPr/>
                    <a:lstStyle/>
                    <a:p>
                      <a:pPr algn="l"/>
                      <a:r>
                        <a:rPr sz="700" b="0">
                          <a:solidFill>
                            <a:srgbClr val="000000"/>
                          </a:solidFill>
                          <a:latin typeface="Arial"/>
                        </a:rPr>
                        <a:t>Base selling price.</a:t>
                      </a:r>
                    </a:p>
                  </a:txBody>
                  <a:tcPr marL="64008" marR="64008" marT="9144" marB="9144" anchor="ctr">
                    <a:solidFill>
                      <a:srgbClr val="EAEBF2"/>
                    </a:solidFill>
                  </a:tcPr>
                </a:tc>
                <a:extLst>
                  <a:ext uri="{0D108BD9-81ED-4DB2-BD59-A6C34878D82A}">
                    <a16:rowId xmlns:a16="http://schemas.microsoft.com/office/drawing/2014/main" val="10011"/>
                  </a:ext>
                </a:extLst>
              </a:tr>
              <a:tr h="199761">
                <a:tc>
                  <a:txBody>
                    <a:bodyPr/>
                    <a:lstStyle/>
                    <a:p>
                      <a:pPr algn="l"/>
                      <a:r>
                        <a:rPr sz="700" b="0">
                          <a:solidFill>
                            <a:srgbClr val="000000"/>
                          </a:solidFill>
                          <a:latin typeface="Arial"/>
                        </a:rPr>
                        <a:t>calories</a:t>
                      </a:r>
                    </a:p>
                  </a:txBody>
                  <a:tcPr marL="64008" marR="64008" marT="9144" marB="9144" anchor="ctr">
                    <a:solidFill>
                      <a:srgbClr val="D2D5E4"/>
                    </a:solidFill>
                  </a:tcPr>
                </a:tc>
                <a:tc>
                  <a:txBody>
                    <a:bodyPr/>
                    <a:lstStyle/>
                    <a:p>
                      <a:pPr algn="l"/>
                      <a:r>
                        <a:rPr sz="700" b="0">
                          <a:solidFill>
                            <a:srgbClr val="000000"/>
                          </a:solidFill>
                          <a:latin typeface="Arial"/>
                        </a:rPr>
                        <a:t>int(10) unsigned</a:t>
                      </a:r>
                    </a:p>
                  </a:txBody>
                  <a:tcPr marL="64008" marR="64008" marT="9144" marB="9144" anchor="ctr">
                    <a:solidFill>
                      <a:srgbClr val="D2D5E4"/>
                    </a:solidFill>
                  </a:tcPr>
                </a:tc>
                <a:tc>
                  <a:txBody>
                    <a:bodyPr/>
                    <a:lstStyle/>
                    <a:p>
                      <a:pPr algn="l"/>
                      <a:r>
                        <a:rPr sz="700" b="0">
                          <a:solidFill>
                            <a:srgbClr val="000000"/>
                          </a:solidFill>
                          <a:latin typeface="Arial"/>
                        </a:rPr>
                        <a:t>—</a:t>
                      </a:r>
                    </a:p>
                  </a:txBody>
                  <a:tcPr marL="64008" marR="64008" marT="9144" marB="9144" anchor="ctr">
                    <a:solidFill>
                      <a:srgbClr val="D2D5E4"/>
                    </a:solidFill>
                  </a:tcPr>
                </a:tc>
                <a:tc>
                  <a:txBody>
                    <a:bodyPr/>
                    <a:lstStyle/>
                    <a:p>
                      <a:pPr algn="l"/>
                      <a:r>
                        <a:rPr sz="700" b="0">
                          <a:solidFill>
                            <a:srgbClr val="000000"/>
                          </a:solidFill>
                          <a:latin typeface="Arial"/>
                        </a:rPr>
                        <a:t>Calories per serving.</a:t>
                      </a:r>
                    </a:p>
                  </a:txBody>
                  <a:tcPr marL="64008" marR="64008" marT="9144" marB="9144" anchor="ctr">
                    <a:solidFill>
                      <a:srgbClr val="D2D5E4"/>
                    </a:solidFill>
                  </a:tcPr>
                </a:tc>
                <a:extLst>
                  <a:ext uri="{0D108BD9-81ED-4DB2-BD59-A6C34878D82A}">
                    <a16:rowId xmlns:a16="http://schemas.microsoft.com/office/drawing/2014/main" val="10012"/>
                  </a:ext>
                </a:extLst>
              </a:tr>
              <a:tr h="199761">
                <a:tc>
                  <a:txBody>
                    <a:bodyPr/>
                    <a:lstStyle/>
                    <a:p>
                      <a:pPr algn="l"/>
                      <a:r>
                        <a:rPr sz="700" b="0">
                          <a:solidFill>
                            <a:srgbClr val="000000"/>
                          </a:solidFill>
                          <a:latin typeface="Arial"/>
                        </a:rPr>
                        <a:t>protein</a:t>
                      </a:r>
                    </a:p>
                  </a:txBody>
                  <a:tcPr marL="64008" marR="64008" marT="9144" marB="9144" anchor="ctr">
                    <a:solidFill>
                      <a:srgbClr val="EAEBF2"/>
                    </a:solidFill>
                  </a:tcPr>
                </a:tc>
                <a:tc>
                  <a:txBody>
                    <a:bodyPr/>
                    <a:lstStyle/>
                    <a:p>
                      <a:pPr algn="l"/>
                      <a:r>
                        <a:rPr sz="700" b="0">
                          <a:solidFill>
                            <a:srgbClr val="000000"/>
                          </a:solidFill>
                          <a:latin typeface="Arial"/>
                        </a:rPr>
                        <a:t>decimal(6,2)</a:t>
                      </a:r>
                    </a:p>
                  </a:txBody>
                  <a:tcPr marL="64008" marR="64008" marT="9144" marB="9144" anchor="ctr">
                    <a:solidFill>
                      <a:srgbClr val="EAEBF2"/>
                    </a:solidFill>
                  </a:tcPr>
                </a:tc>
                <a:tc>
                  <a:txBody>
                    <a:bodyPr/>
                    <a:lstStyle/>
                    <a:p>
                      <a:pPr algn="l"/>
                      <a:r>
                        <a:rPr sz="700" b="0">
                          <a:solidFill>
                            <a:srgbClr val="000000"/>
                          </a:solidFill>
                          <a:latin typeface="Arial"/>
                        </a:rPr>
                        <a:t>—</a:t>
                      </a:r>
                    </a:p>
                  </a:txBody>
                  <a:tcPr marL="64008" marR="64008" marT="9144" marB="9144" anchor="ctr">
                    <a:solidFill>
                      <a:srgbClr val="EAEBF2"/>
                    </a:solidFill>
                  </a:tcPr>
                </a:tc>
                <a:tc>
                  <a:txBody>
                    <a:bodyPr/>
                    <a:lstStyle/>
                    <a:p>
                      <a:pPr algn="l"/>
                      <a:r>
                        <a:rPr sz="700" b="0">
                          <a:solidFill>
                            <a:srgbClr val="000000"/>
                          </a:solidFill>
                          <a:latin typeface="Arial"/>
                        </a:rPr>
                        <a:t>Protein amount in grams.</a:t>
                      </a:r>
                    </a:p>
                  </a:txBody>
                  <a:tcPr marL="64008" marR="64008" marT="9144" marB="9144" anchor="ctr">
                    <a:solidFill>
                      <a:srgbClr val="EAEBF2"/>
                    </a:solidFill>
                  </a:tcPr>
                </a:tc>
                <a:extLst>
                  <a:ext uri="{0D108BD9-81ED-4DB2-BD59-A6C34878D82A}">
                    <a16:rowId xmlns:a16="http://schemas.microsoft.com/office/drawing/2014/main" val="10013"/>
                  </a:ext>
                </a:extLst>
              </a:tr>
              <a:tr h="199761">
                <a:tc>
                  <a:txBody>
                    <a:bodyPr/>
                    <a:lstStyle/>
                    <a:p>
                      <a:pPr algn="l"/>
                      <a:r>
                        <a:rPr sz="700" b="0">
                          <a:solidFill>
                            <a:srgbClr val="000000"/>
                          </a:solidFill>
                          <a:latin typeface="Arial"/>
                        </a:rPr>
                        <a:t>carbs</a:t>
                      </a:r>
                    </a:p>
                  </a:txBody>
                  <a:tcPr marL="64008" marR="64008" marT="9144" marB="9144" anchor="ctr">
                    <a:solidFill>
                      <a:srgbClr val="D2D5E4"/>
                    </a:solidFill>
                  </a:tcPr>
                </a:tc>
                <a:tc>
                  <a:txBody>
                    <a:bodyPr/>
                    <a:lstStyle/>
                    <a:p>
                      <a:pPr algn="l"/>
                      <a:r>
                        <a:rPr sz="700" b="0">
                          <a:solidFill>
                            <a:srgbClr val="000000"/>
                          </a:solidFill>
                          <a:latin typeface="Arial"/>
                        </a:rPr>
                        <a:t>decimal(6,2)</a:t>
                      </a:r>
                    </a:p>
                  </a:txBody>
                  <a:tcPr marL="64008" marR="64008" marT="9144" marB="9144" anchor="ctr">
                    <a:solidFill>
                      <a:srgbClr val="D2D5E4"/>
                    </a:solidFill>
                  </a:tcPr>
                </a:tc>
                <a:tc>
                  <a:txBody>
                    <a:bodyPr/>
                    <a:lstStyle/>
                    <a:p>
                      <a:pPr algn="l"/>
                      <a:r>
                        <a:rPr sz="700" b="0">
                          <a:solidFill>
                            <a:srgbClr val="000000"/>
                          </a:solidFill>
                          <a:latin typeface="Arial"/>
                        </a:rPr>
                        <a:t>—</a:t>
                      </a:r>
                    </a:p>
                  </a:txBody>
                  <a:tcPr marL="64008" marR="64008" marT="9144" marB="9144" anchor="ctr">
                    <a:solidFill>
                      <a:srgbClr val="D2D5E4"/>
                    </a:solidFill>
                  </a:tcPr>
                </a:tc>
                <a:tc>
                  <a:txBody>
                    <a:bodyPr/>
                    <a:lstStyle/>
                    <a:p>
                      <a:pPr algn="l"/>
                      <a:r>
                        <a:rPr sz="700" b="0">
                          <a:solidFill>
                            <a:srgbClr val="000000"/>
                          </a:solidFill>
                          <a:latin typeface="Arial"/>
                        </a:rPr>
                        <a:t>Carbohydrate amount in grams.</a:t>
                      </a:r>
                    </a:p>
                  </a:txBody>
                  <a:tcPr marL="64008" marR="64008" marT="9144" marB="9144" anchor="ctr">
                    <a:solidFill>
                      <a:srgbClr val="D2D5E4"/>
                    </a:solidFill>
                  </a:tcPr>
                </a:tc>
                <a:extLst>
                  <a:ext uri="{0D108BD9-81ED-4DB2-BD59-A6C34878D82A}">
                    <a16:rowId xmlns:a16="http://schemas.microsoft.com/office/drawing/2014/main" val="10014"/>
                  </a:ext>
                </a:extLst>
              </a:tr>
              <a:tr h="199761">
                <a:tc>
                  <a:txBody>
                    <a:bodyPr/>
                    <a:lstStyle/>
                    <a:p>
                      <a:pPr algn="l"/>
                      <a:r>
                        <a:rPr sz="700" b="0">
                          <a:solidFill>
                            <a:srgbClr val="000000"/>
                          </a:solidFill>
                          <a:latin typeface="Arial"/>
                        </a:rPr>
                        <a:t>fat</a:t>
                      </a:r>
                    </a:p>
                  </a:txBody>
                  <a:tcPr marL="64008" marR="64008" marT="9144" marB="9144" anchor="ctr">
                    <a:solidFill>
                      <a:srgbClr val="EAEBF2"/>
                    </a:solidFill>
                  </a:tcPr>
                </a:tc>
                <a:tc>
                  <a:txBody>
                    <a:bodyPr/>
                    <a:lstStyle/>
                    <a:p>
                      <a:pPr algn="l"/>
                      <a:r>
                        <a:rPr sz="700" b="0">
                          <a:solidFill>
                            <a:srgbClr val="000000"/>
                          </a:solidFill>
                          <a:latin typeface="Arial"/>
                        </a:rPr>
                        <a:t>decimal(6,2)</a:t>
                      </a:r>
                    </a:p>
                  </a:txBody>
                  <a:tcPr marL="64008" marR="64008" marT="9144" marB="9144" anchor="ctr">
                    <a:solidFill>
                      <a:srgbClr val="EAEBF2"/>
                    </a:solidFill>
                  </a:tcPr>
                </a:tc>
                <a:tc>
                  <a:txBody>
                    <a:bodyPr/>
                    <a:lstStyle/>
                    <a:p>
                      <a:pPr algn="l"/>
                      <a:r>
                        <a:rPr sz="700" b="0">
                          <a:solidFill>
                            <a:srgbClr val="000000"/>
                          </a:solidFill>
                          <a:latin typeface="Arial"/>
                        </a:rPr>
                        <a:t>—</a:t>
                      </a:r>
                    </a:p>
                  </a:txBody>
                  <a:tcPr marL="64008" marR="64008" marT="9144" marB="9144" anchor="ctr">
                    <a:solidFill>
                      <a:srgbClr val="EAEBF2"/>
                    </a:solidFill>
                  </a:tcPr>
                </a:tc>
                <a:tc>
                  <a:txBody>
                    <a:bodyPr/>
                    <a:lstStyle/>
                    <a:p>
                      <a:pPr algn="l"/>
                      <a:r>
                        <a:rPr sz="700" b="0">
                          <a:solidFill>
                            <a:srgbClr val="000000"/>
                          </a:solidFill>
                          <a:latin typeface="Arial"/>
                        </a:rPr>
                        <a:t>Fat amount in grams.</a:t>
                      </a:r>
                    </a:p>
                  </a:txBody>
                  <a:tcPr marL="64008" marR="64008" marT="9144" marB="9144" anchor="ctr">
                    <a:solidFill>
                      <a:srgbClr val="EAEBF2"/>
                    </a:solidFill>
                  </a:tcPr>
                </a:tc>
                <a:extLst>
                  <a:ext uri="{0D108BD9-81ED-4DB2-BD59-A6C34878D82A}">
                    <a16:rowId xmlns:a16="http://schemas.microsoft.com/office/drawing/2014/main" val="10015"/>
                  </a:ext>
                </a:extLst>
              </a:tr>
              <a:tr h="199761">
                <a:tc>
                  <a:txBody>
                    <a:bodyPr/>
                    <a:lstStyle/>
                    <a:p>
                      <a:pPr algn="l"/>
                      <a:r>
                        <a:rPr sz="700" b="0">
                          <a:solidFill>
                            <a:srgbClr val="000000"/>
                          </a:solidFill>
                          <a:latin typeface="Arial"/>
                        </a:rPr>
                        <a:t>fiber</a:t>
                      </a:r>
                    </a:p>
                  </a:txBody>
                  <a:tcPr marL="64008" marR="64008" marT="9144" marB="9144" anchor="ctr">
                    <a:solidFill>
                      <a:srgbClr val="D2D5E4"/>
                    </a:solidFill>
                  </a:tcPr>
                </a:tc>
                <a:tc>
                  <a:txBody>
                    <a:bodyPr/>
                    <a:lstStyle/>
                    <a:p>
                      <a:pPr algn="l"/>
                      <a:r>
                        <a:rPr sz="700" b="0">
                          <a:solidFill>
                            <a:srgbClr val="000000"/>
                          </a:solidFill>
                          <a:latin typeface="Arial"/>
                        </a:rPr>
                        <a:t>decimal(6,2)</a:t>
                      </a:r>
                    </a:p>
                  </a:txBody>
                  <a:tcPr marL="64008" marR="64008" marT="9144" marB="9144" anchor="ctr">
                    <a:solidFill>
                      <a:srgbClr val="D2D5E4"/>
                    </a:solidFill>
                  </a:tcPr>
                </a:tc>
                <a:tc>
                  <a:txBody>
                    <a:bodyPr/>
                    <a:lstStyle/>
                    <a:p>
                      <a:pPr algn="l"/>
                      <a:r>
                        <a:rPr sz="700" b="0">
                          <a:solidFill>
                            <a:srgbClr val="000000"/>
                          </a:solidFill>
                          <a:latin typeface="Arial"/>
                        </a:rPr>
                        <a:t>—</a:t>
                      </a:r>
                    </a:p>
                  </a:txBody>
                  <a:tcPr marL="64008" marR="64008" marT="9144" marB="9144" anchor="ctr">
                    <a:solidFill>
                      <a:srgbClr val="D2D5E4"/>
                    </a:solidFill>
                  </a:tcPr>
                </a:tc>
                <a:tc>
                  <a:txBody>
                    <a:bodyPr/>
                    <a:lstStyle/>
                    <a:p>
                      <a:pPr algn="l"/>
                      <a:r>
                        <a:rPr sz="700" b="0">
                          <a:solidFill>
                            <a:srgbClr val="000000"/>
                          </a:solidFill>
                          <a:latin typeface="Arial"/>
                        </a:rPr>
                        <a:t>Fiber amount in grams.</a:t>
                      </a:r>
                    </a:p>
                  </a:txBody>
                  <a:tcPr marL="64008" marR="64008" marT="9144" marB="9144" anchor="ctr">
                    <a:solidFill>
                      <a:srgbClr val="D2D5E4"/>
                    </a:solidFill>
                  </a:tcPr>
                </a:tc>
                <a:extLst>
                  <a:ext uri="{0D108BD9-81ED-4DB2-BD59-A6C34878D82A}">
                    <a16:rowId xmlns:a16="http://schemas.microsoft.com/office/drawing/2014/main" val="10016"/>
                  </a:ext>
                </a:extLst>
              </a:tr>
              <a:tr h="199761">
                <a:tc>
                  <a:txBody>
                    <a:bodyPr/>
                    <a:lstStyle/>
                    <a:p>
                      <a:pPr algn="l"/>
                      <a:r>
                        <a:rPr sz="700" b="0">
                          <a:solidFill>
                            <a:srgbClr val="000000"/>
                          </a:solidFill>
                          <a:latin typeface="Arial"/>
                        </a:rPr>
                        <a:t>sugar</a:t>
                      </a:r>
                    </a:p>
                  </a:txBody>
                  <a:tcPr marL="64008" marR="64008" marT="9144" marB="9144" anchor="ctr">
                    <a:solidFill>
                      <a:srgbClr val="EAEBF2"/>
                    </a:solidFill>
                  </a:tcPr>
                </a:tc>
                <a:tc>
                  <a:txBody>
                    <a:bodyPr/>
                    <a:lstStyle/>
                    <a:p>
                      <a:pPr algn="l"/>
                      <a:r>
                        <a:rPr sz="700" b="0">
                          <a:solidFill>
                            <a:srgbClr val="000000"/>
                          </a:solidFill>
                          <a:latin typeface="Arial"/>
                        </a:rPr>
                        <a:t>decimal(6,2)</a:t>
                      </a:r>
                    </a:p>
                  </a:txBody>
                  <a:tcPr marL="64008" marR="64008" marT="9144" marB="9144" anchor="ctr">
                    <a:solidFill>
                      <a:srgbClr val="EAEBF2"/>
                    </a:solidFill>
                  </a:tcPr>
                </a:tc>
                <a:tc>
                  <a:txBody>
                    <a:bodyPr/>
                    <a:lstStyle/>
                    <a:p>
                      <a:pPr algn="l"/>
                      <a:r>
                        <a:rPr sz="700" b="0">
                          <a:solidFill>
                            <a:srgbClr val="000000"/>
                          </a:solidFill>
                          <a:latin typeface="Arial"/>
                        </a:rPr>
                        <a:t>—</a:t>
                      </a:r>
                    </a:p>
                  </a:txBody>
                  <a:tcPr marL="64008" marR="64008" marT="9144" marB="9144" anchor="ctr">
                    <a:solidFill>
                      <a:srgbClr val="EAEBF2"/>
                    </a:solidFill>
                  </a:tcPr>
                </a:tc>
                <a:tc>
                  <a:txBody>
                    <a:bodyPr/>
                    <a:lstStyle/>
                    <a:p>
                      <a:pPr algn="l"/>
                      <a:r>
                        <a:rPr sz="700" b="0">
                          <a:solidFill>
                            <a:srgbClr val="000000"/>
                          </a:solidFill>
                          <a:latin typeface="Arial"/>
                        </a:rPr>
                        <a:t>Sugar amount in grams.</a:t>
                      </a:r>
                    </a:p>
                  </a:txBody>
                  <a:tcPr marL="64008" marR="64008" marT="9144" marB="9144" anchor="ctr">
                    <a:solidFill>
                      <a:srgbClr val="EAEBF2"/>
                    </a:solidFill>
                  </a:tcPr>
                </a:tc>
                <a:extLst>
                  <a:ext uri="{0D108BD9-81ED-4DB2-BD59-A6C34878D82A}">
                    <a16:rowId xmlns:a16="http://schemas.microsoft.com/office/drawing/2014/main" val="10017"/>
                  </a:ext>
                </a:extLst>
              </a:tr>
              <a:tr h="199761">
                <a:tc>
                  <a:txBody>
                    <a:bodyPr/>
                    <a:lstStyle/>
                    <a:p>
                      <a:pPr algn="l"/>
                      <a:r>
                        <a:rPr sz="700" b="0">
                          <a:solidFill>
                            <a:srgbClr val="000000"/>
                          </a:solidFill>
                          <a:latin typeface="Arial"/>
                        </a:rPr>
                        <a:t>sodium</a:t>
                      </a:r>
                    </a:p>
                  </a:txBody>
                  <a:tcPr marL="64008" marR="64008" marT="9144" marB="9144" anchor="ctr">
                    <a:solidFill>
                      <a:srgbClr val="D2D5E4"/>
                    </a:solidFill>
                  </a:tcPr>
                </a:tc>
                <a:tc>
                  <a:txBody>
                    <a:bodyPr/>
                    <a:lstStyle/>
                    <a:p>
                      <a:pPr algn="l"/>
                      <a:r>
                        <a:rPr sz="700" b="0">
                          <a:solidFill>
                            <a:srgbClr val="000000"/>
                          </a:solidFill>
                          <a:latin typeface="Arial"/>
                        </a:rPr>
                        <a:t>decimal(7,2)</a:t>
                      </a:r>
                    </a:p>
                  </a:txBody>
                  <a:tcPr marL="64008" marR="64008" marT="9144" marB="9144" anchor="ctr">
                    <a:solidFill>
                      <a:srgbClr val="D2D5E4"/>
                    </a:solidFill>
                  </a:tcPr>
                </a:tc>
                <a:tc>
                  <a:txBody>
                    <a:bodyPr/>
                    <a:lstStyle/>
                    <a:p>
                      <a:pPr algn="l"/>
                      <a:r>
                        <a:rPr sz="700" b="0">
                          <a:solidFill>
                            <a:srgbClr val="000000"/>
                          </a:solidFill>
                          <a:latin typeface="Arial"/>
                        </a:rPr>
                        <a:t>—</a:t>
                      </a:r>
                    </a:p>
                  </a:txBody>
                  <a:tcPr marL="64008" marR="64008" marT="9144" marB="9144" anchor="ctr">
                    <a:solidFill>
                      <a:srgbClr val="D2D5E4"/>
                    </a:solidFill>
                  </a:tcPr>
                </a:tc>
                <a:tc>
                  <a:txBody>
                    <a:bodyPr/>
                    <a:lstStyle/>
                    <a:p>
                      <a:pPr algn="l"/>
                      <a:r>
                        <a:rPr sz="700" b="0">
                          <a:solidFill>
                            <a:srgbClr val="000000"/>
                          </a:solidFill>
                          <a:latin typeface="Arial"/>
                        </a:rPr>
                        <a:t>Sodium amount in milligrams.</a:t>
                      </a:r>
                    </a:p>
                  </a:txBody>
                  <a:tcPr marL="64008" marR="64008" marT="9144" marB="9144" anchor="ctr">
                    <a:solidFill>
                      <a:srgbClr val="D2D5E4"/>
                    </a:solidFill>
                  </a:tcPr>
                </a:tc>
                <a:extLst>
                  <a:ext uri="{0D108BD9-81ED-4DB2-BD59-A6C34878D82A}">
                    <a16:rowId xmlns:a16="http://schemas.microsoft.com/office/drawing/2014/main" val="10018"/>
                  </a:ext>
                </a:extLst>
              </a:tr>
              <a:tr h="199761">
                <a:tc>
                  <a:txBody>
                    <a:bodyPr/>
                    <a:lstStyle/>
                    <a:p>
                      <a:pPr algn="l"/>
                      <a:r>
                        <a:rPr sz="700" b="0">
                          <a:solidFill>
                            <a:srgbClr val="000000"/>
                          </a:solidFill>
                          <a:latin typeface="Arial"/>
                        </a:rPr>
                        <a:t>caffeine</a:t>
                      </a:r>
                    </a:p>
                  </a:txBody>
                  <a:tcPr marL="64008" marR="64008" marT="9144" marB="9144" anchor="ctr">
                    <a:solidFill>
                      <a:srgbClr val="EAEBF2"/>
                    </a:solidFill>
                  </a:tcPr>
                </a:tc>
                <a:tc>
                  <a:txBody>
                    <a:bodyPr/>
                    <a:lstStyle/>
                    <a:p>
                      <a:pPr algn="l"/>
                      <a:r>
                        <a:rPr sz="700" b="0">
                          <a:solidFill>
                            <a:srgbClr val="000000"/>
                          </a:solidFill>
                          <a:latin typeface="Arial"/>
                        </a:rPr>
                        <a:t>decimal(6,2)</a:t>
                      </a:r>
                    </a:p>
                  </a:txBody>
                  <a:tcPr marL="64008" marR="64008" marT="9144" marB="9144" anchor="ctr">
                    <a:solidFill>
                      <a:srgbClr val="EAEBF2"/>
                    </a:solidFill>
                  </a:tcPr>
                </a:tc>
                <a:tc>
                  <a:txBody>
                    <a:bodyPr/>
                    <a:lstStyle/>
                    <a:p>
                      <a:pPr algn="l"/>
                      <a:r>
                        <a:rPr sz="700" b="0">
                          <a:solidFill>
                            <a:srgbClr val="000000"/>
                          </a:solidFill>
                          <a:latin typeface="Arial"/>
                        </a:rPr>
                        <a:t>—</a:t>
                      </a:r>
                    </a:p>
                  </a:txBody>
                  <a:tcPr marL="64008" marR="64008" marT="9144" marB="9144" anchor="ctr">
                    <a:solidFill>
                      <a:srgbClr val="EAEBF2"/>
                    </a:solidFill>
                  </a:tcPr>
                </a:tc>
                <a:tc>
                  <a:txBody>
                    <a:bodyPr/>
                    <a:lstStyle/>
                    <a:p>
                      <a:pPr algn="l"/>
                      <a:r>
                        <a:rPr sz="700" b="0">
                          <a:solidFill>
                            <a:srgbClr val="000000"/>
                          </a:solidFill>
                          <a:latin typeface="Arial"/>
                        </a:rPr>
                        <a:t>Caffeine amount.</a:t>
                      </a:r>
                    </a:p>
                  </a:txBody>
                  <a:tcPr marL="64008" marR="64008" marT="9144" marB="9144" anchor="ctr">
                    <a:solidFill>
                      <a:srgbClr val="EAEBF2"/>
                    </a:solidFill>
                  </a:tcPr>
                </a:tc>
                <a:extLst>
                  <a:ext uri="{0D108BD9-81ED-4DB2-BD59-A6C34878D82A}">
                    <a16:rowId xmlns:a16="http://schemas.microsoft.com/office/drawing/2014/main" val="10019"/>
                  </a:ext>
                </a:extLst>
              </a:tr>
              <a:tr h="199761">
                <a:tc>
                  <a:txBody>
                    <a:bodyPr/>
                    <a:lstStyle/>
                    <a:p>
                      <a:pPr algn="l"/>
                      <a:r>
                        <a:rPr sz="700" b="0">
                          <a:solidFill>
                            <a:srgbClr val="000000"/>
                          </a:solidFill>
                          <a:latin typeface="Arial"/>
                        </a:rPr>
                        <a:t>serving_size</a:t>
                      </a:r>
                    </a:p>
                  </a:txBody>
                  <a:tcPr marL="64008" marR="64008" marT="9144" marB="9144" anchor="ctr">
                    <a:solidFill>
                      <a:srgbClr val="D2D5E4"/>
                    </a:solidFill>
                  </a:tcPr>
                </a:tc>
                <a:tc>
                  <a:txBody>
                    <a:bodyPr/>
                    <a:lstStyle/>
                    <a:p>
                      <a:pPr algn="l"/>
                      <a:r>
                        <a:rPr sz="700" b="0">
                          <a:solidFill>
                            <a:srgbClr val="000000"/>
                          </a:solidFill>
                          <a:latin typeface="Arial"/>
                        </a:rPr>
                        <a:t>varchar(100)</a:t>
                      </a:r>
                    </a:p>
                  </a:txBody>
                  <a:tcPr marL="64008" marR="64008" marT="9144" marB="9144" anchor="ctr">
                    <a:solidFill>
                      <a:srgbClr val="D2D5E4"/>
                    </a:solidFill>
                  </a:tcPr>
                </a:tc>
                <a:tc>
                  <a:txBody>
                    <a:bodyPr/>
                    <a:lstStyle/>
                    <a:p>
                      <a:pPr algn="l"/>
                      <a:r>
                        <a:rPr sz="700" b="0">
                          <a:solidFill>
                            <a:srgbClr val="000000"/>
                          </a:solidFill>
                          <a:latin typeface="Arial"/>
                        </a:rPr>
                        <a:t>—</a:t>
                      </a:r>
                    </a:p>
                  </a:txBody>
                  <a:tcPr marL="64008" marR="64008" marT="9144" marB="9144" anchor="ctr">
                    <a:solidFill>
                      <a:srgbClr val="D2D5E4"/>
                    </a:solidFill>
                  </a:tcPr>
                </a:tc>
                <a:tc>
                  <a:txBody>
                    <a:bodyPr/>
                    <a:lstStyle/>
                    <a:p>
                      <a:pPr algn="l"/>
                      <a:r>
                        <a:rPr sz="700" b="0">
                          <a:solidFill>
                            <a:srgbClr val="000000"/>
                          </a:solidFill>
                          <a:latin typeface="Arial"/>
                        </a:rPr>
                        <a:t>Serving size description.</a:t>
                      </a:r>
                    </a:p>
                  </a:txBody>
                  <a:tcPr marL="64008" marR="64008" marT="9144" marB="9144" anchor="ctr">
                    <a:solidFill>
                      <a:srgbClr val="D2D5E4"/>
                    </a:solidFill>
                  </a:tcPr>
                </a:tc>
                <a:extLst>
                  <a:ext uri="{0D108BD9-81ED-4DB2-BD59-A6C34878D82A}">
                    <a16:rowId xmlns:a16="http://schemas.microsoft.com/office/drawing/2014/main" val="10020"/>
                  </a:ext>
                </a:extLst>
              </a:tr>
              <a:tr h="199761">
                <a:tc>
                  <a:txBody>
                    <a:bodyPr/>
                    <a:lstStyle/>
                    <a:p>
                      <a:pPr algn="l"/>
                      <a:r>
                        <a:rPr sz="700" b="0">
                          <a:solidFill>
                            <a:srgbClr val="000000"/>
                          </a:solidFill>
                          <a:latin typeface="Arial"/>
                        </a:rPr>
                        <a:t>is_featured</a:t>
                      </a:r>
                    </a:p>
                  </a:txBody>
                  <a:tcPr marL="64008" marR="64008" marT="9144" marB="9144" anchor="ctr">
                    <a:solidFill>
                      <a:srgbClr val="EAEBF2"/>
                    </a:solidFill>
                  </a:tcPr>
                </a:tc>
                <a:tc>
                  <a:txBody>
                    <a:bodyPr/>
                    <a:lstStyle/>
                    <a:p>
                      <a:pPr algn="l"/>
                      <a:r>
                        <a:rPr sz="700" b="0">
                          <a:solidFill>
                            <a:srgbClr val="000000"/>
                          </a:solidFill>
                          <a:latin typeface="Arial"/>
                        </a:rPr>
                        <a:t>tinyint(1)</a:t>
                      </a:r>
                    </a:p>
                  </a:txBody>
                  <a:tcPr marL="64008" marR="64008" marT="9144" marB="9144" anchor="ctr">
                    <a:solidFill>
                      <a:srgbClr val="EAEBF2"/>
                    </a:solidFill>
                  </a:tcPr>
                </a:tc>
                <a:tc>
                  <a:txBody>
                    <a:bodyPr/>
                    <a:lstStyle/>
                    <a:p>
                      <a:pPr algn="l"/>
                      <a:r>
                        <a:rPr sz="700" b="0">
                          <a:solidFill>
                            <a:srgbClr val="000000"/>
                          </a:solidFill>
                          <a:latin typeface="Arial"/>
                        </a:rPr>
                        <a:t>IDX</a:t>
                      </a:r>
                    </a:p>
                  </a:txBody>
                  <a:tcPr marL="64008" marR="64008" marT="9144" marB="9144" anchor="ctr">
                    <a:solidFill>
                      <a:srgbClr val="EAEBF2"/>
                    </a:solidFill>
                  </a:tcPr>
                </a:tc>
                <a:tc>
                  <a:txBody>
                    <a:bodyPr/>
                    <a:lstStyle/>
                    <a:p>
                      <a:pPr algn="l"/>
                      <a:r>
                        <a:rPr sz="700" b="0">
                          <a:solidFill>
                            <a:srgbClr val="000000"/>
                          </a:solidFill>
                          <a:latin typeface="Arial"/>
                        </a:rPr>
                        <a:t>Indicates whether the item is featured.</a:t>
                      </a:r>
                    </a:p>
                  </a:txBody>
                  <a:tcPr marL="64008" marR="64008" marT="9144" marB="9144" anchor="ctr">
                    <a:solidFill>
                      <a:srgbClr val="EAEBF2"/>
                    </a:solidFill>
                  </a:tcPr>
                </a:tc>
                <a:extLst>
                  <a:ext uri="{0D108BD9-81ED-4DB2-BD59-A6C34878D82A}">
                    <a16:rowId xmlns:a16="http://schemas.microsoft.com/office/drawing/2014/main" val="10021"/>
                  </a:ext>
                </a:extLst>
              </a:tr>
              <a:tr h="199761">
                <a:tc>
                  <a:txBody>
                    <a:bodyPr/>
                    <a:lstStyle/>
                    <a:p>
                      <a:pPr algn="l"/>
                      <a:r>
                        <a:rPr sz="700" b="0">
                          <a:solidFill>
                            <a:srgbClr val="000000"/>
                          </a:solidFill>
                          <a:latin typeface="Arial"/>
                        </a:rPr>
                        <a:t>is_popular</a:t>
                      </a:r>
                    </a:p>
                  </a:txBody>
                  <a:tcPr marL="64008" marR="64008" marT="9144" marB="9144" anchor="ctr">
                    <a:solidFill>
                      <a:srgbClr val="D2D5E4"/>
                    </a:solidFill>
                  </a:tcPr>
                </a:tc>
                <a:tc>
                  <a:txBody>
                    <a:bodyPr/>
                    <a:lstStyle/>
                    <a:p>
                      <a:pPr algn="l"/>
                      <a:r>
                        <a:rPr sz="700" b="0">
                          <a:solidFill>
                            <a:srgbClr val="000000"/>
                          </a:solidFill>
                          <a:latin typeface="Arial"/>
                        </a:rPr>
                        <a:t>tinyint(1)</a:t>
                      </a:r>
                    </a:p>
                  </a:txBody>
                  <a:tcPr marL="64008" marR="64008" marT="9144" marB="9144" anchor="ctr">
                    <a:solidFill>
                      <a:srgbClr val="D2D5E4"/>
                    </a:solidFill>
                  </a:tcPr>
                </a:tc>
                <a:tc>
                  <a:txBody>
                    <a:bodyPr/>
                    <a:lstStyle/>
                    <a:p>
                      <a:pPr algn="l"/>
                      <a:r>
                        <a:rPr sz="700" b="0">
                          <a:solidFill>
                            <a:srgbClr val="000000"/>
                          </a:solidFill>
                          <a:latin typeface="Arial"/>
                        </a:rPr>
                        <a:t>IDX</a:t>
                      </a:r>
                    </a:p>
                  </a:txBody>
                  <a:tcPr marL="64008" marR="64008" marT="9144" marB="9144" anchor="ctr">
                    <a:solidFill>
                      <a:srgbClr val="D2D5E4"/>
                    </a:solidFill>
                  </a:tcPr>
                </a:tc>
                <a:tc>
                  <a:txBody>
                    <a:bodyPr/>
                    <a:lstStyle/>
                    <a:p>
                      <a:pPr algn="l"/>
                      <a:r>
                        <a:rPr sz="700" b="0">
                          <a:solidFill>
                            <a:srgbClr val="000000"/>
                          </a:solidFill>
                          <a:latin typeface="Arial"/>
                        </a:rPr>
                        <a:t>Indicates whether the item is popular.</a:t>
                      </a:r>
                    </a:p>
                  </a:txBody>
                  <a:tcPr marL="64008" marR="64008" marT="9144" marB="9144" anchor="ctr">
                    <a:solidFill>
                      <a:srgbClr val="D2D5E4"/>
                    </a:solidFill>
                  </a:tcPr>
                </a:tc>
                <a:extLst>
                  <a:ext uri="{0D108BD9-81ED-4DB2-BD59-A6C34878D82A}">
                    <a16:rowId xmlns:a16="http://schemas.microsoft.com/office/drawing/2014/main" val="10022"/>
                  </a:ext>
                </a:extLst>
              </a:tr>
              <a:tr h="199761">
                <a:tc>
                  <a:txBody>
                    <a:bodyPr/>
                    <a:lstStyle/>
                    <a:p>
                      <a:pPr algn="l"/>
                      <a:r>
                        <a:rPr sz="700" b="0">
                          <a:solidFill>
                            <a:srgbClr val="000000"/>
                          </a:solidFill>
                          <a:latin typeface="Arial"/>
                        </a:rPr>
                        <a:t>is_available</a:t>
                      </a:r>
                    </a:p>
                  </a:txBody>
                  <a:tcPr marL="64008" marR="64008" marT="9144" marB="9144" anchor="ctr">
                    <a:solidFill>
                      <a:srgbClr val="EAEBF2"/>
                    </a:solidFill>
                  </a:tcPr>
                </a:tc>
                <a:tc>
                  <a:txBody>
                    <a:bodyPr/>
                    <a:lstStyle/>
                    <a:p>
                      <a:pPr algn="l"/>
                      <a:r>
                        <a:rPr sz="700" b="0">
                          <a:solidFill>
                            <a:srgbClr val="000000"/>
                          </a:solidFill>
                          <a:latin typeface="Arial"/>
                        </a:rPr>
                        <a:t>tinyint(1)</a:t>
                      </a:r>
                    </a:p>
                  </a:txBody>
                  <a:tcPr marL="64008" marR="64008" marT="9144" marB="9144" anchor="ctr">
                    <a:solidFill>
                      <a:srgbClr val="EAEBF2"/>
                    </a:solidFill>
                  </a:tcPr>
                </a:tc>
                <a:tc>
                  <a:txBody>
                    <a:bodyPr/>
                    <a:lstStyle/>
                    <a:p>
                      <a:pPr algn="l"/>
                      <a:r>
                        <a:rPr sz="700" b="0">
                          <a:solidFill>
                            <a:srgbClr val="000000"/>
                          </a:solidFill>
                          <a:latin typeface="Arial"/>
                        </a:rPr>
                        <a:t>IDX</a:t>
                      </a:r>
                    </a:p>
                  </a:txBody>
                  <a:tcPr marL="64008" marR="64008" marT="9144" marB="9144" anchor="ctr">
                    <a:solidFill>
                      <a:srgbClr val="EAEBF2"/>
                    </a:solidFill>
                  </a:tcPr>
                </a:tc>
                <a:tc>
                  <a:txBody>
                    <a:bodyPr/>
                    <a:lstStyle/>
                    <a:p>
                      <a:pPr algn="l"/>
                      <a:r>
                        <a:rPr sz="700" b="0">
                          <a:solidFill>
                            <a:srgbClr val="000000"/>
                          </a:solidFill>
                          <a:latin typeface="Arial"/>
                        </a:rPr>
                        <a:t>Indicates whether the item is currently available.</a:t>
                      </a:r>
                    </a:p>
                  </a:txBody>
                  <a:tcPr marL="64008" marR="64008" marT="9144" marB="9144" anchor="ctr">
                    <a:solidFill>
                      <a:srgbClr val="EAEBF2"/>
                    </a:solidFill>
                  </a:tcPr>
                </a:tc>
                <a:extLst>
                  <a:ext uri="{0D108BD9-81ED-4DB2-BD59-A6C34878D82A}">
                    <a16:rowId xmlns:a16="http://schemas.microsoft.com/office/drawing/2014/main" val="10023"/>
                  </a:ext>
                </a:extLst>
              </a:tr>
              <a:tr h="199761">
                <a:tc>
                  <a:txBody>
                    <a:bodyPr/>
                    <a:lstStyle/>
                    <a:p>
                      <a:pPr algn="l"/>
                      <a:r>
                        <a:rPr sz="700" b="0">
                          <a:solidFill>
                            <a:srgbClr val="000000"/>
                          </a:solidFill>
                          <a:latin typeface="Arial"/>
                        </a:rPr>
                        <a:t>created_at</a:t>
                      </a:r>
                    </a:p>
                  </a:txBody>
                  <a:tcPr marL="64008" marR="64008" marT="9144" marB="9144" anchor="ctr">
                    <a:solidFill>
                      <a:srgbClr val="D2D5E4"/>
                    </a:solidFill>
                  </a:tcPr>
                </a:tc>
                <a:tc>
                  <a:txBody>
                    <a:bodyPr/>
                    <a:lstStyle/>
                    <a:p>
                      <a:pPr algn="l"/>
                      <a:r>
                        <a:rPr sz="700" b="0">
                          <a:solidFill>
                            <a:srgbClr val="000000"/>
                          </a:solidFill>
                          <a:latin typeface="Arial"/>
                        </a:rPr>
                        <a:t>timestamp</a:t>
                      </a:r>
                    </a:p>
                  </a:txBody>
                  <a:tcPr marL="64008" marR="64008" marT="9144" marB="9144" anchor="ctr">
                    <a:solidFill>
                      <a:srgbClr val="D2D5E4"/>
                    </a:solidFill>
                  </a:tcPr>
                </a:tc>
                <a:tc>
                  <a:txBody>
                    <a:bodyPr/>
                    <a:lstStyle/>
                    <a:p>
                      <a:pPr algn="l"/>
                      <a:r>
                        <a:rPr sz="700" b="0">
                          <a:solidFill>
                            <a:srgbClr val="000000"/>
                          </a:solidFill>
                          <a:latin typeface="Arial"/>
                        </a:rPr>
                        <a:t>—</a:t>
                      </a:r>
                    </a:p>
                  </a:txBody>
                  <a:tcPr marL="64008" marR="64008" marT="9144" marB="9144" anchor="ctr">
                    <a:solidFill>
                      <a:srgbClr val="D2D5E4"/>
                    </a:solidFill>
                  </a:tcPr>
                </a:tc>
                <a:tc>
                  <a:txBody>
                    <a:bodyPr/>
                    <a:lstStyle/>
                    <a:p>
                      <a:pPr algn="l"/>
                      <a:r>
                        <a:rPr sz="700" b="0">
                          <a:solidFill>
                            <a:srgbClr val="000000"/>
                          </a:solidFill>
                          <a:latin typeface="Arial"/>
                        </a:rPr>
                        <a:t>Date and time the record was created.</a:t>
                      </a:r>
                    </a:p>
                  </a:txBody>
                  <a:tcPr marL="64008" marR="64008" marT="9144" marB="9144" anchor="ctr">
                    <a:solidFill>
                      <a:srgbClr val="D2D5E4"/>
                    </a:solidFill>
                  </a:tcPr>
                </a:tc>
                <a:extLst>
                  <a:ext uri="{0D108BD9-81ED-4DB2-BD59-A6C34878D82A}">
                    <a16:rowId xmlns:a16="http://schemas.microsoft.com/office/drawing/2014/main" val="10024"/>
                  </a:ext>
                </a:extLst>
              </a:tr>
              <a:tr h="199761">
                <a:tc>
                  <a:txBody>
                    <a:bodyPr/>
                    <a:lstStyle/>
                    <a:p>
                      <a:pPr algn="l"/>
                      <a:r>
                        <a:rPr sz="700" b="0">
                          <a:solidFill>
                            <a:srgbClr val="000000"/>
                          </a:solidFill>
                          <a:latin typeface="Arial"/>
                        </a:rPr>
                        <a:t>updated_at</a:t>
                      </a:r>
                    </a:p>
                  </a:txBody>
                  <a:tcPr marL="64008" marR="64008" marT="9144" marB="9144" anchor="ctr">
                    <a:solidFill>
                      <a:srgbClr val="EAEBF2"/>
                    </a:solidFill>
                  </a:tcPr>
                </a:tc>
                <a:tc>
                  <a:txBody>
                    <a:bodyPr/>
                    <a:lstStyle/>
                    <a:p>
                      <a:pPr algn="l"/>
                      <a:r>
                        <a:rPr sz="700" b="0">
                          <a:solidFill>
                            <a:srgbClr val="000000"/>
                          </a:solidFill>
                          <a:latin typeface="Arial"/>
                        </a:rPr>
                        <a:t>timestamp</a:t>
                      </a:r>
                    </a:p>
                  </a:txBody>
                  <a:tcPr marL="64008" marR="64008" marT="9144" marB="9144" anchor="ctr">
                    <a:solidFill>
                      <a:srgbClr val="EAEBF2"/>
                    </a:solidFill>
                  </a:tcPr>
                </a:tc>
                <a:tc>
                  <a:txBody>
                    <a:bodyPr/>
                    <a:lstStyle/>
                    <a:p>
                      <a:pPr algn="l"/>
                      <a:r>
                        <a:rPr sz="700" b="0">
                          <a:solidFill>
                            <a:srgbClr val="000000"/>
                          </a:solidFill>
                          <a:latin typeface="Arial"/>
                        </a:rPr>
                        <a:t>—</a:t>
                      </a:r>
                    </a:p>
                  </a:txBody>
                  <a:tcPr marL="64008" marR="64008" marT="9144" marB="9144" anchor="ctr">
                    <a:solidFill>
                      <a:srgbClr val="EAEBF2"/>
                    </a:solidFill>
                  </a:tcPr>
                </a:tc>
                <a:tc>
                  <a:txBody>
                    <a:bodyPr/>
                    <a:lstStyle/>
                    <a:p>
                      <a:pPr algn="l"/>
                      <a:r>
                        <a:rPr sz="700" b="0">
                          <a:solidFill>
                            <a:srgbClr val="000000"/>
                          </a:solidFill>
                          <a:latin typeface="Arial"/>
                        </a:rPr>
                        <a:t>Date and time the record was last updated.</a:t>
                      </a:r>
                    </a:p>
                  </a:txBody>
                  <a:tcPr marL="64008" marR="64008" marT="9144" marB="9144" anchor="ctr">
                    <a:solidFill>
                      <a:srgbClr val="EAEBF2"/>
                    </a:solidFill>
                  </a:tcPr>
                </a:tc>
                <a:extLst>
                  <a:ext uri="{0D108BD9-81ED-4DB2-BD59-A6C34878D82A}">
                    <a16:rowId xmlns:a16="http://schemas.microsoft.com/office/drawing/2014/main" val="1002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3.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3063240" y="0"/>
            <a:ext cx="30175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256032"/>
            <a:ext cx="8229600" cy="6327648"/>
          </a:xfrm>
          <a:prstGeom prst="rect">
            <a:avLst/>
          </a:prstGeom>
          <a:solidFill>
            <a:srgbClr val="FFFFFF"/>
          </a:solidFill>
          <a:ln w="10160">
            <a:solidFill>
              <a:srgbClr val="696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47288" y="36576"/>
            <a:ext cx="2249424" cy="438912"/>
          </a:xfrm>
          <a:prstGeom prst="rect">
            <a:avLst/>
          </a:prstGeom>
          <a:solidFill>
            <a:srgbClr val="9C5252"/>
          </a:solidFill>
          <a:ln w="12700">
            <a:solidFill>
              <a:srgbClr val="7E9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00000"/>
                </a:solidFill>
                <a:latin typeface="Times New Roman"/>
              </a:rPr>
              <a:t>Data Dictionary</a:t>
            </a:r>
          </a:p>
        </p:txBody>
      </p:sp>
      <p:sp>
        <p:nvSpPr>
          <p:cNvPr id="6" name="Rectangle 5"/>
          <p:cNvSpPr/>
          <p:nvPr/>
        </p:nvSpPr>
        <p:spPr>
          <a:xfrm>
            <a:off x="3502152" y="832104"/>
            <a:ext cx="1737360" cy="32004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00000"/>
                </a:solidFill>
                <a:latin typeface="Arial"/>
              </a:rPr>
              <a:t>Table : food_variants</a:t>
            </a:r>
          </a:p>
        </p:txBody>
      </p:sp>
      <p:sp>
        <p:nvSpPr>
          <p:cNvPr id="7" name="TextBox 6"/>
          <p:cNvSpPr txBox="1"/>
          <p:nvPr/>
        </p:nvSpPr>
        <p:spPr>
          <a:xfrm>
            <a:off x="5312664" y="832104"/>
            <a:ext cx="320040" cy="320040"/>
          </a:xfrm>
          <a:prstGeom prst="rect">
            <a:avLst/>
          </a:prstGeom>
          <a:noFill/>
        </p:spPr>
        <p:txBody>
          <a:bodyPr wrap="none" anchor="ctr">
            <a:spAutoFit/>
          </a:bodyPr>
          <a:lstStyle/>
          <a:p>
            <a:pPr algn="l"/>
            <a:r>
              <a:rPr sz="1100">
                <a:solidFill>
                  <a:srgbClr val="000000"/>
                </a:solidFill>
                <a:latin typeface="Arial"/>
              </a:rPr>
              <a:t>:-</a:t>
            </a:r>
          </a:p>
        </p:txBody>
      </p:sp>
      <p:graphicFrame>
        <p:nvGraphicFramePr>
          <p:cNvPr id="8" name="Table 7"/>
          <p:cNvGraphicFramePr>
            <a:graphicFrameLocks noGrp="1"/>
          </p:cNvGraphicFramePr>
          <p:nvPr/>
        </p:nvGraphicFramePr>
        <p:xfrm>
          <a:off x="1170432" y="1225296"/>
          <a:ext cx="6949440" cy="5193783"/>
        </p:xfrm>
        <a:graphic>
          <a:graphicData uri="http://schemas.openxmlformats.org/drawingml/2006/table">
            <a:tbl>
              <a:tblPr firstRow="1" bandRow="1">
                <a:tableStyleId>{5C22544A-7EE6-4342-B048-85BDC9FD1C3A}</a:tableStyleId>
              </a:tblPr>
              <a:tblGrid>
                <a:gridCol w="1572768">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273357">
                <a:tc>
                  <a:txBody>
                    <a:bodyPr/>
                    <a:lstStyle/>
                    <a:p>
                      <a:pPr algn="l"/>
                      <a:r>
                        <a:rPr sz="950" b="1">
                          <a:solidFill>
                            <a:srgbClr val="FFFFFF"/>
                          </a:solidFill>
                          <a:latin typeface="Arial"/>
                        </a:rPr>
                        <a:t>Field Name</a:t>
                      </a:r>
                    </a:p>
                  </a:txBody>
                  <a:tcPr marL="64008" marR="64008" marT="9144" marB="9144" anchor="ctr">
                    <a:solidFill>
                      <a:srgbClr val="6076B4"/>
                    </a:solidFill>
                  </a:tcPr>
                </a:tc>
                <a:tc>
                  <a:txBody>
                    <a:bodyPr/>
                    <a:lstStyle/>
                    <a:p>
                      <a:pPr algn="l"/>
                      <a:r>
                        <a:rPr sz="950" b="1">
                          <a:solidFill>
                            <a:srgbClr val="FFFFFF"/>
                          </a:solidFill>
                          <a:latin typeface="Arial"/>
                        </a:rPr>
                        <a:t>Data Type</a:t>
                      </a:r>
                    </a:p>
                  </a:txBody>
                  <a:tcPr marL="64008" marR="64008" marT="9144" marB="9144" anchor="ctr">
                    <a:solidFill>
                      <a:srgbClr val="6076B4"/>
                    </a:solidFill>
                  </a:tcPr>
                </a:tc>
                <a:tc>
                  <a:txBody>
                    <a:bodyPr/>
                    <a:lstStyle/>
                    <a:p>
                      <a:pPr algn="l"/>
                      <a:r>
                        <a:rPr sz="950" b="1">
                          <a:solidFill>
                            <a:srgbClr val="FFFFFF"/>
                          </a:solidFill>
                          <a:latin typeface="Arial"/>
                        </a:rPr>
                        <a:t>Key</a:t>
                      </a:r>
                    </a:p>
                  </a:txBody>
                  <a:tcPr marL="64008" marR="64008" marT="9144" marB="9144" anchor="ctr">
                    <a:solidFill>
                      <a:srgbClr val="6076B4"/>
                    </a:solidFill>
                  </a:tcPr>
                </a:tc>
                <a:tc>
                  <a:txBody>
                    <a:bodyPr/>
                    <a:lstStyle/>
                    <a:p>
                      <a:pPr algn="l"/>
                      <a:r>
                        <a:rPr sz="950" b="1">
                          <a:solidFill>
                            <a:srgbClr val="FFFFFF"/>
                          </a:solidFill>
                          <a:latin typeface="Arial"/>
                        </a:rPr>
                        <a:t>Description</a:t>
                      </a:r>
                    </a:p>
                  </a:txBody>
                  <a:tcPr marL="64008" marR="64008" marT="9144" marB="9144" anchor="ctr">
                    <a:solidFill>
                      <a:srgbClr val="6076B4"/>
                    </a:solidFill>
                  </a:tcPr>
                </a:tc>
                <a:extLst>
                  <a:ext uri="{0D108BD9-81ED-4DB2-BD59-A6C34878D82A}">
                    <a16:rowId xmlns:a16="http://schemas.microsoft.com/office/drawing/2014/main" val="10000"/>
                  </a:ext>
                </a:extLst>
              </a:tr>
              <a:tr h="273357">
                <a:tc>
                  <a:txBody>
                    <a:bodyPr/>
                    <a:lstStyle/>
                    <a:p>
                      <a:pPr algn="l"/>
                      <a:r>
                        <a:rPr sz="800" b="0">
                          <a:solidFill>
                            <a:srgbClr val="000000"/>
                          </a:solidFill>
                          <a:latin typeface="Arial"/>
                        </a:rPr>
                        <a:t>id</a:t>
                      </a:r>
                    </a:p>
                  </a:txBody>
                  <a:tcPr marL="64008" marR="64008" marT="9144" marB="9144" anchor="ctr">
                    <a:solidFill>
                      <a:srgbClr val="EAEBF2"/>
                    </a:solidFill>
                  </a:tcPr>
                </a:tc>
                <a:tc>
                  <a:txBody>
                    <a:bodyPr/>
                    <a:lstStyle/>
                    <a:p>
                      <a:pPr algn="l"/>
                      <a:r>
                        <a:rPr sz="800" b="0">
                          <a:solidFill>
                            <a:srgbClr val="000000"/>
                          </a:solidFill>
                          <a:latin typeface="Arial"/>
                        </a:rPr>
                        <a:t>bigint(20) unsigned</a:t>
                      </a:r>
                    </a:p>
                  </a:txBody>
                  <a:tcPr marL="64008" marR="64008" marT="9144" marB="9144" anchor="ctr">
                    <a:solidFill>
                      <a:srgbClr val="EAEBF2"/>
                    </a:solidFill>
                  </a:tcPr>
                </a:tc>
                <a:tc>
                  <a:txBody>
                    <a:bodyPr/>
                    <a:lstStyle/>
                    <a:p>
                      <a:pPr algn="l"/>
                      <a:r>
                        <a:rPr sz="800" b="0">
                          <a:solidFill>
                            <a:srgbClr val="000000"/>
                          </a:solidFill>
                          <a:latin typeface="Arial"/>
                        </a:rPr>
                        <a:t>PK</a:t>
                      </a:r>
                    </a:p>
                  </a:txBody>
                  <a:tcPr marL="64008" marR="64008" marT="9144" marB="9144" anchor="ctr">
                    <a:solidFill>
                      <a:srgbClr val="EAEBF2"/>
                    </a:solidFill>
                  </a:tcPr>
                </a:tc>
                <a:tc>
                  <a:txBody>
                    <a:bodyPr/>
                    <a:lstStyle/>
                    <a:p>
                      <a:pPr algn="l"/>
                      <a:r>
                        <a:rPr sz="800" b="0">
                          <a:solidFill>
                            <a:srgbClr val="000000"/>
                          </a:solidFill>
                          <a:latin typeface="Arial"/>
                        </a:rPr>
                        <a:t>Unique food variant ID.</a:t>
                      </a:r>
                    </a:p>
                  </a:txBody>
                  <a:tcPr marL="64008" marR="64008" marT="9144" marB="9144" anchor="ctr">
                    <a:solidFill>
                      <a:srgbClr val="EAEBF2"/>
                    </a:solidFill>
                  </a:tcPr>
                </a:tc>
                <a:extLst>
                  <a:ext uri="{0D108BD9-81ED-4DB2-BD59-A6C34878D82A}">
                    <a16:rowId xmlns:a16="http://schemas.microsoft.com/office/drawing/2014/main" val="10001"/>
                  </a:ext>
                </a:extLst>
              </a:tr>
              <a:tr h="273357">
                <a:tc>
                  <a:txBody>
                    <a:bodyPr/>
                    <a:lstStyle/>
                    <a:p>
                      <a:pPr algn="l"/>
                      <a:r>
                        <a:rPr sz="800" b="0">
                          <a:solidFill>
                            <a:srgbClr val="000000"/>
                          </a:solidFill>
                          <a:latin typeface="Arial"/>
                        </a:rPr>
                        <a:t>food_item_id</a:t>
                      </a:r>
                    </a:p>
                  </a:txBody>
                  <a:tcPr marL="64008" marR="64008" marT="9144" marB="9144" anchor="ctr">
                    <a:solidFill>
                      <a:srgbClr val="D2D5E4"/>
                    </a:solidFill>
                  </a:tcPr>
                </a:tc>
                <a:tc>
                  <a:txBody>
                    <a:bodyPr/>
                    <a:lstStyle/>
                    <a:p>
                      <a:pPr algn="l"/>
                      <a:r>
                        <a:rPr sz="800" b="0">
                          <a:solidFill>
                            <a:srgbClr val="000000"/>
                          </a:solidFill>
                          <a:latin typeface="Arial"/>
                        </a:rPr>
                        <a:t>bigint(20) unsigned</a:t>
                      </a:r>
                    </a:p>
                  </a:txBody>
                  <a:tcPr marL="64008" marR="64008" marT="9144" marB="9144" anchor="ctr">
                    <a:solidFill>
                      <a:srgbClr val="D2D5E4"/>
                    </a:solidFill>
                  </a:tcPr>
                </a:tc>
                <a:tc>
                  <a:txBody>
                    <a:bodyPr/>
                    <a:lstStyle/>
                    <a:p>
                      <a:pPr algn="l"/>
                      <a:r>
                        <a:rPr sz="800" b="0">
                          <a:solidFill>
                            <a:srgbClr val="000000"/>
                          </a:solidFill>
                          <a:latin typeface="Arial"/>
                        </a:rPr>
                        <a:t>FK/IDX</a:t>
                      </a:r>
                    </a:p>
                  </a:txBody>
                  <a:tcPr marL="64008" marR="64008" marT="9144" marB="9144" anchor="ctr">
                    <a:solidFill>
                      <a:srgbClr val="D2D5E4"/>
                    </a:solidFill>
                  </a:tcPr>
                </a:tc>
                <a:tc>
                  <a:txBody>
                    <a:bodyPr/>
                    <a:lstStyle/>
                    <a:p>
                      <a:pPr algn="l"/>
                      <a:r>
                        <a:rPr sz="800" b="0">
                          <a:solidFill>
                            <a:srgbClr val="000000"/>
                          </a:solidFill>
                          <a:latin typeface="Arial"/>
                        </a:rPr>
                        <a:t>Links the variant to a food item.</a:t>
                      </a:r>
                    </a:p>
                  </a:txBody>
                  <a:tcPr marL="64008" marR="64008" marT="9144" marB="9144" anchor="ctr">
                    <a:solidFill>
                      <a:srgbClr val="D2D5E4"/>
                    </a:solidFill>
                  </a:tcPr>
                </a:tc>
                <a:extLst>
                  <a:ext uri="{0D108BD9-81ED-4DB2-BD59-A6C34878D82A}">
                    <a16:rowId xmlns:a16="http://schemas.microsoft.com/office/drawing/2014/main" val="10002"/>
                  </a:ext>
                </a:extLst>
              </a:tr>
              <a:tr h="273357">
                <a:tc>
                  <a:txBody>
                    <a:bodyPr/>
                    <a:lstStyle/>
                    <a:p>
                      <a:pPr algn="l"/>
                      <a:r>
                        <a:rPr sz="800" b="0">
                          <a:solidFill>
                            <a:srgbClr val="000000"/>
                          </a:solidFill>
                          <a:latin typeface="Arial"/>
                        </a:rPr>
                        <a:t>name</a:t>
                      </a:r>
                    </a:p>
                  </a:txBody>
                  <a:tcPr marL="64008" marR="64008" marT="9144" marB="9144" anchor="ctr">
                    <a:solidFill>
                      <a:srgbClr val="EAEBF2"/>
                    </a:solidFill>
                  </a:tcPr>
                </a:tc>
                <a:tc>
                  <a:txBody>
                    <a:bodyPr/>
                    <a:lstStyle/>
                    <a:p>
                      <a:pPr algn="l"/>
                      <a:r>
                        <a:rPr sz="800" b="0">
                          <a:solidFill>
                            <a:srgbClr val="000000"/>
                          </a:solidFill>
                          <a:latin typeface="Arial"/>
                        </a:rPr>
                        <a:t>varchar(100)</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Variant or portion name.</a:t>
                      </a:r>
                    </a:p>
                  </a:txBody>
                  <a:tcPr marL="64008" marR="64008" marT="9144" marB="9144" anchor="ctr">
                    <a:solidFill>
                      <a:srgbClr val="EAEBF2"/>
                    </a:solidFill>
                  </a:tcPr>
                </a:tc>
                <a:extLst>
                  <a:ext uri="{0D108BD9-81ED-4DB2-BD59-A6C34878D82A}">
                    <a16:rowId xmlns:a16="http://schemas.microsoft.com/office/drawing/2014/main" val="10003"/>
                  </a:ext>
                </a:extLst>
              </a:tr>
              <a:tr h="273357">
                <a:tc>
                  <a:txBody>
                    <a:bodyPr/>
                    <a:lstStyle/>
                    <a:p>
                      <a:pPr algn="l"/>
                      <a:r>
                        <a:rPr sz="800" b="0">
                          <a:solidFill>
                            <a:srgbClr val="000000"/>
                          </a:solidFill>
                          <a:latin typeface="Arial"/>
                        </a:rPr>
                        <a:t>description</a:t>
                      </a:r>
                    </a:p>
                  </a:txBody>
                  <a:tcPr marL="64008" marR="64008" marT="9144" marB="9144" anchor="ctr">
                    <a:solidFill>
                      <a:srgbClr val="D2D5E4"/>
                    </a:solidFill>
                  </a:tcPr>
                </a:tc>
                <a:tc>
                  <a:txBody>
                    <a:bodyPr/>
                    <a:lstStyle/>
                    <a:p>
                      <a:pPr algn="l"/>
                      <a:r>
                        <a:rPr sz="800" b="0">
                          <a:solidFill>
                            <a:srgbClr val="000000"/>
                          </a:solidFill>
                          <a:latin typeface="Arial"/>
                        </a:rPr>
                        <a:t>varchar(255)</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Description of the variant.</a:t>
                      </a:r>
                    </a:p>
                  </a:txBody>
                  <a:tcPr marL="64008" marR="64008" marT="9144" marB="9144" anchor="ctr">
                    <a:solidFill>
                      <a:srgbClr val="D2D5E4"/>
                    </a:solidFill>
                  </a:tcPr>
                </a:tc>
                <a:extLst>
                  <a:ext uri="{0D108BD9-81ED-4DB2-BD59-A6C34878D82A}">
                    <a16:rowId xmlns:a16="http://schemas.microsoft.com/office/drawing/2014/main" val="10004"/>
                  </a:ext>
                </a:extLst>
              </a:tr>
              <a:tr h="273357">
                <a:tc>
                  <a:txBody>
                    <a:bodyPr/>
                    <a:lstStyle/>
                    <a:p>
                      <a:pPr algn="l"/>
                      <a:r>
                        <a:rPr sz="800" b="0">
                          <a:solidFill>
                            <a:srgbClr val="000000"/>
                          </a:solidFill>
                          <a:latin typeface="Arial"/>
                        </a:rPr>
                        <a:t>price_adjustment</a:t>
                      </a:r>
                    </a:p>
                  </a:txBody>
                  <a:tcPr marL="64008" marR="64008" marT="9144" marB="9144" anchor="ctr">
                    <a:solidFill>
                      <a:srgbClr val="EAEBF2"/>
                    </a:solidFill>
                  </a:tcPr>
                </a:tc>
                <a:tc>
                  <a:txBody>
                    <a:bodyPr/>
                    <a:lstStyle/>
                    <a:p>
                      <a:pPr algn="l"/>
                      <a:r>
                        <a:rPr sz="800" b="0">
                          <a:solidFill>
                            <a:srgbClr val="000000"/>
                          </a:solidFill>
                          <a:latin typeface="Arial"/>
                        </a:rPr>
                        <a:t>decimal(10,2)</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Price adjustment for the variant.</a:t>
                      </a:r>
                    </a:p>
                  </a:txBody>
                  <a:tcPr marL="64008" marR="64008" marT="9144" marB="9144" anchor="ctr">
                    <a:solidFill>
                      <a:srgbClr val="EAEBF2"/>
                    </a:solidFill>
                  </a:tcPr>
                </a:tc>
                <a:extLst>
                  <a:ext uri="{0D108BD9-81ED-4DB2-BD59-A6C34878D82A}">
                    <a16:rowId xmlns:a16="http://schemas.microsoft.com/office/drawing/2014/main" val="10005"/>
                  </a:ext>
                </a:extLst>
              </a:tr>
              <a:tr h="273357">
                <a:tc>
                  <a:txBody>
                    <a:bodyPr/>
                    <a:lstStyle/>
                    <a:p>
                      <a:pPr algn="l"/>
                      <a:r>
                        <a:rPr sz="800" b="0">
                          <a:solidFill>
                            <a:srgbClr val="000000"/>
                          </a:solidFill>
                          <a:latin typeface="Arial"/>
                        </a:rPr>
                        <a:t>calories_adjustment</a:t>
                      </a:r>
                    </a:p>
                  </a:txBody>
                  <a:tcPr marL="64008" marR="64008" marT="9144" marB="9144" anchor="ctr">
                    <a:solidFill>
                      <a:srgbClr val="D2D5E4"/>
                    </a:solidFill>
                  </a:tcPr>
                </a:tc>
                <a:tc>
                  <a:txBody>
                    <a:bodyPr/>
                    <a:lstStyle/>
                    <a:p>
                      <a:pPr algn="l"/>
                      <a:r>
                        <a:rPr sz="800" b="0">
                          <a:solidFill>
                            <a:srgbClr val="000000"/>
                          </a:solidFill>
                          <a:latin typeface="Arial"/>
                        </a:rPr>
                        <a:t>int(11)</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Calories adjustment.</a:t>
                      </a:r>
                    </a:p>
                  </a:txBody>
                  <a:tcPr marL="64008" marR="64008" marT="9144" marB="9144" anchor="ctr">
                    <a:solidFill>
                      <a:srgbClr val="D2D5E4"/>
                    </a:solidFill>
                  </a:tcPr>
                </a:tc>
                <a:extLst>
                  <a:ext uri="{0D108BD9-81ED-4DB2-BD59-A6C34878D82A}">
                    <a16:rowId xmlns:a16="http://schemas.microsoft.com/office/drawing/2014/main" val="10006"/>
                  </a:ext>
                </a:extLst>
              </a:tr>
              <a:tr h="273357">
                <a:tc>
                  <a:txBody>
                    <a:bodyPr/>
                    <a:lstStyle/>
                    <a:p>
                      <a:pPr algn="l"/>
                      <a:r>
                        <a:rPr sz="800" b="0">
                          <a:solidFill>
                            <a:srgbClr val="000000"/>
                          </a:solidFill>
                          <a:latin typeface="Arial"/>
                        </a:rPr>
                        <a:t>protein_adjustment</a:t>
                      </a:r>
                    </a:p>
                  </a:txBody>
                  <a:tcPr marL="64008" marR="64008" marT="9144" marB="9144" anchor="ctr">
                    <a:solidFill>
                      <a:srgbClr val="EAEBF2"/>
                    </a:solidFill>
                  </a:tcPr>
                </a:tc>
                <a:tc>
                  <a:txBody>
                    <a:bodyPr/>
                    <a:lstStyle/>
                    <a:p>
                      <a:pPr algn="l"/>
                      <a:r>
                        <a:rPr sz="800" b="0">
                          <a:solidFill>
                            <a:srgbClr val="000000"/>
                          </a:solidFill>
                          <a:latin typeface="Arial"/>
                        </a:rPr>
                        <a:t>decimal(6,2)</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Protein adjustment in grams.</a:t>
                      </a:r>
                    </a:p>
                  </a:txBody>
                  <a:tcPr marL="64008" marR="64008" marT="9144" marB="9144" anchor="ctr">
                    <a:solidFill>
                      <a:srgbClr val="EAEBF2"/>
                    </a:solidFill>
                  </a:tcPr>
                </a:tc>
                <a:extLst>
                  <a:ext uri="{0D108BD9-81ED-4DB2-BD59-A6C34878D82A}">
                    <a16:rowId xmlns:a16="http://schemas.microsoft.com/office/drawing/2014/main" val="10007"/>
                  </a:ext>
                </a:extLst>
              </a:tr>
              <a:tr h="273357">
                <a:tc>
                  <a:txBody>
                    <a:bodyPr/>
                    <a:lstStyle/>
                    <a:p>
                      <a:pPr algn="l"/>
                      <a:r>
                        <a:rPr sz="800" b="0">
                          <a:solidFill>
                            <a:srgbClr val="000000"/>
                          </a:solidFill>
                          <a:latin typeface="Arial"/>
                        </a:rPr>
                        <a:t>carbs_adjustment</a:t>
                      </a:r>
                    </a:p>
                  </a:txBody>
                  <a:tcPr marL="64008" marR="64008" marT="9144" marB="9144" anchor="ctr">
                    <a:solidFill>
                      <a:srgbClr val="D2D5E4"/>
                    </a:solidFill>
                  </a:tcPr>
                </a:tc>
                <a:tc>
                  <a:txBody>
                    <a:bodyPr/>
                    <a:lstStyle/>
                    <a:p>
                      <a:pPr algn="l"/>
                      <a:r>
                        <a:rPr sz="800" b="0">
                          <a:solidFill>
                            <a:srgbClr val="000000"/>
                          </a:solidFill>
                          <a:latin typeface="Arial"/>
                        </a:rPr>
                        <a:t>decimal(6,2)</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Carbohydrate adjustment in grams.</a:t>
                      </a:r>
                    </a:p>
                  </a:txBody>
                  <a:tcPr marL="64008" marR="64008" marT="9144" marB="9144" anchor="ctr">
                    <a:solidFill>
                      <a:srgbClr val="D2D5E4"/>
                    </a:solidFill>
                  </a:tcPr>
                </a:tc>
                <a:extLst>
                  <a:ext uri="{0D108BD9-81ED-4DB2-BD59-A6C34878D82A}">
                    <a16:rowId xmlns:a16="http://schemas.microsoft.com/office/drawing/2014/main" val="10008"/>
                  </a:ext>
                </a:extLst>
              </a:tr>
              <a:tr h="273357">
                <a:tc>
                  <a:txBody>
                    <a:bodyPr/>
                    <a:lstStyle/>
                    <a:p>
                      <a:pPr algn="l"/>
                      <a:r>
                        <a:rPr sz="800" b="0">
                          <a:solidFill>
                            <a:srgbClr val="000000"/>
                          </a:solidFill>
                          <a:latin typeface="Arial"/>
                        </a:rPr>
                        <a:t>fat_adjustment</a:t>
                      </a:r>
                    </a:p>
                  </a:txBody>
                  <a:tcPr marL="64008" marR="64008" marT="9144" marB="9144" anchor="ctr">
                    <a:solidFill>
                      <a:srgbClr val="EAEBF2"/>
                    </a:solidFill>
                  </a:tcPr>
                </a:tc>
                <a:tc>
                  <a:txBody>
                    <a:bodyPr/>
                    <a:lstStyle/>
                    <a:p>
                      <a:pPr algn="l"/>
                      <a:r>
                        <a:rPr sz="800" b="0">
                          <a:solidFill>
                            <a:srgbClr val="000000"/>
                          </a:solidFill>
                          <a:latin typeface="Arial"/>
                        </a:rPr>
                        <a:t>decimal(6,2)</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Fat adjustment in grams.</a:t>
                      </a:r>
                    </a:p>
                  </a:txBody>
                  <a:tcPr marL="64008" marR="64008" marT="9144" marB="9144" anchor="ctr">
                    <a:solidFill>
                      <a:srgbClr val="EAEBF2"/>
                    </a:solidFill>
                  </a:tcPr>
                </a:tc>
                <a:extLst>
                  <a:ext uri="{0D108BD9-81ED-4DB2-BD59-A6C34878D82A}">
                    <a16:rowId xmlns:a16="http://schemas.microsoft.com/office/drawing/2014/main" val="10009"/>
                  </a:ext>
                </a:extLst>
              </a:tr>
              <a:tr h="273357">
                <a:tc>
                  <a:txBody>
                    <a:bodyPr/>
                    <a:lstStyle/>
                    <a:p>
                      <a:pPr algn="l"/>
                      <a:r>
                        <a:rPr sz="800" b="0">
                          <a:solidFill>
                            <a:srgbClr val="000000"/>
                          </a:solidFill>
                          <a:latin typeface="Arial"/>
                        </a:rPr>
                        <a:t>fiber_adjustment</a:t>
                      </a:r>
                    </a:p>
                  </a:txBody>
                  <a:tcPr marL="64008" marR="64008" marT="9144" marB="9144" anchor="ctr">
                    <a:solidFill>
                      <a:srgbClr val="D2D5E4"/>
                    </a:solidFill>
                  </a:tcPr>
                </a:tc>
                <a:tc>
                  <a:txBody>
                    <a:bodyPr/>
                    <a:lstStyle/>
                    <a:p>
                      <a:pPr algn="l"/>
                      <a:r>
                        <a:rPr sz="800" b="0">
                          <a:solidFill>
                            <a:srgbClr val="000000"/>
                          </a:solidFill>
                          <a:latin typeface="Arial"/>
                        </a:rPr>
                        <a:t>decimal(6,2)</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Fiber adjustment in grams.</a:t>
                      </a:r>
                    </a:p>
                  </a:txBody>
                  <a:tcPr marL="64008" marR="64008" marT="9144" marB="9144" anchor="ctr">
                    <a:solidFill>
                      <a:srgbClr val="D2D5E4"/>
                    </a:solidFill>
                  </a:tcPr>
                </a:tc>
                <a:extLst>
                  <a:ext uri="{0D108BD9-81ED-4DB2-BD59-A6C34878D82A}">
                    <a16:rowId xmlns:a16="http://schemas.microsoft.com/office/drawing/2014/main" val="10010"/>
                  </a:ext>
                </a:extLst>
              </a:tr>
              <a:tr h="273357">
                <a:tc>
                  <a:txBody>
                    <a:bodyPr/>
                    <a:lstStyle/>
                    <a:p>
                      <a:pPr algn="l"/>
                      <a:r>
                        <a:rPr sz="800" b="0">
                          <a:solidFill>
                            <a:srgbClr val="000000"/>
                          </a:solidFill>
                          <a:latin typeface="Arial"/>
                        </a:rPr>
                        <a:t>sugar_adjustment</a:t>
                      </a:r>
                    </a:p>
                  </a:txBody>
                  <a:tcPr marL="64008" marR="64008" marT="9144" marB="9144" anchor="ctr">
                    <a:solidFill>
                      <a:srgbClr val="EAEBF2"/>
                    </a:solidFill>
                  </a:tcPr>
                </a:tc>
                <a:tc>
                  <a:txBody>
                    <a:bodyPr/>
                    <a:lstStyle/>
                    <a:p>
                      <a:pPr algn="l"/>
                      <a:r>
                        <a:rPr sz="800" b="0">
                          <a:solidFill>
                            <a:srgbClr val="000000"/>
                          </a:solidFill>
                          <a:latin typeface="Arial"/>
                        </a:rPr>
                        <a:t>decimal(6,2)</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Sugar adjustment in grams.</a:t>
                      </a:r>
                    </a:p>
                  </a:txBody>
                  <a:tcPr marL="64008" marR="64008" marT="9144" marB="9144" anchor="ctr">
                    <a:solidFill>
                      <a:srgbClr val="EAEBF2"/>
                    </a:solidFill>
                  </a:tcPr>
                </a:tc>
                <a:extLst>
                  <a:ext uri="{0D108BD9-81ED-4DB2-BD59-A6C34878D82A}">
                    <a16:rowId xmlns:a16="http://schemas.microsoft.com/office/drawing/2014/main" val="10011"/>
                  </a:ext>
                </a:extLst>
              </a:tr>
              <a:tr h="273357">
                <a:tc>
                  <a:txBody>
                    <a:bodyPr/>
                    <a:lstStyle/>
                    <a:p>
                      <a:pPr algn="l"/>
                      <a:r>
                        <a:rPr sz="800" b="0">
                          <a:solidFill>
                            <a:srgbClr val="000000"/>
                          </a:solidFill>
                          <a:latin typeface="Arial"/>
                        </a:rPr>
                        <a:t>sodium_adjustment</a:t>
                      </a:r>
                    </a:p>
                  </a:txBody>
                  <a:tcPr marL="64008" marR="64008" marT="9144" marB="9144" anchor="ctr">
                    <a:solidFill>
                      <a:srgbClr val="D2D5E4"/>
                    </a:solidFill>
                  </a:tcPr>
                </a:tc>
                <a:tc>
                  <a:txBody>
                    <a:bodyPr/>
                    <a:lstStyle/>
                    <a:p>
                      <a:pPr algn="l"/>
                      <a:r>
                        <a:rPr sz="800" b="0">
                          <a:solidFill>
                            <a:srgbClr val="000000"/>
                          </a:solidFill>
                          <a:latin typeface="Arial"/>
                        </a:rPr>
                        <a:t>decimal(7,2)</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Sodium adjustment in milligrams.</a:t>
                      </a:r>
                    </a:p>
                  </a:txBody>
                  <a:tcPr marL="64008" marR="64008" marT="9144" marB="9144" anchor="ctr">
                    <a:solidFill>
                      <a:srgbClr val="D2D5E4"/>
                    </a:solidFill>
                  </a:tcPr>
                </a:tc>
                <a:extLst>
                  <a:ext uri="{0D108BD9-81ED-4DB2-BD59-A6C34878D82A}">
                    <a16:rowId xmlns:a16="http://schemas.microsoft.com/office/drawing/2014/main" val="10012"/>
                  </a:ext>
                </a:extLst>
              </a:tr>
              <a:tr h="273357">
                <a:tc>
                  <a:txBody>
                    <a:bodyPr/>
                    <a:lstStyle/>
                    <a:p>
                      <a:pPr algn="l"/>
                      <a:r>
                        <a:rPr sz="800" b="0">
                          <a:solidFill>
                            <a:srgbClr val="000000"/>
                          </a:solidFill>
                          <a:latin typeface="Arial"/>
                        </a:rPr>
                        <a:t>caffeine_adjustment</a:t>
                      </a:r>
                    </a:p>
                  </a:txBody>
                  <a:tcPr marL="64008" marR="64008" marT="9144" marB="9144" anchor="ctr">
                    <a:solidFill>
                      <a:srgbClr val="EAEBF2"/>
                    </a:solidFill>
                  </a:tcPr>
                </a:tc>
                <a:tc>
                  <a:txBody>
                    <a:bodyPr/>
                    <a:lstStyle/>
                    <a:p>
                      <a:pPr algn="l"/>
                      <a:r>
                        <a:rPr sz="800" b="0">
                          <a:solidFill>
                            <a:srgbClr val="000000"/>
                          </a:solidFill>
                          <a:latin typeface="Arial"/>
                        </a:rPr>
                        <a:t>decimal(6,2)</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Caffeine adjustment.</a:t>
                      </a:r>
                    </a:p>
                  </a:txBody>
                  <a:tcPr marL="64008" marR="64008" marT="9144" marB="9144" anchor="ctr">
                    <a:solidFill>
                      <a:srgbClr val="EAEBF2"/>
                    </a:solidFill>
                  </a:tcPr>
                </a:tc>
                <a:extLst>
                  <a:ext uri="{0D108BD9-81ED-4DB2-BD59-A6C34878D82A}">
                    <a16:rowId xmlns:a16="http://schemas.microsoft.com/office/drawing/2014/main" val="10013"/>
                  </a:ext>
                </a:extLst>
              </a:tr>
              <a:tr h="273357">
                <a:tc>
                  <a:txBody>
                    <a:bodyPr/>
                    <a:lstStyle/>
                    <a:p>
                      <a:pPr algn="l"/>
                      <a:r>
                        <a:rPr sz="800" b="0">
                          <a:solidFill>
                            <a:srgbClr val="000000"/>
                          </a:solidFill>
                          <a:latin typeface="Arial"/>
                        </a:rPr>
                        <a:t>is_required</a:t>
                      </a:r>
                    </a:p>
                  </a:txBody>
                  <a:tcPr marL="64008" marR="64008" marT="9144" marB="9144" anchor="ctr">
                    <a:solidFill>
                      <a:srgbClr val="D2D5E4"/>
                    </a:solidFill>
                  </a:tcPr>
                </a:tc>
                <a:tc>
                  <a:txBody>
                    <a:bodyPr/>
                    <a:lstStyle/>
                    <a:p>
                      <a:pPr algn="l"/>
                      <a:r>
                        <a:rPr sz="800" b="0">
                          <a:solidFill>
                            <a:srgbClr val="000000"/>
                          </a:solidFill>
                          <a:latin typeface="Arial"/>
                        </a:rPr>
                        <a:t>tinyint(1)</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Indicates whether a variant is required.</a:t>
                      </a:r>
                    </a:p>
                  </a:txBody>
                  <a:tcPr marL="64008" marR="64008" marT="9144" marB="9144" anchor="ctr">
                    <a:solidFill>
                      <a:srgbClr val="D2D5E4"/>
                    </a:solidFill>
                  </a:tcPr>
                </a:tc>
                <a:extLst>
                  <a:ext uri="{0D108BD9-81ED-4DB2-BD59-A6C34878D82A}">
                    <a16:rowId xmlns:a16="http://schemas.microsoft.com/office/drawing/2014/main" val="10014"/>
                  </a:ext>
                </a:extLst>
              </a:tr>
              <a:tr h="273357">
                <a:tc>
                  <a:txBody>
                    <a:bodyPr/>
                    <a:lstStyle/>
                    <a:p>
                      <a:pPr algn="l"/>
                      <a:r>
                        <a:rPr sz="800" b="0">
                          <a:solidFill>
                            <a:srgbClr val="000000"/>
                          </a:solidFill>
                          <a:latin typeface="Arial"/>
                        </a:rPr>
                        <a:t>is_available</a:t>
                      </a:r>
                    </a:p>
                  </a:txBody>
                  <a:tcPr marL="64008" marR="64008" marT="9144" marB="9144" anchor="ctr">
                    <a:solidFill>
                      <a:srgbClr val="EAEBF2"/>
                    </a:solidFill>
                  </a:tcPr>
                </a:tc>
                <a:tc>
                  <a:txBody>
                    <a:bodyPr/>
                    <a:lstStyle/>
                    <a:p>
                      <a:pPr algn="l"/>
                      <a:r>
                        <a:rPr sz="800" b="0">
                          <a:solidFill>
                            <a:srgbClr val="000000"/>
                          </a:solidFill>
                          <a:latin typeface="Arial"/>
                        </a:rPr>
                        <a:t>tinyint(1)</a:t>
                      </a:r>
                    </a:p>
                  </a:txBody>
                  <a:tcPr marL="64008" marR="64008" marT="9144" marB="9144" anchor="ctr">
                    <a:solidFill>
                      <a:srgbClr val="EAEBF2"/>
                    </a:solidFill>
                  </a:tcPr>
                </a:tc>
                <a:tc>
                  <a:txBody>
                    <a:bodyPr/>
                    <a:lstStyle/>
                    <a:p>
                      <a:pPr algn="l"/>
                      <a:r>
                        <a:rPr sz="800" b="0">
                          <a:solidFill>
                            <a:srgbClr val="000000"/>
                          </a:solidFill>
                          <a:latin typeface="Arial"/>
                        </a:rPr>
                        <a:t>IDX</a:t>
                      </a:r>
                    </a:p>
                  </a:txBody>
                  <a:tcPr marL="64008" marR="64008" marT="9144" marB="9144" anchor="ctr">
                    <a:solidFill>
                      <a:srgbClr val="EAEBF2"/>
                    </a:solidFill>
                  </a:tcPr>
                </a:tc>
                <a:tc>
                  <a:txBody>
                    <a:bodyPr/>
                    <a:lstStyle/>
                    <a:p>
                      <a:pPr algn="l"/>
                      <a:r>
                        <a:rPr sz="800" b="0">
                          <a:solidFill>
                            <a:srgbClr val="000000"/>
                          </a:solidFill>
                          <a:latin typeface="Arial"/>
                        </a:rPr>
                        <a:t>Indicates whether the variant is available.</a:t>
                      </a:r>
                    </a:p>
                  </a:txBody>
                  <a:tcPr marL="64008" marR="64008" marT="9144" marB="9144" anchor="ctr">
                    <a:solidFill>
                      <a:srgbClr val="EAEBF2"/>
                    </a:solidFill>
                  </a:tcPr>
                </a:tc>
                <a:extLst>
                  <a:ext uri="{0D108BD9-81ED-4DB2-BD59-A6C34878D82A}">
                    <a16:rowId xmlns:a16="http://schemas.microsoft.com/office/drawing/2014/main" val="10015"/>
                  </a:ext>
                </a:extLst>
              </a:tr>
              <a:tr h="273357">
                <a:tc>
                  <a:txBody>
                    <a:bodyPr/>
                    <a:lstStyle/>
                    <a:p>
                      <a:pPr algn="l"/>
                      <a:r>
                        <a:rPr sz="800" b="0">
                          <a:solidFill>
                            <a:srgbClr val="000000"/>
                          </a:solidFill>
                          <a:latin typeface="Arial"/>
                        </a:rPr>
                        <a:t>sort_order</a:t>
                      </a:r>
                    </a:p>
                  </a:txBody>
                  <a:tcPr marL="64008" marR="64008" marT="9144" marB="9144" anchor="ctr">
                    <a:solidFill>
                      <a:srgbClr val="D2D5E4"/>
                    </a:solidFill>
                  </a:tcPr>
                </a:tc>
                <a:tc>
                  <a:txBody>
                    <a:bodyPr/>
                    <a:lstStyle/>
                    <a:p>
                      <a:pPr algn="l"/>
                      <a:r>
                        <a:rPr sz="800" b="0">
                          <a:solidFill>
                            <a:srgbClr val="000000"/>
                          </a:solidFill>
                          <a:latin typeface="Arial"/>
                        </a:rPr>
                        <a:t>int(11)</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Display order of variants.</a:t>
                      </a:r>
                    </a:p>
                  </a:txBody>
                  <a:tcPr marL="64008" marR="64008" marT="9144" marB="9144" anchor="ctr">
                    <a:solidFill>
                      <a:srgbClr val="D2D5E4"/>
                    </a:solidFill>
                  </a:tcPr>
                </a:tc>
                <a:extLst>
                  <a:ext uri="{0D108BD9-81ED-4DB2-BD59-A6C34878D82A}">
                    <a16:rowId xmlns:a16="http://schemas.microsoft.com/office/drawing/2014/main" val="10016"/>
                  </a:ext>
                </a:extLst>
              </a:tr>
              <a:tr h="273357">
                <a:tc>
                  <a:txBody>
                    <a:bodyPr/>
                    <a:lstStyle/>
                    <a:p>
                      <a:pPr algn="l"/>
                      <a:r>
                        <a:rPr sz="800" b="0">
                          <a:solidFill>
                            <a:srgbClr val="000000"/>
                          </a:solidFill>
                          <a:latin typeface="Arial"/>
                        </a:rPr>
                        <a:t>created_at</a:t>
                      </a:r>
                    </a:p>
                  </a:txBody>
                  <a:tcPr marL="64008" marR="64008" marT="9144" marB="9144" anchor="ctr">
                    <a:solidFill>
                      <a:srgbClr val="EAEBF2"/>
                    </a:solidFill>
                  </a:tcPr>
                </a:tc>
                <a:tc>
                  <a:txBody>
                    <a:bodyPr/>
                    <a:lstStyle/>
                    <a:p>
                      <a:pPr algn="l"/>
                      <a:r>
                        <a:rPr sz="800" b="0">
                          <a:solidFill>
                            <a:srgbClr val="000000"/>
                          </a:solidFill>
                          <a:latin typeface="Arial"/>
                        </a:rPr>
                        <a:t>timestamp</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Date and time the record was created.</a:t>
                      </a:r>
                    </a:p>
                  </a:txBody>
                  <a:tcPr marL="64008" marR="64008" marT="9144" marB="9144" anchor="ctr">
                    <a:solidFill>
                      <a:srgbClr val="EAEBF2"/>
                    </a:solidFill>
                  </a:tcPr>
                </a:tc>
                <a:extLst>
                  <a:ext uri="{0D108BD9-81ED-4DB2-BD59-A6C34878D82A}">
                    <a16:rowId xmlns:a16="http://schemas.microsoft.com/office/drawing/2014/main" val="10017"/>
                  </a:ext>
                </a:extLst>
              </a:tr>
              <a:tr h="273357">
                <a:tc>
                  <a:txBody>
                    <a:bodyPr/>
                    <a:lstStyle/>
                    <a:p>
                      <a:pPr algn="l"/>
                      <a:r>
                        <a:rPr sz="800" b="0">
                          <a:solidFill>
                            <a:srgbClr val="000000"/>
                          </a:solidFill>
                          <a:latin typeface="Arial"/>
                        </a:rPr>
                        <a:t>updated_at</a:t>
                      </a:r>
                    </a:p>
                  </a:txBody>
                  <a:tcPr marL="64008" marR="64008" marT="9144" marB="9144" anchor="ctr">
                    <a:solidFill>
                      <a:srgbClr val="D2D5E4"/>
                    </a:solidFill>
                  </a:tcPr>
                </a:tc>
                <a:tc>
                  <a:txBody>
                    <a:bodyPr/>
                    <a:lstStyle/>
                    <a:p>
                      <a:pPr algn="l"/>
                      <a:r>
                        <a:rPr sz="800" b="0">
                          <a:solidFill>
                            <a:srgbClr val="000000"/>
                          </a:solidFill>
                          <a:latin typeface="Arial"/>
                        </a:rPr>
                        <a:t>timestamp</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Date and time the record was last updated.</a:t>
                      </a:r>
                    </a:p>
                  </a:txBody>
                  <a:tcPr marL="64008" marR="64008" marT="9144" marB="9144" anchor="ctr">
                    <a:solidFill>
                      <a:srgbClr val="D2D5E4"/>
                    </a:solidFill>
                  </a:tcPr>
                </a:tc>
                <a:extLst>
                  <a:ext uri="{0D108BD9-81ED-4DB2-BD59-A6C34878D82A}">
                    <a16:rowId xmlns:a16="http://schemas.microsoft.com/office/drawing/2014/main" val="1001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3.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3063240" y="0"/>
            <a:ext cx="30175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256032"/>
            <a:ext cx="8229600" cy="6327648"/>
          </a:xfrm>
          <a:prstGeom prst="rect">
            <a:avLst/>
          </a:prstGeom>
          <a:solidFill>
            <a:srgbClr val="FFFFFF"/>
          </a:solidFill>
          <a:ln w="10160">
            <a:solidFill>
              <a:srgbClr val="696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47288" y="36576"/>
            <a:ext cx="2249424" cy="438912"/>
          </a:xfrm>
          <a:prstGeom prst="rect">
            <a:avLst/>
          </a:prstGeom>
          <a:solidFill>
            <a:srgbClr val="9C5252"/>
          </a:solidFill>
          <a:ln w="12700">
            <a:solidFill>
              <a:srgbClr val="7E9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00000"/>
                </a:solidFill>
                <a:latin typeface="Times New Roman"/>
              </a:rPr>
              <a:t>Data Dictionary</a:t>
            </a:r>
          </a:p>
        </p:txBody>
      </p:sp>
      <p:sp>
        <p:nvSpPr>
          <p:cNvPr id="6" name="Rectangle 5"/>
          <p:cNvSpPr/>
          <p:nvPr/>
        </p:nvSpPr>
        <p:spPr>
          <a:xfrm>
            <a:off x="3113532" y="832104"/>
            <a:ext cx="2514600" cy="32004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000000"/>
                </a:solidFill>
                <a:latin typeface="Arial"/>
              </a:rPr>
              <a:t>Table : order_item_customizations</a:t>
            </a:r>
          </a:p>
        </p:txBody>
      </p:sp>
      <p:sp>
        <p:nvSpPr>
          <p:cNvPr id="7" name="TextBox 6"/>
          <p:cNvSpPr txBox="1"/>
          <p:nvPr/>
        </p:nvSpPr>
        <p:spPr>
          <a:xfrm>
            <a:off x="5701284" y="832104"/>
            <a:ext cx="320040" cy="320040"/>
          </a:xfrm>
          <a:prstGeom prst="rect">
            <a:avLst/>
          </a:prstGeom>
          <a:noFill/>
        </p:spPr>
        <p:txBody>
          <a:bodyPr wrap="none" anchor="ctr">
            <a:spAutoFit/>
          </a:bodyPr>
          <a:lstStyle/>
          <a:p>
            <a:pPr algn="l"/>
            <a:r>
              <a:rPr sz="1100">
                <a:solidFill>
                  <a:srgbClr val="000000"/>
                </a:solidFill>
                <a:latin typeface="Arial"/>
              </a:rPr>
              <a:t>:-</a:t>
            </a:r>
          </a:p>
        </p:txBody>
      </p:sp>
      <p:graphicFrame>
        <p:nvGraphicFramePr>
          <p:cNvPr id="8" name="Table 7"/>
          <p:cNvGraphicFramePr>
            <a:graphicFrameLocks noGrp="1"/>
          </p:cNvGraphicFramePr>
          <p:nvPr/>
        </p:nvGraphicFramePr>
        <p:xfrm>
          <a:off x="1170432" y="1225296"/>
          <a:ext cx="6949440" cy="5193792"/>
        </p:xfrm>
        <a:graphic>
          <a:graphicData uri="http://schemas.openxmlformats.org/drawingml/2006/table">
            <a:tbl>
              <a:tblPr firstRow="1" bandRow="1">
                <a:tableStyleId>{5C22544A-7EE6-4342-B048-85BDC9FD1C3A}</a:tableStyleId>
              </a:tblPr>
              <a:tblGrid>
                <a:gridCol w="1572768">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324612">
                <a:tc>
                  <a:txBody>
                    <a:bodyPr/>
                    <a:lstStyle/>
                    <a:p>
                      <a:pPr algn="l"/>
                      <a:r>
                        <a:rPr sz="950" b="1">
                          <a:solidFill>
                            <a:srgbClr val="FFFFFF"/>
                          </a:solidFill>
                          <a:latin typeface="Arial"/>
                        </a:rPr>
                        <a:t>Field Name</a:t>
                      </a:r>
                    </a:p>
                  </a:txBody>
                  <a:tcPr marL="64008" marR="64008" marT="9144" marB="9144" anchor="ctr">
                    <a:solidFill>
                      <a:srgbClr val="6076B4"/>
                    </a:solidFill>
                  </a:tcPr>
                </a:tc>
                <a:tc>
                  <a:txBody>
                    <a:bodyPr/>
                    <a:lstStyle/>
                    <a:p>
                      <a:pPr algn="l"/>
                      <a:r>
                        <a:rPr sz="950" b="1">
                          <a:solidFill>
                            <a:srgbClr val="FFFFFF"/>
                          </a:solidFill>
                          <a:latin typeface="Arial"/>
                        </a:rPr>
                        <a:t>Data Type</a:t>
                      </a:r>
                    </a:p>
                  </a:txBody>
                  <a:tcPr marL="64008" marR="64008" marT="9144" marB="9144" anchor="ctr">
                    <a:solidFill>
                      <a:srgbClr val="6076B4"/>
                    </a:solidFill>
                  </a:tcPr>
                </a:tc>
                <a:tc>
                  <a:txBody>
                    <a:bodyPr/>
                    <a:lstStyle/>
                    <a:p>
                      <a:pPr algn="l"/>
                      <a:r>
                        <a:rPr sz="950" b="1">
                          <a:solidFill>
                            <a:srgbClr val="FFFFFF"/>
                          </a:solidFill>
                          <a:latin typeface="Arial"/>
                        </a:rPr>
                        <a:t>Key</a:t>
                      </a:r>
                    </a:p>
                  </a:txBody>
                  <a:tcPr marL="64008" marR="64008" marT="9144" marB="9144" anchor="ctr">
                    <a:solidFill>
                      <a:srgbClr val="6076B4"/>
                    </a:solidFill>
                  </a:tcPr>
                </a:tc>
                <a:tc>
                  <a:txBody>
                    <a:bodyPr/>
                    <a:lstStyle/>
                    <a:p>
                      <a:pPr algn="l"/>
                      <a:r>
                        <a:rPr sz="950" b="1">
                          <a:solidFill>
                            <a:srgbClr val="FFFFFF"/>
                          </a:solidFill>
                          <a:latin typeface="Arial"/>
                        </a:rPr>
                        <a:t>Description</a:t>
                      </a:r>
                    </a:p>
                  </a:txBody>
                  <a:tcPr marL="64008" marR="64008" marT="9144" marB="9144" anchor="ctr">
                    <a:solidFill>
                      <a:srgbClr val="6076B4"/>
                    </a:solidFill>
                  </a:tcPr>
                </a:tc>
                <a:extLst>
                  <a:ext uri="{0D108BD9-81ED-4DB2-BD59-A6C34878D82A}">
                    <a16:rowId xmlns:a16="http://schemas.microsoft.com/office/drawing/2014/main" val="10000"/>
                  </a:ext>
                </a:extLst>
              </a:tr>
              <a:tr h="324612">
                <a:tc>
                  <a:txBody>
                    <a:bodyPr/>
                    <a:lstStyle/>
                    <a:p>
                      <a:pPr algn="l"/>
                      <a:r>
                        <a:rPr sz="800" b="0">
                          <a:solidFill>
                            <a:srgbClr val="000000"/>
                          </a:solidFill>
                          <a:latin typeface="Arial"/>
                        </a:rPr>
                        <a:t>id</a:t>
                      </a:r>
                    </a:p>
                  </a:txBody>
                  <a:tcPr marL="64008" marR="64008" marT="9144" marB="9144" anchor="ctr">
                    <a:solidFill>
                      <a:srgbClr val="EAEBF2"/>
                    </a:solidFill>
                  </a:tcPr>
                </a:tc>
                <a:tc>
                  <a:txBody>
                    <a:bodyPr/>
                    <a:lstStyle/>
                    <a:p>
                      <a:pPr algn="l"/>
                      <a:r>
                        <a:rPr sz="800" b="0">
                          <a:solidFill>
                            <a:srgbClr val="000000"/>
                          </a:solidFill>
                          <a:latin typeface="Arial"/>
                        </a:rPr>
                        <a:t>bigint(20) unsigned</a:t>
                      </a:r>
                    </a:p>
                  </a:txBody>
                  <a:tcPr marL="64008" marR="64008" marT="9144" marB="9144" anchor="ctr">
                    <a:solidFill>
                      <a:srgbClr val="EAEBF2"/>
                    </a:solidFill>
                  </a:tcPr>
                </a:tc>
                <a:tc>
                  <a:txBody>
                    <a:bodyPr/>
                    <a:lstStyle/>
                    <a:p>
                      <a:pPr algn="l"/>
                      <a:r>
                        <a:rPr sz="800" b="0">
                          <a:solidFill>
                            <a:srgbClr val="000000"/>
                          </a:solidFill>
                          <a:latin typeface="Arial"/>
                        </a:rPr>
                        <a:t>PK</a:t>
                      </a:r>
                    </a:p>
                  </a:txBody>
                  <a:tcPr marL="64008" marR="64008" marT="9144" marB="9144" anchor="ctr">
                    <a:solidFill>
                      <a:srgbClr val="EAEBF2"/>
                    </a:solidFill>
                  </a:tcPr>
                </a:tc>
                <a:tc>
                  <a:txBody>
                    <a:bodyPr/>
                    <a:lstStyle/>
                    <a:p>
                      <a:pPr algn="l"/>
                      <a:r>
                        <a:rPr sz="800" b="0">
                          <a:solidFill>
                            <a:srgbClr val="000000"/>
                          </a:solidFill>
                          <a:latin typeface="Arial"/>
                        </a:rPr>
                        <a:t>Unique order customization ID.</a:t>
                      </a:r>
                    </a:p>
                  </a:txBody>
                  <a:tcPr marL="64008" marR="64008" marT="9144" marB="9144" anchor="ctr">
                    <a:solidFill>
                      <a:srgbClr val="EAEBF2"/>
                    </a:solidFill>
                  </a:tcPr>
                </a:tc>
                <a:extLst>
                  <a:ext uri="{0D108BD9-81ED-4DB2-BD59-A6C34878D82A}">
                    <a16:rowId xmlns:a16="http://schemas.microsoft.com/office/drawing/2014/main" val="10001"/>
                  </a:ext>
                </a:extLst>
              </a:tr>
              <a:tr h="324612">
                <a:tc>
                  <a:txBody>
                    <a:bodyPr/>
                    <a:lstStyle/>
                    <a:p>
                      <a:pPr algn="l"/>
                      <a:r>
                        <a:rPr sz="800" b="0">
                          <a:solidFill>
                            <a:srgbClr val="000000"/>
                          </a:solidFill>
                          <a:latin typeface="Arial"/>
                        </a:rPr>
                        <a:t>order_item_id</a:t>
                      </a:r>
                    </a:p>
                  </a:txBody>
                  <a:tcPr marL="64008" marR="64008" marT="9144" marB="9144" anchor="ctr">
                    <a:solidFill>
                      <a:srgbClr val="D2D5E4"/>
                    </a:solidFill>
                  </a:tcPr>
                </a:tc>
                <a:tc>
                  <a:txBody>
                    <a:bodyPr/>
                    <a:lstStyle/>
                    <a:p>
                      <a:pPr algn="l"/>
                      <a:r>
                        <a:rPr sz="800" b="0">
                          <a:solidFill>
                            <a:srgbClr val="000000"/>
                          </a:solidFill>
                          <a:latin typeface="Arial"/>
                        </a:rPr>
                        <a:t>bigint(20) unsigned</a:t>
                      </a:r>
                    </a:p>
                  </a:txBody>
                  <a:tcPr marL="64008" marR="64008" marT="9144" marB="9144" anchor="ctr">
                    <a:solidFill>
                      <a:srgbClr val="D2D5E4"/>
                    </a:solidFill>
                  </a:tcPr>
                </a:tc>
                <a:tc>
                  <a:txBody>
                    <a:bodyPr/>
                    <a:lstStyle/>
                    <a:p>
                      <a:pPr algn="l"/>
                      <a:r>
                        <a:rPr sz="800" b="0">
                          <a:solidFill>
                            <a:srgbClr val="000000"/>
                          </a:solidFill>
                          <a:latin typeface="Arial"/>
                        </a:rPr>
                        <a:t>FK/IDX</a:t>
                      </a:r>
                    </a:p>
                  </a:txBody>
                  <a:tcPr marL="64008" marR="64008" marT="9144" marB="9144" anchor="ctr">
                    <a:solidFill>
                      <a:srgbClr val="D2D5E4"/>
                    </a:solidFill>
                  </a:tcPr>
                </a:tc>
                <a:tc>
                  <a:txBody>
                    <a:bodyPr/>
                    <a:lstStyle/>
                    <a:p>
                      <a:pPr algn="l"/>
                      <a:r>
                        <a:rPr sz="800" b="0">
                          <a:solidFill>
                            <a:srgbClr val="000000"/>
                          </a:solidFill>
                          <a:latin typeface="Arial"/>
                        </a:rPr>
                        <a:t>Links the customization to an ordered item.</a:t>
                      </a:r>
                    </a:p>
                  </a:txBody>
                  <a:tcPr marL="64008" marR="64008" marT="9144" marB="9144" anchor="ctr">
                    <a:solidFill>
                      <a:srgbClr val="D2D5E4"/>
                    </a:solidFill>
                  </a:tcPr>
                </a:tc>
                <a:extLst>
                  <a:ext uri="{0D108BD9-81ED-4DB2-BD59-A6C34878D82A}">
                    <a16:rowId xmlns:a16="http://schemas.microsoft.com/office/drawing/2014/main" val="10002"/>
                  </a:ext>
                </a:extLst>
              </a:tr>
              <a:tr h="324612">
                <a:tc>
                  <a:txBody>
                    <a:bodyPr/>
                    <a:lstStyle/>
                    <a:p>
                      <a:pPr algn="l"/>
                      <a:r>
                        <a:rPr sz="800" b="0">
                          <a:solidFill>
                            <a:srgbClr val="000000"/>
                          </a:solidFill>
                          <a:latin typeface="Arial"/>
                        </a:rPr>
                        <a:t>customization_id</a:t>
                      </a:r>
                    </a:p>
                  </a:txBody>
                  <a:tcPr marL="64008" marR="64008" marT="9144" marB="9144" anchor="ctr">
                    <a:solidFill>
                      <a:srgbClr val="EAEBF2"/>
                    </a:solidFill>
                  </a:tcPr>
                </a:tc>
                <a:tc>
                  <a:txBody>
                    <a:bodyPr/>
                    <a:lstStyle/>
                    <a:p>
                      <a:pPr algn="l"/>
                      <a:r>
                        <a:rPr sz="800" b="0">
                          <a:solidFill>
                            <a:srgbClr val="000000"/>
                          </a:solidFill>
                          <a:latin typeface="Arial"/>
                        </a:rPr>
                        <a:t>bigint(20) unsigned</a:t>
                      </a:r>
                    </a:p>
                  </a:txBody>
                  <a:tcPr marL="64008" marR="64008" marT="9144" marB="9144" anchor="ctr">
                    <a:solidFill>
                      <a:srgbClr val="EAEBF2"/>
                    </a:solidFill>
                  </a:tcPr>
                </a:tc>
                <a:tc>
                  <a:txBody>
                    <a:bodyPr/>
                    <a:lstStyle/>
                    <a:p>
                      <a:pPr algn="l"/>
                      <a:r>
                        <a:rPr sz="800" b="0">
                          <a:solidFill>
                            <a:srgbClr val="000000"/>
                          </a:solidFill>
                          <a:latin typeface="Arial"/>
                        </a:rPr>
                        <a:t>FK/IDX</a:t>
                      </a:r>
                    </a:p>
                  </a:txBody>
                  <a:tcPr marL="64008" marR="64008" marT="9144" marB="9144" anchor="ctr">
                    <a:solidFill>
                      <a:srgbClr val="EAEBF2"/>
                    </a:solidFill>
                  </a:tcPr>
                </a:tc>
                <a:tc>
                  <a:txBody>
                    <a:bodyPr/>
                    <a:lstStyle/>
                    <a:p>
                      <a:pPr algn="l"/>
                      <a:r>
                        <a:rPr sz="800" b="0">
                          <a:solidFill>
                            <a:srgbClr val="000000"/>
                          </a:solidFill>
                          <a:latin typeface="Arial"/>
                        </a:rPr>
                        <a:t>Links to the original customization definition.</a:t>
                      </a:r>
                    </a:p>
                  </a:txBody>
                  <a:tcPr marL="64008" marR="64008" marT="9144" marB="9144" anchor="ctr">
                    <a:solidFill>
                      <a:srgbClr val="EAEBF2"/>
                    </a:solidFill>
                  </a:tcPr>
                </a:tc>
                <a:extLst>
                  <a:ext uri="{0D108BD9-81ED-4DB2-BD59-A6C34878D82A}">
                    <a16:rowId xmlns:a16="http://schemas.microsoft.com/office/drawing/2014/main" val="10003"/>
                  </a:ext>
                </a:extLst>
              </a:tr>
              <a:tr h="324612">
                <a:tc>
                  <a:txBody>
                    <a:bodyPr/>
                    <a:lstStyle/>
                    <a:p>
                      <a:pPr algn="l"/>
                      <a:r>
                        <a:rPr sz="800" b="0">
                          <a:solidFill>
                            <a:srgbClr val="000000"/>
                          </a:solidFill>
                          <a:latin typeface="Arial"/>
                        </a:rPr>
                        <a:t>customization_name_snapshot</a:t>
                      </a:r>
                    </a:p>
                  </a:txBody>
                  <a:tcPr marL="64008" marR="64008" marT="9144" marB="9144" anchor="ctr">
                    <a:solidFill>
                      <a:srgbClr val="D2D5E4"/>
                    </a:solidFill>
                  </a:tcPr>
                </a:tc>
                <a:tc>
                  <a:txBody>
                    <a:bodyPr/>
                    <a:lstStyle/>
                    <a:p>
                      <a:pPr algn="l"/>
                      <a:r>
                        <a:rPr sz="800" b="0">
                          <a:solidFill>
                            <a:srgbClr val="000000"/>
                          </a:solidFill>
                          <a:latin typeface="Arial"/>
                        </a:rPr>
                        <a:t>varchar(100)</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Stores the customization name at order time.</a:t>
                      </a:r>
                    </a:p>
                  </a:txBody>
                  <a:tcPr marL="64008" marR="64008" marT="9144" marB="9144" anchor="ctr">
                    <a:solidFill>
                      <a:srgbClr val="D2D5E4"/>
                    </a:solidFill>
                  </a:tcPr>
                </a:tc>
                <a:extLst>
                  <a:ext uri="{0D108BD9-81ED-4DB2-BD59-A6C34878D82A}">
                    <a16:rowId xmlns:a16="http://schemas.microsoft.com/office/drawing/2014/main" val="10004"/>
                  </a:ext>
                </a:extLst>
              </a:tr>
              <a:tr h="324612">
                <a:tc>
                  <a:txBody>
                    <a:bodyPr/>
                    <a:lstStyle/>
                    <a:p>
                      <a:pPr algn="l"/>
                      <a:r>
                        <a:rPr sz="800" b="0">
                          <a:solidFill>
                            <a:srgbClr val="000000"/>
                          </a:solidFill>
                          <a:latin typeface="Arial"/>
                        </a:rPr>
                        <a:t>quantity</a:t>
                      </a:r>
                    </a:p>
                  </a:txBody>
                  <a:tcPr marL="64008" marR="64008" marT="9144" marB="9144" anchor="ctr">
                    <a:solidFill>
                      <a:srgbClr val="EAEBF2"/>
                    </a:solidFill>
                  </a:tcPr>
                </a:tc>
                <a:tc>
                  <a:txBody>
                    <a:bodyPr/>
                    <a:lstStyle/>
                    <a:p>
                      <a:pPr algn="l"/>
                      <a:r>
                        <a:rPr sz="800" b="0">
                          <a:solidFill>
                            <a:srgbClr val="000000"/>
                          </a:solidFill>
                          <a:latin typeface="Arial"/>
                        </a:rPr>
                        <a:t>int(10) unsigned</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Quantity selected for the customization.</a:t>
                      </a:r>
                    </a:p>
                  </a:txBody>
                  <a:tcPr marL="64008" marR="64008" marT="9144" marB="9144" anchor="ctr">
                    <a:solidFill>
                      <a:srgbClr val="EAEBF2"/>
                    </a:solidFill>
                  </a:tcPr>
                </a:tc>
                <a:extLst>
                  <a:ext uri="{0D108BD9-81ED-4DB2-BD59-A6C34878D82A}">
                    <a16:rowId xmlns:a16="http://schemas.microsoft.com/office/drawing/2014/main" val="10005"/>
                  </a:ext>
                </a:extLst>
              </a:tr>
              <a:tr h="324612">
                <a:tc>
                  <a:txBody>
                    <a:bodyPr/>
                    <a:lstStyle/>
                    <a:p>
                      <a:pPr algn="l"/>
                      <a:r>
                        <a:rPr sz="800" b="0">
                          <a:solidFill>
                            <a:srgbClr val="000000"/>
                          </a:solidFill>
                          <a:latin typeface="Arial"/>
                        </a:rPr>
                        <a:t>price_adjustment</a:t>
                      </a:r>
                    </a:p>
                  </a:txBody>
                  <a:tcPr marL="64008" marR="64008" marT="9144" marB="9144" anchor="ctr">
                    <a:solidFill>
                      <a:srgbClr val="D2D5E4"/>
                    </a:solidFill>
                  </a:tcPr>
                </a:tc>
                <a:tc>
                  <a:txBody>
                    <a:bodyPr/>
                    <a:lstStyle/>
                    <a:p>
                      <a:pPr algn="l"/>
                      <a:r>
                        <a:rPr sz="800" b="0">
                          <a:solidFill>
                            <a:srgbClr val="000000"/>
                          </a:solidFill>
                          <a:latin typeface="Arial"/>
                        </a:rPr>
                        <a:t>decimal(10,2)</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Price adjustment stored with the order.</a:t>
                      </a:r>
                    </a:p>
                  </a:txBody>
                  <a:tcPr marL="64008" marR="64008" marT="9144" marB="9144" anchor="ctr">
                    <a:solidFill>
                      <a:srgbClr val="D2D5E4"/>
                    </a:solidFill>
                  </a:tcPr>
                </a:tc>
                <a:extLst>
                  <a:ext uri="{0D108BD9-81ED-4DB2-BD59-A6C34878D82A}">
                    <a16:rowId xmlns:a16="http://schemas.microsoft.com/office/drawing/2014/main" val="10006"/>
                  </a:ext>
                </a:extLst>
              </a:tr>
              <a:tr h="324612">
                <a:tc>
                  <a:txBody>
                    <a:bodyPr/>
                    <a:lstStyle/>
                    <a:p>
                      <a:pPr algn="l"/>
                      <a:r>
                        <a:rPr sz="800" b="0">
                          <a:solidFill>
                            <a:srgbClr val="000000"/>
                          </a:solidFill>
                          <a:latin typeface="Arial"/>
                        </a:rPr>
                        <a:t>calories_adjustment</a:t>
                      </a:r>
                    </a:p>
                  </a:txBody>
                  <a:tcPr marL="64008" marR="64008" marT="9144" marB="9144" anchor="ctr">
                    <a:solidFill>
                      <a:srgbClr val="EAEBF2"/>
                    </a:solidFill>
                  </a:tcPr>
                </a:tc>
                <a:tc>
                  <a:txBody>
                    <a:bodyPr/>
                    <a:lstStyle/>
                    <a:p>
                      <a:pPr algn="l"/>
                      <a:r>
                        <a:rPr sz="800" b="0">
                          <a:solidFill>
                            <a:srgbClr val="000000"/>
                          </a:solidFill>
                          <a:latin typeface="Arial"/>
                        </a:rPr>
                        <a:t>int(11)</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Calories adjustment stored in the order.</a:t>
                      </a:r>
                    </a:p>
                  </a:txBody>
                  <a:tcPr marL="64008" marR="64008" marT="9144" marB="9144" anchor="ctr">
                    <a:solidFill>
                      <a:srgbClr val="EAEBF2"/>
                    </a:solidFill>
                  </a:tcPr>
                </a:tc>
                <a:extLst>
                  <a:ext uri="{0D108BD9-81ED-4DB2-BD59-A6C34878D82A}">
                    <a16:rowId xmlns:a16="http://schemas.microsoft.com/office/drawing/2014/main" val="10007"/>
                  </a:ext>
                </a:extLst>
              </a:tr>
              <a:tr h="324612">
                <a:tc>
                  <a:txBody>
                    <a:bodyPr/>
                    <a:lstStyle/>
                    <a:p>
                      <a:pPr algn="l"/>
                      <a:r>
                        <a:rPr sz="800" b="0">
                          <a:solidFill>
                            <a:srgbClr val="000000"/>
                          </a:solidFill>
                          <a:latin typeface="Arial"/>
                        </a:rPr>
                        <a:t>protein_adjustment</a:t>
                      </a:r>
                    </a:p>
                  </a:txBody>
                  <a:tcPr marL="64008" marR="64008" marT="9144" marB="9144" anchor="ctr">
                    <a:solidFill>
                      <a:srgbClr val="D2D5E4"/>
                    </a:solidFill>
                  </a:tcPr>
                </a:tc>
                <a:tc>
                  <a:txBody>
                    <a:bodyPr/>
                    <a:lstStyle/>
                    <a:p>
                      <a:pPr algn="l"/>
                      <a:r>
                        <a:rPr sz="800" b="0">
                          <a:solidFill>
                            <a:srgbClr val="000000"/>
                          </a:solidFill>
                          <a:latin typeface="Arial"/>
                        </a:rPr>
                        <a:t>decimal(6,2)</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Protein adjustment snapshot.</a:t>
                      </a:r>
                    </a:p>
                  </a:txBody>
                  <a:tcPr marL="64008" marR="64008" marT="9144" marB="9144" anchor="ctr">
                    <a:solidFill>
                      <a:srgbClr val="D2D5E4"/>
                    </a:solidFill>
                  </a:tcPr>
                </a:tc>
                <a:extLst>
                  <a:ext uri="{0D108BD9-81ED-4DB2-BD59-A6C34878D82A}">
                    <a16:rowId xmlns:a16="http://schemas.microsoft.com/office/drawing/2014/main" val="10008"/>
                  </a:ext>
                </a:extLst>
              </a:tr>
              <a:tr h="324612">
                <a:tc>
                  <a:txBody>
                    <a:bodyPr/>
                    <a:lstStyle/>
                    <a:p>
                      <a:pPr algn="l"/>
                      <a:r>
                        <a:rPr sz="800" b="0">
                          <a:solidFill>
                            <a:srgbClr val="000000"/>
                          </a:solidFill>
                          <a:latin typeface="Arial"/>
                        </a:rPr>
                        <a:t>carbs_adjustment</a:t>
                      </a:r>
                    </a:p>
                  </a:txBody>
                  <a:tcPr marL="64008" marR="64008" marT="9144" marB="9144" anchor="ctr">
                    <a:solidFill>
                      <a:srgbClr val="EAEBF2"/>
                    </a:solidFill>
                  </a:tcPr>
                </a:tc>
                <a:tc>
                  <a:txBody>
                    <a:bodyPr/>
                    <a:lstStyle/>
                    <a:p>
                      <a:pPr algn="l"/>
                      <a:r>
                        <a:rPr sz="800" b="0">
                          <a:solidFill>
                            <a:srgbClr val="000000"/>
                          </a:solidFill>
                          <a:latin typeface="Arial"/>
                        </a:rPr>
                        <a:t>decimal(6,2)</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Carbohydrate adjustment snapshot.</a:t>
                      </a:r>
                    </a:p>
                  </a:txBody>
                  <a:tcPr marL="64008" marR="64008" marT="9144" marB="9144" anchor="ctr">
                    <a:solidFill>
                      <a:srgbClr val="EAEBF2"/>
                    </a:solidFill>
                  </a:tcPr>
                </a:tc>
                <a:extLst>
                  <a:ext uri="{0D108BD9-81ED-4DB2-BD59-A6C34878D82A}">
                    <a16:rowId xmlns:a16="http://schemas.microsoft.com/office/drawing/2014/main" val="10009"/>
                  </a:ext>
                </a:extLst>
              </a:tr>
              <a:tr h="324612">
                <a:tc>
                  <a:txBody>
                    <a:bodyPr/>
                    <a:lstStyle/>
                    <a:p>
                      <a:pPr algn="l"/>
                      <a:r>
                        <a:rPr sz="800" b="0">
                          <a:solidFill>
                            <a:srgbClr val="000000"/>
                          </a:solidFill>
                          <a:latin typeface="Arial"/>
                        </a:rPr>
                        <a:t>fat_adjustment</a:t>
                      </a:r>
                    </a:p>
                  </a:txBody>
                  <a:tcPr marL="64008" marR="64008" marT="9144" marB="9144" anchor="ctr">
                    <a:solidFill>
                      <a:srgbClr val="D2D5E4"/>
                    </a:solidFill>
                  </a:tcPr>
                </a:tc>
                <a:tc>
                  <a:txBody>
                    <a:bodyPr/>
                    <a:lstStyle/>
                    <a:p>
                      <a:pPr algn="l"/>
                      <a:r>
                        <a:rPr sz="800" b="0">
                          <a:solidFill>
                            <a:srgbClr val="000000"/>
                          </a:solidFill>
                          <a:latin typeface="Arial"/>
                        </a:rPr>
                        <a:t>decimal(6,2)</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Fat adjustment snapshot.</a:t>
                      </a:r>
                    </a:p>
                  </a:txBody>
                  <a:tcPr marL="64008" marR="64008" marT="9144" marB="9144" anchor="ctr">
                    <a:solidFill>
                      <a:srgbClr val="D2D5E4"/>
                    </a:solidFill>
                  </a:tcPr>
                </a:tc>
                <a:extLst>
                  <a:ext uri="{0D108BD9-81ED-4DB2-BD59-A6C34878D82A}">
                    <a16:rowId xmlns:a16="http://schemas.microsoft.com/office/drawing/2014/main" val="10010"/>
                  </a:ext>
                </a:extLst>
              </a:tr>
              <a:tr h="324612">
                <a:tc>
                  <a:txBody>
                    <a:bodyPr/>
                    <a:lstStyle/>
                    <a:p>
                      <a:pPr algn="l"/>
                      <a:r>
                        <a:rPr sz="800" b="0">
                          <a:solidFill>
                            <a:srgbClr val="000000"/>
                          </a:solidFill>
                          <a:latin typeface="Arial"/>
                        </a:rPr>
                        <a:t>fiber_adjustment</a:t>
                      </a:r>
                    </a:p>
                  </a:txBody>
                  <a:tcPr marL="64008" marR="64008" marT="9144" marB="9144" anchor="ctr">
                    <a:solidFill>
                      <a:srgbClr val="EAEBF2"/>
                    </a:solidFill>
                  </a:tcPr>
                </a:tc>
                <a:tc>
                  <a:txBody>
                    <a:bodyPr/>
                    <a:lstStyle/>
                    <a:p>
                      <a:pPr algn="l"/>
                      <a:r>
                        <a:rPr sz="800" b="0">
                          <a:solidFill>
                            <a:srgbClr val="000000"/>
                          </a:solidFill>
                          <a:latin typeface="Arial"/>
                        </a:rPr>
                        <a:t>decimal(6,2)</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Fiber adjustment snapshot.</a:t>
                      </a:r>
                    </a:p>
                  </a:txBody>
                  <a:tcPr marL="64008" marR="64008" marT="9144" marB="9144" anchor="ctr">
                    <a:solidFill>
                      <a:srgbClr val="EAEBF2"/>
                    </a:solidFill>
                  </a:tcPr>
                </a:tc>
                <a:extLst>
                  <a:ext uri="{0D108BD9-81ED-4DB2-BD59-A6C34878D82A}">
                    <a16:rowId xmlns:a16="http://schemas.microsoft.com/office/drawing/2014/main" val="10011"/>
                  </a:ext>
                </a:extLst>
              </a:tr>
              <a:tr h="324612">
                <a:tc>
                  <a:txBody>
                    <a:bodyPr/>
                    <a:lstStyle/>
                    <a:p>
                      <a:pPr algn="l"/>
                      <a:r>
                        <a:rPr sz="800" b="0">
                          <a:solidFill>
                            <a:srgbClr val="000000"/>
                          </a:solidFill>
                          <a:latin typeface="Arial"/>
                        </a:rPr>
                        <a:t>sugar_adjustment</a:t>
                      </a:r>
                    </a:p>
                  </a:txBody>
                  <a:tcPr marL="64008" marR="64008" marT="9144" marB="9144" anchor="ctr">
                    <a:solidFill>
                      <a:srgbClr val="D2D5E4"/>
                    </a:solidFill>
                  </a:tcPr>
                </a:tc>
                <a:tc>
                  <a:txBody>
                    <a:bodyPr/>
                    <a:lstStyle/>
                    <a:p>
                      <a:pPr algn="l"/>
                      <a:r>
                        <a:rPr sz="800" b="0">
                          <a:solidFill>
                            <a:srgbClr val="000000"/>
                          </a:solidFill>
                          <a:latin typeface="Arial"/>
                        </a:rPr>
                        <a:t>decimal(6,2)</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Sugar adjustment snapshot.</a:t>
                      </a:r>
                    </a:p>
                  </a:txBody>
                  <a:tcPr marL="64008" marR="64008" marT="9144" marB="9144" anchor="ctr">
                    <a:solidFill>
                      <a:srgbClr val="D2D5E4"/>
                    </a:solidFill>
                  </a:tcPr>
                </a:tc>
                <a:extLst>
                  <a:ext uri="{0D108BD9-81ED-4DB2-BD59-A6C34878D82A}">
                    <a16:rowId xmlns:a16="http://schemas.microsoft.com/office/drawing/2014/main" val="10012"/>
                  </a:ext>
                </a:extLst>
              </a:tr>
              <a:tr h="324612">
                <a:tc>
                  <a:txBody>
                    <a:bodyPr/>
                    <a:lstStyle/>
                    <a:p>
                      <a:pPr algn="l"/>
                      <a:r>
                        <a:rPr sz="800" b="0">
                          <a:solidFill>
                            <a:srgbClr val="000000"/>
                          </a:solidFill>
                          <a:latin typeface="Arial"/>
                        </a:rPr>
                        <a:t>sodium_adjustment</a:t>
                      </a:r>
                    </a:p>
                  </a:txBody>
                  <a:tcPr marL="64008" marR="64008" marT="9144" marB="9144" anchor="ctr">
                    <a:solidFill>
                      <a:srgbClr val="EAEBF2"/>
                    </a:solidFill>
                  </a:tcPr>
                </a:tc>
                <a:tc>
                  <a:txBody>
                    <a:bodyPr/>
                    <a:lstStyle/>
                    <a:p>
                      <a:pPr algn="l"/>
                      <a:r>
                        <a:rPr sz="800" b="0">
                          <a:solidFill>
                            <a:srgbClr val="000000"/>
                          </a:solidFill>
                          <a:latin typeface="Arial"/>
                        </a:rPr>
                        <a:t>decimal(7,2)</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Sodium adjustment snapshot.</a:t>
                      </a:r>
                    </a:p>
                  </a:txBody>
                  <a:tcPr marL="64008" marR="64008" marT="9144" marB="9144" anchor="ctr">
                    <a:solidFill>
                      <a:srgbClr val="EAEBF2"/>
                    </a:solidFill>
                  </a:tcPr>
                </a:tc>
                <a:extLst>
                  <a:ext uri="{0D108BD9-81ED-4DB2-BD59-A6C34878D82A}">
                    <a16:rowId xmlns:a16="http://schemas.microsoft.com/office/drawing/2014/main" val="10013"/>
                  </a:ext>
                </a:extLst>
              </a:tr>
              <a:tr h="324612">
                <a:tc>
                  <a:txBody>
                    <a:bodyPr/>
                    <a:lstStyle/>
                    <a:p>
                      <a:pPr algn="l"/>
                      <a:r>
                        <a:rPr sz="800" b="0">
                          <a:solidFill>
                            <a:srgbClr val="000000"/>
                          </a:solidFill>
                          <a:latin typeface="Arial"/>
                        </a:rPr>
                        <a:t>caffeine_adjustment</a:t>
                      </a:r>
                    </a:p>
                  </a:txBody>
                  <a:tcPr marL="64008" marR="64008" marT="9144" marB="9144" anchor="ctr">
                    <a:solidFill>
                      <a:srgbClr val="D2D5E4"/>
                    </a:solidFill>
                  </a:tcPr>
                </a:tc>
                <a:tc>
                  <a:txBody>
                    <a:bodyPr/>
                    <a:lstStyle/>
                    <a:p>
                      <a:pPr algn="l"/>
                      <a:r>
                        <a:rPr sz="800" b="0">
                          <a:solidFill>
                            <a:srgbClr val="000000"/>
                          </a:solidFill>
                          <a:latin typeface="Arial"/>
                        </a:rPr>
                        <a:t>decimal(6,2)</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Caffeine adjustment snapshot.</a:t>
                      </a:r>
                    </a:p>
                  </a:txBody>
                  <a:tcPr marL="64008" marR="64008" marT="9144" marB="9144" anchor="ctr">
                    <a:solidFill>
                      <a:srgbClr val="D2D5E4"/>
                    </a:solidFill>
                  </a:tcPr>
                </a:tc>
                <a:extLst>
                  <a:ext uri="{0D108BD9-81ED-4DB2-BD59-A6C34878D82A}">
                    <a16:rowId xmlns:a16="http://schemas.microsoft.com/office/drawing/2014/main" val="10014"/>
                  </a:ext>
                </a:extLst>
              </a:tr>
              <a:tr h="324612">
                <a:tc>
                  <a:txBody>
                    <a:bodyPr/>
                    <a:lstStyle/>
                    <a:p>
                      <a:pPr algn="l"/>
                      <a:r>
                        <a:rPr sz="800" b="0">
                          <a:solidFill>
                            <a:srgbClr val="000000"/>
                          </a:solidFill>
                          <a:latin typeface="Arial"/>
                        </a:rPr>
                        <a:t>created_at</a:t>
                      </a:r>
                    </a:p>
                  </a:txBody>
                  <a:tcPr marL="64008" marR="64008" marT="9144" marB="9144" anchor="ctr">
                    <a:solidFill>
                      <a:srgbClr val="EAEBF2"/>
                    </a:solidFill>
                  </a:tcPr>
                </a:tc>
                <a:tc>
                  <a:txBody>
                    <a:bodyPr/>
                    <a:lstStyle/>
                    <a:p>
                      <a:pPr algn="l"/>
                      <a:r>
                        <a:rPr sz="800" b="0">
                          <a:solidFill>
                            <a:srgbClr val="000000"/>
                          </a:solidFill>
                          <a:latin typeface="Arial"/>
                        </a:rPr>
                        <a:t>timestamp</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Date and time the record was created.</a:t>
                      </a:r>
                    </a:p>
                  </a:txBody>
                  <a:tcPr marL="64008" marR="64008" marT="9144" marB="9144" anchor="ctr">
                    <a:solidFill>
                      <a:srgbClr val="EAEBF2"/>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3.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3063240" y="0"/>
            <a:ext cx="30175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256032"/>
            <a:ext cx="8229600" cy="6327648"/>
          </a:xfrm>
          <a:prstGeom prst="rect">
            <a:avLst/>
          </a:prstGeom>
          <a:solidFill>
            <a:srgbClr val="FFFFFF"/>
          </a:solidFill>
          <a:ln w="10160">
            <a:solidFill>
              <a:srgbClr val="696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47288" y="36576"/>
            <a:ext cx="2249424" cy="438912"/>
          </a:xfrm>
          <a:prstGeom prst="rect">
            <a:avLst/>
          </a:prstGeom>
          <a:solidFill>
            <a:srgbClr val="9C5252"/>
          </a:solidFill>
          <a:ln w="12700">
            <a:solidFill>
              <a:srgbClr val="7E9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00000"/>
                </a:solidFill>
                <a:latin typeface="Times New Roman"/>
              </a:rPr>
              <a:t>Data Dictionary</a:t>
            </a:r>
          </a:p>
        </p:txBody>
      </p:sp>
      <p:sp>
        <p:nvSpPr>
          <p:cNvPr id="6" name="Rectangle 5"/>
          <p:cNvSpPr/>
          <p:nvPr/>
        </p:nvSpPr>
        <p:spPr>
          <a:xfrm>
            <a:off x="3502152" y="832104"/>
            <a:ext cx="1737360" cy="32004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00000"/>
                </a:solidFill>
                <a:latin typeface="Arial"/>
              </a:rPr>
              <a:t>Table : order_items</a:t>
            </a:r>
          </a:p>
        </p:txBody>
      </p:sp>
      <p:sp>
        <p:nvSpPr>
          <p:cNvPr id="7" name="TextBox 6"/>
          <p:cNvSpPr txBox="1"/>
          <p:nvPr/>
        </p:nvSpPr>
        <p:spPr>
          <a:xfrm>
            <a:off x="5312664" y="832104"/>
            <a:ext cx="320040" cy="320040"/>
          </a:xfrm>
          <a:prstGeom prst="rect">
            <a:avLst/>
          </a:prstGeom>
          <a:noFill/>
        </p:spPr>
        <p:txBody>
          <a:bodyPr wrap="none" anchor="ctr">
            <a:spAutoFit/>
          </a:bodyPr>
          <a:lstStyle/>
          <a:p>
            <a:pPr algn="l"/>
            <a:r>
              <a:rPr sz="1100">
                <a:solidFill>
                  <a:srgbClr val="000000"/>
                </a:solidFill>
                <a:latin typeface="Arial"/>
              </a:rPr>
              <a:t>:-</a:t>
            </a:r>
          </a:p>
        </p:txBody>
      </p:sp>
      <p:graphicFrame>
        <p:nvGraphicFramePr>
          <p:cNvPr id="8" name="Table 7"/>
          <p:cNvGraphicFramePr>
            <a:graphicFrameLocks noGrp="1"/>
          </p:cNvGraphicFramePr>
          <p:nvPr/>
        </p:nvGraphicFramePr>
        <p:xfrm>
          <a:off x="1170432" y="1225296"/>
          <a:ext cx="6949440" cy="5193780"/>
        </p:xfrm>
        <a:graphic>
          <a:graphicData uri="http://schemas.openxmlformats.org/drawingml/2006/table">
            <a:tbl>
              <a:tblPr firstRow="1" bandRow="1">
                <a:tableStyleId>{5C22544A-7EE6-4342-B048-85BDC9FD1C3A}</a:tableStyleId>
              </a:tblPr>
              <a:tblGrid>
                <a:gridCol w="1572768">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259689">
                <a:tc>
                  <a:txBody>
                    <a:bodyPr/>
                    <a:lstStyle/>
                    <a:p>
                      <a:pPr algn="l"/>
                      <a:r>
                        <a:rPr sz="950" b="1">
                          <a:solidFill>
                            <a:srgbClr val="FFFFFF"/>
                          </a:solidFill>
                          <a:latin typeface="Arial"/>
                        </a:rPr>
                        <a:t>Field Name</a:t>
                      </a:r>
                    </a:p>
                  </a:txBody>
                  <a:tcPr marL="64008" marR="64008" marT="9144" marB="9144" anchor="ctr">
                    <a:solidFill>
                      <a:srgbClr val="6076B4"/>
                    </a:solidFill>
                  </a:tcPr>
                </a:tc>
                <a:tc>
                  <a:txBody>
                    <a:bodyPr/>
                    <a:lstStyle/>
                    <a:p>
                      <a:pPr algn="l"/>
                      <a:r>
                        <a:rPr sz="950" b="1">
                          <a:solidFill>
                            <a:srgbClr val="FFFFFF"/>
                          </a:solidFill>
                          <a:latin typeface="Arial"/>
                        </a:rPr>
                        <a:t>Data Type</a:t>
                      </a:r>
                    </a:p>
                  </a:txBody>
                  <a:tcPr marL="64008" marR="64008" marT="9144" marB="9144" anchor="ctr">
                    <a:solidFill>
                      <a:srgbClr val="6076B4"/>
                    </a:solidFill>
                  </a:tcPr>
                </a:tc>
                <a:tc>
                  <a:txBody>
                    <a:bodyPr/>
                    <a:lstStyle/>
                    <a:p>
                      <a:pPr algn="l"/>
                      <a:r>
                        <a:rPr sz="950" b="1">
                          <a:solidFill>
                            <a:srgbClr val="FFFFFF"/>
                          </a:solidFill>
                          <a:latin typeface="Arial"/>
                        </a:rPr>
                        <a:t>Key</a:t>
                      </a:r>
                    </a:p>
                  </a:txBody>
                  <a:tcPr marL="64008" marR="64008" marT="9144" marB="9144" anchor="ctr">
                    <a:solidFill>
                      <a:srgbClr val="6076B4"/>
                    </a:solidFill>
                  </a:tcPr>
                </a:tc>
                <a:tc>
                  <a:txBody>
                    <a:bodyPr/>
                    <a:lstStyle/>
                    <a:p>
                      <a:pPr algn="l"/>
                      <a:r>
                        <a:rPr sz="950" b="1">
                          <a:solidFill>
                            <a:srgbClr val="FFFFFF"/>
                          </a:solidFill>
                          <a:latin typeface="Arial"/>
                        </a:rPr>
                        <a:t>Description</a:t>
                      </a:r>
                    </a:p>
                  </a:txBody>
                  <a:tcPr marL="64008" marR="64008" marT="9144" marB="9144" anchor="ctr">
                    <a:solidFill>
                      <a:srgbClr val="6076B4"/>
                    </a:solidFill>
                  </a:tcPr>
                </a:tc>
                <a:extLst>
                  <a:ext uri="{0D108BD9-81ED-4DB2-BD59-A6C34878D82A}">
                    <a16:rowId xmlns:a16="http://schemas.microsoft.com/office/drawing/2014/main" val="10000"/>
                  </a:ext>
                </a:extLst>
              </a:tr>
              <a:tr h="259689">
                <a:tc>
                  <a:txBody>
                    <a:bodyPr/>
                    <a:lstStyle/>
                    <a:p>
                      <a:pPr algn="l"/>
                      <a:r>
                        <a:rPr sz="750" b="0">
                          <a:solidFill>
                            <a:srgbClr val="000000"/>
                          </a:solidFill>
                          <a:latin typeface="Arial"/>
                        </a:rPr>
                        <a:t>id</a:t>
                      </a:r>
                    </a:p>
                  </a:txBody>
                  <a:tcPr marL="64008" marR="64008" marT="9144" marB="9144" anchor="ctr">
                    <a:solidFill>
                      <a:srgbClr val="EAEBF2"/>
                    </a:solidFill>
                  </a:tcPr>
                </a:tc>
                <a:tc>
                  <a:txBody>
                    <a:bodyPr/>
                    <a:lstStyle/>
                    <a:p>
                      <a:pPr algn="l"/>
                      <a:r>
                        <a:rPr sz="750" b="0">
                          <a:solidFill>
                            <a:srgbClr val="000000"/>
                          </a:solidFill>
                          <a:latin typeface="Arial"/>
                        </a:rPr>
                        <a:t>bigint(20) unsigned</a:t>
                      </a:r>
                    </a:p>
                  </a:txBody>
                  <a:tcPr marL="64008" marR="64008" marT="9144" marB="9144" anchor="ctr">
                    <a:solidFill>
                      <a:srgbClr val="EAEBF2"/>
                    </a:solidFill>
                  </a:tcPr>
                </a:tc>
                <a:tc>
                  <a:txBody>
                    <a:bodyPr/>
                    <a:lstStyle/>
                    <a:p>
                      <a:pPr algn="l"/>
                      <a:r>
                        <a:rPr sz="750" b="0">
                          <a:solidFill>
                            <a:srgbClr val="000000"/>
                          </a:solidFill>
                          <a:latin typeface="Arial"/>
                        </a:rPr>
                        <a:t>PK</a:t>
                      </a:r>
                    </a:p>
                  </a:txBody>
                  <a:tcPr marL="64008" marR="64008" marT="9144" marB="9144" anchor="ctr">
                    <a:solidFill>
                      <a:srgbClr val="EAEBF2"/>
                    </a:solidFill>
                  </a:tcPr>
                </a:tc>
                <a:tc>
                  <a:txBody>
                    <a:bodyPr/>
                    <a:lstStyle/>
                    <a:p>
                      <a:pPr algn="l"/>
                      <a:r>
                        <a:rPr sz="750" b="0">
                          <a:solidFill>
                            <a:srgbClr val="000000"/>
                          </a:solidFill>
                          <a:latin typeface="Arial"/>
                        </a:rPr>
                        <a:t>Unique ordered item ID.</a:t>
                      </a:r>
                    </a:p>
                  </a:txBody>
                  <a:tcPr marL="64008" marR="64008" marT="9144" marB="9144" anchor="ctr">
                    <a:solidFill>
                      <a:srgbClr val="EAEBF2"/>
                    </a:solidFill>
                  </a:tcPr>
                </a:tc>
                <a:extLst>
                  <a:ext uri="{0D108BD9-81ED-4DB2-BD59-A6C34878D82A}">
                    <a16:rowId xmlns:a16="http://schemas.microsoft.com/office/drawing/2014/main" val="10001"/>
                  </a:ext>
                </a:extLst>
              </a:tr>
              <a:tr h="259689">
                <a:tc>
                  <a:txBody>
                    <a:bodyPr/>
                    <a:lstStyle/>
                    <a:p>
                      <a:pPr algn="l"/>
                      <a:r>
                        <a:rPr sz="750" b="0">
                          <a:solidFill>
                            <a:srgbClr val="000000"/>
                          </a:solidFill>
                          <a:latin typeface="Arial"/>
                        </a:rPr>
                        <a:t>order_id</a:t>
                      </a:r>
                    </a:p>
                  </a:txBody>
                  <a:tcPr marL="64008" marR="64008" marT="9144" marB="9144" anchor="ctr">
                    <a:solidFill>
                      <a:srgbClr val="D2D5E4"/>
                    </a:solidFill>
                  </a:tcPr>
                </a:tc>
                <a:tc>
                  <a:txBody>
                    <a:bodyPr/>
                    <a:lstStyle/>
                    <a:p>
                      <a:pPr algn="l"/>
                      <a:r>
                        <a:rPr sz="750" b="0">
                          <a:solidFill>
                            <a:srgbClr val="000000"/>
                          </a:solidFill>
                          <a:latin typeface="Arial"/>
                        </a:rPr>
                        <a:t>bigint(20) unsigned</a:t>
                      </a:r>
                    </a:p>
                  </a:txBody>
                  <a:tcPr marL="64008" marR="64008" marT="9144" marB="9144" anchor="ctr">
                    <a:solidFill>
                      <a:srgbClr val="D2D5E4"/>
                    </a:solidFill>
                  </a:tcPr>
                </a:tc>
                <a:tc>
                  <a:txBody>
                    <a:bodyPr/>
                    <a:lstStyle/>
                    <a:p>
                      <a:pPr algn="l"/>
                      <a:r>
                        <a:rPr sz="750" b="0">
                          <a:solidFill>
                            <a:srgbClr val="000000"/>
                          </a:solidFill>
                          <a:latin typeface="Arial"/>
                        </a:rPr>
                        <a:t>FK/IDX</a:t>
                      </a:r>
                    </a:p>
                  </a:txBody>
                  <a:tcPr marL="64008" marR="64008" marT="9144" marB="9144" anchor="ctr">
                    <a:solidFill>
                      <a:srgbClr val="D2D5E4"/>
                    </a:solidFill>
                  </a:tcPr>
                </a:tc>
                <a:tc>
                  <a:txBody>
                    <a:bodyPr/>
                    <a:lstStyle/>
                    <a:p>
                      <a:pPr algn="l"/>
                      <a:r>
                        <a:rPr sz="750" b="0">
                          <a:solidFill>
                            <a:srgbClr val="000000"/>
                          </a:solidFill>
                          <a:latin typeface="Arial"/>
                        </a:rPr>
                        <a:t>Links the item to its order.</a:t>
                      </a:r>
                    </a:p>
                  </a:txBody>
                  <a:tcPr marL="64008" marR="64008" marT="9144" marB="9144" anchor="ctr">
                    <a:solidFill>
                      <a:srgbClr val="D2D5E4"/>
                    </a:solidFill>
                  </a:tcPr>
                </a:tc>
                <a:extLst>
                  <a:ext uri="{0D108BD9-81ED-4DB2-BD59-A6C34878D82A}">
                    <a16:rowId xmlns:a16="http://schemas.microsoft.com/office/drawing/2014/main" val="10002"/>
                  </a:ext>
                </a:extLst>
              </a:tr>
              <a:tr h="259689">
                <a:tc>
                  <a:txBody>
                    <a:bodyPr/>
                    <a:lstStyle/>
                    <a:p>
                      <a:pPr algn="l"/>
                      <a:r>
                        <a:rPr sz="750" b="0">
                          <a:solidFill>
                            <a:srgbClr val="000000"/>
                          </a:solidFill>
                          <a:latin typeface="Arial"/>
                        </a:rPr>
                        <a:t>food_item_id</a:t>
                      </a:r>
                    </a:p>
                  </a:txBody>
                  <a:tcPr marL="64008" marR="64008" marT="9144" marB="9144" anchor="ctr">
                    <a:solidFill>
                      <a:srgbClr val="EAEBF2"/>
                    </a:solidFill>
                  </a:tcPr>
                </a:tc>
                <a:tc>
                  <a:txBody>
                    <a:bodyPr/>
                    <a:lstStyle/>
                    <a:p>
                      <a:pPr algn="l"/>
                      <a:r>
                        <a:rPr sz="750" b="0">
                          <a:solidFill>
                            <a:srgbClr val="000000"/>
                          </a:solidFill>
                          <a:latin typeface="Arial"/>
                        </a:rPr>
                        <a:t>bigint(20) unsigned</a:t>
                      </a:r>
                    </a:p>
                  </a:txBody>
                  <a:tcPr marL="64008" marR="64008" marT="9144" marB="9144" anchor="ctr">
                    <a:solidFill>
                      <a:srgbClr val="EAEBF2"/>
                    </a:solidFill>
                  </a:tcPr>
                </a:tc>
                <a:tc>
                  <a:txBody>
                    <a:bodyPr/>
                    <a:lstStyle/>
                    <a:p>
                      <a:pPr algn="l"/>
                      <a:r>
                        <a:rPr sz="750" b="0">
                          <a:solidFill>
                            <a:srgbClr val="000000"/>
                          </a:solidFill>
                          <a:latin typeface="Arial"/>
                        </a:rPr>
                        <a:t>FK/IDX</a:t>
                      </a:r>
                    </a:p>
                  </a:txBody>
                  <a:tcPr marL="64008" marR="64008" marT="9144" marB="9144" anchor="ctr">
                    <a:solidFill>
                      <a:srgbClr val="EAEBF2"/>
                    </a:solidFill>
                  </a:tcPr>
                </a:tc>
                <a:tc>
                  <a:txBody>
                    <a:bodyPr/>
                    <a:lstStyle/>
                    <a:p>
                      <a:pPr algn="l"/>
                      <a:r>
                        <a:rPr sz="750" b="0">
                          <a:solidFill>
                            <a:srgbClr val="000000"/>
                          </a:solidFill>
                          <a:latin typeface="Arial"/>
                        </a:rPr>
                        <a:t>Links to the ordered food item.</a:t>
                      </a:r>
                    </a:p>
                  </a:txBody>
                  <a:tcPr marL="64008" marR="64008" marT="9144" marB="9144" anchor="ctr">
                    <a:solidFill>
                      <a:srgbClr val="EAEBF2"/>
                    </a:solidFill>
                  </a:tcPr>
                </a:tc>
                <a:extLst>
                  <a:ext uri="{0D108BD9-81ED-4DB2-BD59-A6C34878D82A}">
                    <a16:rowId xmlns:a16="http://schemas.microsoft.com/office/drawing/2014/main" val="10003"/>
                  </a:ext>
                </a:extLst>
              </a:tr>
              <a:tr h="259689">
                <a:tc>
                  <a:txBody>
                    <a:bodyPr/>
                    <a:lstStyle/>
                    <a:p>
                      <a:pPr algn="l"/>
                      <a:r>
                        <a:rPr sz="750" b="0">
                          <a:solidFill>
                            <a:srgbClr val="000000"/>
                          </a:solidFill>
                          <a:latin typeface="Arial"/>
                        </a:rPr>
                        <a:t>food_name_snapshot</a:t>
                      </a:r>
                    </a:p>
                  </a:txBody>
                  <a:tcPr marL="64008" marR="64008" marT="9144" marB="9144" anchor="ctr">
                    <a:solidFill>
                      <a:srgbClr val="D2D5E4"/>
                    </a:solidFill>
                  </a:tcPr>
                </a:tc>
                <a:tc>
                  <a:txBody>
                    <a:bodyPr/>
                    <a:lstStyle/>
                    <a:p>
                      <a:pPr algn="l"/>
                      <a:r>
                        <a:rPr sz="750" b="0">
                          <a:solidFill>
                            <a:srgbClr val="000000"/>
                          </a:solidFill>
                          <a:latin typeface="Arial"/>
                        </a:rPr>
                        <a:t>varchar(150)</a:t>
                      </a:r>
                    </a:p>
                  </a:txBody>
                  <a:tcPr marL="64008" marR="64008" marT="9144" marB="9144" anchor="ctr">
                    <a:solidFill>
                      <a:srgbClr val="D2D5E4"/>
                    </a:solidFill>
                  </a:tcPr>
                </a:tc>
                <a:tc>
                  <a:txBody>
                    <a:bodyPr/>
                    <a:lstStyle/>
                    <a:p>
                      <a:pPr algn="l"/>
                      <a:r>
                        <a:rPr sz="750" b="0">
                          <a:solidFill>
                            <a:srgbClr val="000000"/>
                          </a:solidFill>
                          <a:latin typeface="Arial"/>
                        </a:rPr>
                        <a:t>—</a:t>
                      </a:r>
                    </a:p>
                  </a:txBody>
                  <a:tcPr marL="64008" marR="64008" marT="9144" marB="9144" anchor="ctr">
                    <a:solidFill>
                      <a:srgbClr val="D2D5E4"/>
                    </a:solidFill>
                  </a:tcPr>
                </a:tc>
                <a:tc>
                  <a:txBody>
                    <a:bodyPr/>
                    <a:lstStyle/>
                    <a:p>
                      <a:pPr algn="l"/>
                      <a:r>
                        <a:rPr sz="750" b="0">
                          <a:solidFill>
                            <a:srgbClr val="000000"/>
                          </a:solidFill>
                          <a:latin typeface="Arial"/>
                        </a:rPr>
                        <a:t>Food name preserved at order time.</a:t>
                      </a:r>
                    </a:p>
                  </a:txBody>
                  <a:tcPr marL="64008" marR="64008" marT="9144" marB="9144" anchor="ctr">
                    <a:solidFill>
                      <a:srgbClr val="D2D5E4"/>
                    </a:solidFill>
                  </a:tcPr>
                </a:tc>
                <a:extLst>
                  <a:ext uri="{0D108BD9-81ED-4DB2-BD59-A6C34878D82A}">
                    <a16:rowId xmlns:a16="http://schemas.microsoft.com/office/drawing/2014/main" val="10004"/>
                  </a:ext>
                </a:extLst>
              </a:tr>
              <a:tr h="259689">
                <a:tc>
                  <a:txBody>
                    <a:bodyPr/>
                    <a:lstStyle/>
                    <a:p>
                      <a:pPr algn="l"/>
                      <a:r>
                        <a:rPr sz="750" b="0">
                          <a:solidFill>
                            <a:srgbClr val="000000"/>
                          </a:solidFill>
                          <a:latin typeface="Arial"/>
                        </a:rPr>
                        <a:t>base_price_snapshot</a:t>
                      </a:r>
                    </a:p>
                  </a:txBody>
                  <a:tcPr marL="64008" marR="64008" marT="9144" marB="9144" anchor="ctr">
                    <a:solidFill>
                      <a:srgbClr val="EAEBF2"/>
                    </a:solidFill>
                  </a:tcPr>
                </a:tc>
                <a:tc>
                  <a:txBody>
                    <a:bodyPr/>
                    <a:lstStyle/>
                    <a:p>
                      <a:pPr algn="l"/>
                      <a:r>
                        <a:rPr sz="750" b="0">
                          <a:solidFill>
                            <a:srgbClr val="000000"/>
                          </a:solidFill>
                          <a:latin typeface="Arial"/>
                        </a:rPr>
                        <a:t>decimal(10,2)</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Base price preserved at order time.</a:t>
                      </a:r>
                    </a:p>
                  </a:txBody>
                  <a:tcPr marL="64008" marR="64008" marT="9144" marB="9144" anchor="ctr">
                    <a:solidFill>
                      <a:srgbClr val="EAEBF2"/>
                    </a:solidFill>
                  </a:tcPr>
                </a:tc>
                <a:extLst>
                  <a:ext uri="{0D108BD9-81ED-4DB2-BD59-A6C34878D82A}">
                    <a16:rowId xmlns:a16="http://schemas.microsoft.com/office/drawing/2014/main" val="10005"/>
                  </a:ext>
                </a:extLst>
              </a:tr>
              <a:tr h="259689">
                <a:tc>
                  <a:txBody>
                    <a:bodyPr/>
                    <a:lstStyle/>
                    <a:p>
                      <a:pPr algn="l"/>
                      <a:r>
                        <a:rPr sz="750" b="0">
                          <a:solidFill>
                            <a:srgbClr val="000000"/>
                          </a:solidFill>
                          <a:latin typeface="Arial"/>
                        </a:rPr>
                        <a:t>variant_name_snapshot</a:t>
                      </a:r>
                    </a:p>
                  </a:txBody>
                  <a:tcPr marL="64008" marR="64008" marT="9144" marB="9144" anchor="ctr">
                    <a:solidFill>
                      <a:srgbClr val="D2D5E4"/>
                    </a:solidFill>
                  </a:tcPr>
                </a:tc>
                <a:tc>
                  <a:txBody>
                    <a:bodyPr/>
                    <a:lstStyle/>
                    <a:p>
                      <a:pPr algn="l"/>
                      <a:r>
                        <a:rPr sz="750" b="0">
                          <a:solidFill>
                            <a:srgbClr val="000000"/>
                          </a:solidFill>
                          <a:latin typeface="Arial"/>
                        </a:rPr>
                        <a:t>varchar(100)</a:t>
                      </a:r>
                    </a:p>
                  </a:txBody>
                  <a:tcPr marL="64008" marR="64008" marT="9144" marB="9144" anchor="ctr">
                    <a:solidFill>
                      <a:srgbClr val="D2D5E4"/>
                    </a:solidFill>
                  </a:tcPr>
                </a:tc>
                <a:tc>
                  <a:txBody>
                    <a:bodyPr/>
                    <a:lstStyle/>
                    <a:p>
                      <a:pPr algn="l"/>
                      <a:r>
                        <a:rPr sz="750" b="0">
                          <a:solidFill>
                            <a:srgbClr val="000000"/>
                          </a:solidFill>
                          <a:latin typeface="Arial"/>
                        </a:rPr>
                        <a:t>—</a:t>
                      </a:r>
                    </a:p>
                  </a:txBody>
                  <a:tcPr marL="64008" marR="64008" marT="9144" marB="9144" anchor="ctr">
                    <a:solidFill>
                      <a:srgbClr val="D2D5E4"/>
                    </a:solidFill>
                  </a:tcPr>
                </a:tc>
                <a:tc>
                  <a:txBody>
                    <a:bodyPr/>
                    <a:lstStyle/>
                    <a:p>
                      <a:pPr algn="l"/>
                      <a:r>
                        <a:rPr sz="750" b="0">
                          <a:solidFill>
                            <a:srgbClr val="000000"/>
                          </a:solidFill>
                          <a:latin typeface="Arial"/>
                        </a:rPr>
                        <a:t>Variant name preserved at order time.</a:t>
                      </a:r>
                    </a:p>
                  </a:txBody>
                  <a:tcPr marL="64008" marR="64008" marT="9144" marB="9144" anchor="ctr">
                    <a:solidFill>
                      <a:srgbClr val="D2D5E4"/>
                    </a:solidFill>
                  </a:tcPr>
                </a:tc>
                <a:extLst>
                  <a:ext uri="{0D108BD9-81ED-4DB2-BD59-A6C34878D82A}">
                    <a16:rowId xmlns:a16="http://schemas.microsoft.com/office/drawing/2014/main" val="10006"/>
                  </a:ext>
                </a:extLst>
              </a:tr>
              <a:tr h="259689">
                <a:tc>
                  <a:txBody>
                    <a:bodyPr/>
                    <a:lstStyle/>
                    <a:p>
                      <a:pPr algn="l"/>
                      <a:r>
                        <a:rPr sz="750" b="0">
                          <a:solidFill>
                            <a:srgbClr val="000000"/>
                          </a:solidFill>
                          <a:latin typeface="Arial"/>
                        </a:rPr>
                        <a:t>variant_price_snapshot</a:t>
                      </a:r>
                    </a:p>
                  </a:txBody>
                  <a:tcPr marL="64008" marR="64008" marT="9144" marB="9144" anchor="ctr">
                    <a:solidFill>
                      <a:srgbClr val="EAEBF2"/>
                    </a:solidFill>
                  </a:tcPr>
                </a:tc>
                <a:tc>
                  <a:txBody>
                    <a:bodyPr/>
                    <a:lstStyle/>
                    <a:p>
                      <a:pPr algn="l"/>
                      <a:r>
                        <a:rPr sz="750" b="0">
                          <a:solidFill>
                            <a:srgbClr val="000000"/>
                          </a:solidFill>
                          <a:latin typeface="Arial"/>
                        </a:rPr>
                        <a:t>decimal(10,2)</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Variant price preserved at order time.</a:t>
                      </a:r>
                    </a:p>
                  </a:txBody>
                  <a:tcPr marL="64008" marR="64008" marT="9144" marB="9144" anchor="ctr">
                    <a:solidFill>
                      <a:srgbClr val="EAEBF2"/>
                    </a:solidFill>
                  </a:tcPr>
                </a:tc>
                <a:extLst>
                  <a:ext uri="{0D108BD9-81ED-4DB2-BD59-A6C34878D82A}">
                    <a16:rowId xmlns:a16="http://schemas.microsoft.com/office/drawing/2014/main" val="10007"/>
                  </a:ext>
                </a:extLst>
              </a:tr>
              <a:tr h="259689">
                <a:tc>
                  <a:txBody>
                    <a:bodyPr/>
                    <a:lstStyle/>
                    <a:p>
                      <a:pPr algn="l"/>
                      <a:r>
                        <a:rPr sz="750" b="0">
                          <a:solidFill>
                            <a:srgbClr val="000000"/>
                          </a:solidFill>
                          <a:latin typeface="Arial"/>
                        </a:rPr>
                        <a:t>quantity</a:t>
                      </a:r>
                    </a:p>
                  </a:txBody>
                  <a:tcPr marL="64008" marR="64008" marT="9144" marB="9144" anchor="ctr">
                    <a:solidFill>
                      <a:srgbClr val="D2D5E4"/>
                    </a:solidFill>
                  </a:tcPr>
                </a:tc>
                <a:tc>
                  <a:txBody>
                    <a:bodyPr/>
                    <a:lstStyle/>
                    <a:p>
                      <a:pPr algn="l"/>
                      <a:r>
                        <a:rPr sz="750" b="0">
                          <a:solidFill>
                            <a:srgbClr val="000000"/>
                          </a:solidFill>
                          <a:latin typeface="Arial"/>
                        </a:rPr>
                        <a:t>int(10) unsigned</a:t>
                      </a:r>
                    </a:p>
                  </a:txBody>
                  <a:tcPr marL="64008" marR="64008" marT="9144" marB="9144" anchor="ctr">
                    <a:solidFill>
                      <a:srgbClr val="D2D5E4"/>
                    </a:solidFill>
                  </a:tcPr>
                </a:tc>
                <a:tc>
                  <a:txBody>
                    <a:bodyPr/>
                    <a:lstStyle/>
                    <a:p>
                      <a:pPr algn="l"/>
                      <a:r>
                        <a:rPr sz="750" b="0">
                          <a:solidFill>
                            <a:srgbClr val="000000"/>
                          </a:solidFill>
                          <a:latin typeface="Arial"/>
                        </a:rPr>
                        <a:t>—</a:t>
                      </a:r>
                    </a:p>
                  </a:txBody>
                  <a:tcPr marL="64008" marR="64008" marT="9144" marB="9144" anchor="ctr">
                    <a:solidFill>
                      <a:srgbClr val="D2D5E4"/>
                    </a:solidFill>
                  </a:tcPr>
                </a:tc>
                <a:tc>
                  <a:txBody>
                    <a:bodyPr/>
                    <a:lstStyle/>
                    <a:p>
                      <a:pPr algn="l"/>
                      <a:r>
                        <a:rPr sz="750" b="0">
                          <a:solidFill>
                            <a:srgbClr val="000000"/>
                          </a:solidFill>
                          <a:latin typeface="Arial"/>
                        </a:rPr>
                        <a:t>Number of units ordered.</a:t>
                      </a:r>
                    </a:p>
                  </a:txBody>
                  <a:tcPr marL="64008" marR="64008" marT="9144" marB="9144" anchor="ctr">
                    <a:solidFill>
                      <a:srgbClr val="D2D5E4"/>
                    </a:solidFill>
                  </a:tcPr>
                </a:tc>
                <a:extLst>
                  <a:ext uri="{0D108BD9-81ED-4DB2-BD59-A6C34878D82A}">
                    <a16:rowId xmlns:a16="http://schemas.microsoft.com/office/drawing/2014/main" val="10008"/>
                  </a:ext>
                </a:extLst>
              </a:tr>
              <a:tr h="259689">
                <a:tc>
                  <a:txBody>
                    <a:bodyPr/>
                    <a:lstStyle/>
                    <a:p>
                      <a:pPr algn="l"/>
                      <a:r>
                        <a:rPr sz="750" b="0">
                          <a:solidFill>
                            <a:srgbClr val="000000"/>
                          </a:solidFill>
                          <a:latin typeface="Arial"/>
                        </a:rPr>
                        <a:t>unit_price</a:t>
                      </a:r>
                    </a:p>
                  </a:txBody>
                  <a:tcPr marL="64008" marR="64008" marT="9144" marB="9144" anchor="ctr">
                    <a:solidFill>
                      <a:srgbClr val="EAEBF2"/>
                    </a:solidFill>
                  </a:tcPr>
                </a:tc>
                <a:tc>
                  <a:txBody>
                    <a:bodyPr/>
                    <a:lstStyle/>
                    <a:p>
                      <a:pPr algn="l"/>
                      <a:r>
                        <a:rPr sz="750" b="0">
                          <a:solidFill>
                            <a:srgbClr val="000000"/>
                          </a:solidFill>
                          <a:latin typeface="Arial"/>
                        </a:rPr>
                        <a:t>decimal(10,2)</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Price per ordered unit.</a:t>
                      </a:r>
                    </a:p>
                  </a:txBody>
                  <a:tcPr marL="64008" marR="64008" marT="9144" marB="9144" anchor="ctr">
                    <a:solidFill>
                      <a:srgbClr val="EAEBF2"/>
                    </a:solidFill>
                  </a:tcPr>
                </a:tc>
                <a:extLst>
                  <a:ext uri="{0D108BD9-81ED-4DB2-BD59-A6C34878D82A}">
                    <a16:rowId xmlns:a16="http://schemas.microsoft.com/office/drawing/2014/main" val="10009"/>
                  </a:ext>
                </a:extLst>
              </a:tr>
              <a:tr h="259689">
                <a:tc>
                  <a:txBody>
                    <a:bodyPr/>
                    <a:lstStyle/>
                    <a:p>
                      <a:pPr algn="l"/>
                      <a:r>
                        <a:rPr sz="750" b="0">
                          <a:solidFill>
                            <a:srgbClr val="000000"/>
                          </a:solidFill>
                          <a:latin typeface="Arial"/>
                        </a:rPr>
                        <a:t>total_price</a:t>
                      </a:r>
                    </a:p>
                  </a:txBody>
                  <a:tcPr marL="64008" marR="64008" marT="9144" marB="9144" anchor="ctr">
                    <a:solidFill>
                      <a:srgbClr val="D2D5E4"/>
                    </a:solidFill>
                  </a:tcPr>
                </a:tc>
                <a:tc>
                  <a:txBody>
                    <a:bodyPr/>
                    <a:lstStyle/>
                    <a:p>
                      <a:pPr algn="l"/>
                      <a:r>
                        <a:rPr sz="750" b="0">
                          <a:solidFill>
                            <a:srgbClr val="000000"/>
                          </a:solidFill>
                          <a:latin typeface="Arial"/>
                        </a:rPr>
                        <a:t>decimal(10,2)</a:t>
                      </a:r>
                    </a:p>
                  </a:txBody>
                  <a:tcPr marL="64008" marR="64008" marT="9144" marB="9144" anchor="ctr">
                    <a:solidFill>
                      <a:srgbClr val="D2D5E4"/>
                    </a:solidFill>
                  </a:tcPr>
                </a:tc>
                <a:tc>
                  <a:txBody>
                    <a:bodyPr/>
                    <a:lstStyle/>
                    <a:p>
                      <a:pPr algn="l"/>
                      <a:r>
                        <a:rPr sz="750" b="0">
                          <a:solidFill>
                            <a:srgbClr val="000000"/>
                          </a:solidFill>
                          <a:latin typeface="Arial"/>
                        </a:rPr>
                        <a:t>—</a:t>
                      </a:r>
                    </a:p>
                  </a:txBody>
                  <a:tcPr marL="64008" marR="64008" marT="9144" marB="9144" anchor="ctr">
                    <a:solidFill>
                      <a:srgbClr val="D2D5E4"/>
                    </a:solidFill>
                  </a:tcPr>
                </a:tc>
                <a:tc>
                  <a:txBody>
                    <a:bodyPr/>
                    <a:lstStyle/>
                    <a:p>
                      <a:pPr algn="l"/>
                      <a:r>
                        <a:rPr sz="750" b="0">
                          <a:solidFill>
                            <a:srgbClr val="000000"/>
                          </a:solidFill>
                          <a:latin typeface="Arial"/>
                        </a:rPr>
                        <a:t>Total line price.</a:t>
                      </a:r>
                    </a:p>
                  </a:txBody>
                  <a:tcPr marL="64008" marR="64008" marT="9144" marB="9144" anchor="ctr">
                    <a:solidFill>
                      <a:srgbClr val="D2D5E4"/>
                    </a:solidFill>
                  </a:tcPr>
                </a:tc>
                <a:extLst>
                  <a:ext uri="{0D108BD9-81ED-4DB2-BD59-A6C34878D82A}">
                    <a16:rowId xmlns:a16="http://schemas.microsoft.com/office/drawing/2014/main" val="10010"/>
                  </a:ext>
                </a:extLst>
              </a:tr>
              <a:tr h="259689">
                <a:tc>
                  <a:txBody>
                    <a:bodyPr/>
                    <a:lstStyle/>
                    <a:p>
                      <a:pPr algn="l"/>
                      <a:r>
                        <a:rPr sz="750" b="0">
                          <a:solidFill>
                            <a:srgbClr val="000000"/>
                          </a:solidFill>
                          <a:latin typeface="Arial"/>
                        </a:rPr>
                        <a:t>calories</a:t>
                      </a:r>
                    </a:p>
                  </a:txBody>
                  <a:tcPr marL="64008" marR="64008" marT="9144" marB="9144" anchor="ctr">
                    <a:solidFill>
                      <a:srgbClr val="EAEBF2"/>
                    </a:solidFill>
                  </a:tcPr>
                </a:tc>
                <a:tc>
                  <a:txBody>
                    <a:bodyPr/>
                    <a:lstStyle/>
                    <a:p>
                      <a:pPr algn="l"/>
                      <a:r>
                        <a:rPr sz="750" b="0">
                          <a:solidFill>
                            <a:srgbClr val="000000"/>
                          </a:solidFill>
                          <a:latin typeface="Arial"/>
                        </a:rPr>
                        <a:t>int(11)</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Calories snapshot for the item.</a:t>
                      </a:r>
                    </a:p>
                  </a:txBody>
                  <a:tcPr marL="64008" marR="64008" marT="9144" marB="9144" anchor="ctr">
                    <a:solidFill>
                      <a:srgbClr val="EAEBF2"/>
                    </a:solidFill>
                  </a:tcPr>
                </a:tc>
                <a:extLst>
                  <a:ext uri="{0D108BD9-81ED-4DB2-BD59-A6C34878D82A}">
                    <a16:rowId xmlns:a16="http://schemas.microsoft.com/office/drawing/2014/main" val="10011"/>
                  </a:ext>
                </a:extLst>
              </a:tr>
              <a:tr h="259689">
                <a:tc>
                  <a:txBody>
                    <a:bodyPr/>
                    <a:lstStyle/>
                    <a:p>
                      <a:pPr algn="l"/>
                      <a:r>
                        <a:rPr sz="750" b="0">
                          <a:solidFill>
                            <a:srgbClr val="000000"/>
                          </a:solidFill>
                          <a:latin typeface="Arial"/>
                        </a:rPr>
                        <a:t>protein</a:t>
                      </a:r>
                    </a:p>
                  </a:txBody>
                  <a:tcPr marL="64008" marR="64008" marT="9144" marB="9144" anchor="ctr">
                    <a:solidFill>
                      <a:srgbClr val="D2D5E4"/>
                    </a:solidFill>
                  </a:tcPr>
                </a:tc>
                <a:tc>
                  <a:txBody>
                    <a:bodyPr/>
                    <a:lstStyle/>
                    <a:p>
                      <a:pPr algn="l"/>
                      <a:r>
                        <a:rPr sz="750" b="0">
                          <a:solidFill>
                            <a:srgbClr val="000000"/>
                          </a:solidFill>
                          <a:latin typeface="Arial"/>
                        </a:rPr>
                        <a:t>decimal(6,2)</a:t>
                      </a:r>
                    </a:p>
                  </a:txBody>
                  <a:tcPr marL="64008" marR="64008" marT="9144" marB="9144" anchor="ctr">
                    <a:solidFill>
                      <a:srgbClr val="D2D5E4"/>
                    </a:solidFill>
                  </a:tcPr>
                </a:tc>
                <a:tc>
                  <a:txBody>
                    <a:bodyPr/>
                    <a:lstStyle/>
                    <a:p>
                      <a:pPr algn="l"/>
                      <a:r>
                        <a:rPr sz="750" b="0">
                          <a:solidFill>
                            <a:srgbClr val="000000"/>
                          </a:solidFill>
                          <a:latin typeface="Arial"/>
                        </a:rPr>
                        <a:t>—</a:t>
                      </a:r>
                    </a:p>
                  </a:txBody>
                  <a:tcPr marL="64008" marR="64008" marT="9144" marB="9144" anchor="ctr">
                    <a:solidFill>
                      <a:srgbClr val="D2D5E4"/>
                    </a:solidFill>
                  </a:tcPr>
                </a:tc>
                <a:tc>
                  <a:txBody>
                    <a:bodyPr/>
                    <a:lstStyle/>
                    <a:p>
                      <a:pPr algn="l"/>
                      <a:r>
                        <a:rPr sz="750" b="0">
                          <a:solidFill>
                            <a:srgbClr val="000000"/>
                          </a:solidFill>
                          <a:latin typeface="Arial"/>
                        </a:rPr>
                        <a:t>Protein snapshot in grams.</a:t>
                      </a:r>
                    </a:p>
                  </a:txBody>
                  <a:tcPr marL="64008" marR="64008" marT="9144" marB="9144" anchor="ctr">
                    <a:solidFill>
                      <a:srgbClr val="D2D5E4"/>
                    </a:solidFill>
                  </a:tcPr>
                </a:tc>
                <a:extLst>
                  <a:ext uri="{0D108BD9-81ED-4DB2-BD59-A6C34878D82A}">
                    <a16:rowId xmlns:a16="http://schemas.microsoft.com/office/drawing/2014/main" val="10012"/>
                  </a:ext>
                </a:extLst>
              </a:tr>
              <a:tr h="259689">
                <a:tc>
                  <a:txBody>
                    <a:bodyPr/>
                    <a:lstStyle/>
                    <a:p>
                      <a:pPr algn="l"/>
                      <a:r>
                        <a:rPr sz="750" b="0">
                          <a:solidFill>
                            <a:srgbClr val="000000"/>
                          </a:solidFill>
                          <a:latin typeface="Arial"/>
                        </a:rPr>
                        <a:t>carbs</a:t>
                      </a:r>
                    </a:p>
                  </a:txBody>
                  <a:tcPr marL="64008" marR="64008" marT="9144" marB="9144" anchor="ctr">
                    <a:solidFill>
                      <a:srgbClr val="EAEBF2"/>
                    </a:solidFill>
                  </a:tcPr>
                </a:tc>
                <a:tc>
                  <a:txBody>
                    <a:bodyPr/>
                    <a:lstStyle/>
                    <a:p>
                      <a:pPr algn="l"/>
                      <a:r>
                        <a:rPr sz="750" b="0">
                          <a:solidFill>
                            <a:srgbClr val="000000"/>
                          </a:solidFill>
                          <a:latin typeface="Arial"/>
                        </a:rPr>
                        <a:t>decimal(6,2)</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Carbohydrate snapshot in grams.</a:t>
                      </a:r>
                    </a:p>
                  </a:txBody>
                  <a:tcPr marL="64008" marR="64008" marT="9144" marB="9144" anchor="ctr">
                    <a:solidFill>
                      <a:srgbClr val="EAEBF2"/>
                    </a:solidFill>
                  </a:tcPr>
                </a:tc>
                <a:extLst>
                  <a:ext uri="{0D108BD9-81ED-4DB2-BD59-A6C34878D82A}">
                    <a16:rowId xmlns:a16="http://schemas.microsoft.com/office/drawing/2014/main" val="10013"/>
                  </a:ext>
                </a:extLst>
              </a:tr>
              <a:tr h="259689">
                <a:tc>
                  <a:txBody>
                    <a:bodyPr/>
                    <a:lstStyle/>
                    <a:p>
                      <a:pPr algn="l"/>
                      <a:r>
                        <a:rPr sz="750" b="0">
                          <a:solidFill>
                            <a:srgbClr val="000000"/>
                          </a:solidFill>
                          <a:latin typeface="Arial"/>
                        </a:rPr>
                        <a:t>fat</a:t>
                      </a:r>
                    </a:p>
                  </a:txBody>
                  <a:tcPr marL="64008" marR="64008" marT="9144" marB="9144" anchor="ctr">
                    <a:solidFill>
                      <a:srgbClr val="D2D5E4"/>
                    </a:solidFill>
                  </a:tcPr>
                </a:tc>
                <a:tc>
                  <a:txBody>
                    <a:bodyPr/>
                    <a:lstStyle/>
                    <a:p>
                      <a:pPr algn="l"/>
                      <a:r>
                        <a:rPr sz="750" b="0">
                          <a:solidFill>
                            <a:srgbClr val="000000"/>
                          </a:solidFill>
                          <a:latin typeface="Arial"/>
                        </a:rPr>
                        <a:t>decimal(6,2)</a:t>
                      </a:r>
                    </a:p>
                  </a:txBody>
                  <a:tcPr marL="64008" marR="64008" marT="9144" marB="9144" anchor="ctr">
                    <a:solidFill>
                      <a:srgbClr val="D2D5E4"/>
                    </a:solidFill>
                  </a:tcPr>
                </a:tc>
                <a:tc>
                  <a:txBody>
                    <a:bodyPr/>
                    <a:lstStyle/>
                    <a:p>
                      <a:pPr algn="l"/>
                      <a:r>
                        <a:rPr sz="750" b="0">
                          <a:solidFill>
                            <a:srgbClr val="000000"/>
                          </a:solidFill>
                          <a:latin typeface="Arial"/>
                        </a:rPr>
                        <a:t>—</a:t>
                      </a:r>
                    </a:p>
                  </a:txBody>
                  <a:tcPr marL="64008" marR="64008" marT="9144" marB="9144" anchor="ctr">
                    <a:solidFill>
                      <a:srgbClr val="D2D5E4"/>
                    </a:solidFill>
                  </a:tcPr>
                </a:tc>
                <a:tc>
                  <a:txBody>
                    <a:bodyPr/>
                    <a:lstStyle/>
                    <a:p>
                      <a:pPr algn="l"/>
                      <a:r>
                        <a:rPr sz="750" b="0">
                          <a:solidFill>
                            <a:srgbClr val="000000"/>
                          </a:solidFill>
                          <a:latin typeface="Arial"/>
                        </a:rPr>
                        <a:t>Fat snapshot in grams.</a:t>
                      </a:r>
                    </a:p>
                  </a:txBody>
                  <a:tcPr marL="64008" marR="64008" marT="9144" marB="9144" anchor="ctr">
                    <a:solidFill>
                      <a:srgbClr val="D2D5E4"/>
                    </a:solidFill>
                  </a:tcPr>
                </a:tc>
                <a:extLst>
                  <a:ext uri="{0D108BD9-81ED-4DB2-BD59-A6C34878D82A}">
                    <a16:rowId xmlns:a16="http://schemas.microsoft.com/office/drawing/2014/main" val="10014"/>
                  </a:ext>
                </a:extLst>
              </a:tr>
              <a:tr h="259689">
                <a:tc>
                  <a:txBody>
                    <a:bodyPr/>
                    <a:lstStyle/>
                    <a:p>
                      <a:pPr algn="l"/>
                      <a:r>
                        <a:rPr sz="750" b="0">
                          <a:solidFill>
                            <a:srgbClr val="000000"/>
                          </a:solidFill>
                          <a:latin typeface="Arial"/>
                        </a:rPr>
                        <a:t>fiber</a:t>
                      </a:r>
                    </a:p>
                  </a:txBody>
                  <a:tcPr marL="64008" marR="64008" marT="9144" marB="9144" anchor="ctr">
                    <a:solidFill>
                      <a:srgbClr val="EAEBF2"/>
                    </a:solidFill>
                  </a:tcPr>
                </a:tc>
                <a:tc>
                  <a:txBody>
                    <a:bodyPr/>
                    <a:lstStyle/>
                    <a:p>
                      <a:pPr algn="l"/>
                      <a:r>
                        <a:rPr sz="750" b="0">
                          <a:solidFill>
                            <a:srgbClr val="000000"/>
                          </a:solidFill>
                          <a:latin typeface="Arial"/>
                        </a:rPr>
                        <a:t>decimal(6,2)</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Fiber snapshot in grams.</a:t>
                      </a:r>
                    </a:p>
                  </a:txBody>
                  <a:tcPr marL="64008" marR="64008" marT="9144" marB="9144" anchor="ctr">
                    <a:solidFill>
                      <a:srgbClr val="EAEBF2"/>
                    </a:solidFill>
                  </a:tcPr>
                </a:tc>
                <a:extLst>
                  <a:ext uri="{0D108BD9-81ED-4DB2-BD59-A6C34878D82A}">
                    <a16:rowId xmlns:a16="http://schemas.microsoft.com/office/drawing/2014/main" val="10015"/>
                  </a:ext>
                </a:extLst>
              </a:tr>
              <a:tr h="259689">
                <a:tc>
                  <a:txBody>
                    <a:bodyPr/>
                    <a:lstStyle/>
                    <a:p>
                      <a:pPr algn="l"/>
                      <a:r>
                        <a:rPr sz="750" b="0">
                          <a:solidFill>
                            <a:srgbClr val="000000"/>
                          </a:solidFill>
                          <a:latin typeface="Arial"/>
                        </a:rPr>
                        <a:t>sugar</a:t>
                      </a:r>
                    </a:p>
                  </a:txBody>
                  <a:tcPr marL="64008" marR="64008" marT="9144" marB="9144" anchor="ctr">
                    <a:solidFill>
                      <a:srgbClr val="D2D5E4"/>
                    </a:solidFill>
                  </a:tcPr>
                </a:tc>
                <a:tc>
                  <a:txBody>
                    <a:bodyPr/>
                    <a:lstStyle/>
                    <a:p>
                      <a:pPr algn="l"/>
                      <a:r>
                        <a:rPr sz="750" b="0">
                          <a:solidFill>
                            <a:srgbClr val="000000"/>
                          </a:solidFill>
                          <a:latin typeface="Arial"/>
                        </a:rPr>
                        <a:t>decimal(6,2)</a:t>
                      </a:r>
                    </a:p>
                  </a:txBody>
                  <a:tcPr marL="64008" marR="64008" marT="9144" marB="9144" anchor="ctr">
                    <a:solidFill>
                      <a:srgbClr val="D2D5E4"/>
                    </a:solidFill>
                  </a:tcPr>
                </a:tc>
                <a:tc>
                  <a:txBody>
                    <a:bodyPr/>
                    <a:lstStyle/>
                    <a:p>
                      <a:pPr algn="l"/>
                      <a:r>
                        <a:rPr sz="750" b="0">
                          <a:solidFill>
                            <a:srgbClr val="000000"/>
                          </a:solidFill>
                          <a:latin typeface="Arial"/>
                        </a:rPr>
                        <a:t>—</a:t>
                      </a:r>
                    </a:p>
                  </a:txBody>
                  <a:tcPr marL="64008" marR="64008" marT="9144" marB="9144" anchor="ctr">
                    <a:solidFill>
                      <a:srgbClr val="D2D5E4"/>
                    </a:solidFill>
                  </a:tcPr>
                </a:tc>
                <a:tc>
                  <a:txBody>
                    <a:bodyPr/>
                    <a:lstStyle/>
                    <a:p>
                      <a:pPr algn="l"/>
                      <a:r>
                        <a:rPr sz="750" b="0">
                          <a:solidFill>
                            <a:srgbClr val="000000"/>
                          </a:solidFill>
                          <a:latin typeface="Arial"/>
                        </a:rPr>
                        <a:t>Sugar snapshot in grams.</a:t>
                      </a:r>
                    </a:p>
                  </a:txBody>
                  <a:tcPr marL="64008" marR="64008" marT="9144" marB="9144" anchor="ctr">
                    <a:solidFill>
                      <a:srgbClr val="D2D5E4"/>
                    </a:solidFill>
                  </a:tcPr>
                </a:tc>
                <a:extLst>
                  <a:ext uri="{0D108BD9-81ED-4DB2-BD59-A6C34878D82A}">
                    <a16:rowId xmlns:a16="http://schemas.microsoft.com/office/drawing/2014/main" val="10016"/>
                  </a:ext>
                </a:extLst>
              </a:tr>
              <a:tr h="259689">
                <a:tc>
                  <a:txBody>
                    <a:bodyPr/>
                    <a:lstStyle/>
                    <a:p>
                      <a:pPr algn="l"/>
                      <a:r>
                        <a:rPr sz="750" b="0">
                          <a:solidFill>
                            <a:srgbClr val="000000"/>
                          </a:solidFill>
                          <a:latin typeface="Arial"/>
                        </a:rPr>
                        <a:t>sodium</a:t>
                      </a:r>
                    </a:p>
                  </a:txBody>
                  <a:tcPr marL="64008" marR="64008" marT="9144" marB="9144" anchor="ctr">
                    <a:solidFill>
                      <a:srgbClr val="EAEBF2"/>
                    </a:solidFill>
                  </a:tcPr>
                </a:tc>
                <a:tc>
                  <a:txBody>
                    <a:bodyPr/>
                    <a:lstStyle/>
                    <a:p>
                      <a:pPr algn="l"/>
                      <a:r>
                        <a:rPr sz="750" b="0">
                          <a:solidFill>
                            <a:srgbClr val="000000"/>
                          </a:solidFill>
                          <a:latin typeface="Arial"/>
                        </a:rPr>
                        <a:t>decimal(7,2)</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Sodium snapshot in milligrams.</a:t>
                      </a:r>
                    </a:p>
                  </a:txBody>
                  <a:tcPr marL="64008" marR="64008" marT="9144" marB="9144" anchor="ctr">
                    <a:solidFill>
                      <a:srgbClr val="EAEBF2"/>
                    </a:solidFill>
                  </a:tcPr>
                </a:tc>
                <a:extLst>
                  <a:ext uri="{0D108BD9-81ED-4DB2-BD59-A6C34878D82A}">
                    <a16:rowId xmlns:a16="http://schemas.microsoft.com/office/drawing/2014/main" val="10017"/>
                  </a:ext>
                </a:extLst>
              </a:tr>
              <a:tr h="259689">
                <a:tc>
                  <a:txBody>
                    <a:bodyPr/>
                    <a:lstStyle/>
                    <a:p>
                      <a:pPr algn="l"/>
                      <a:r>
                        <a:rPr sz="750" b="0">
                          <a:solidFill>
                            <a:srgbClr val="000000"/>
                          </a:solidFill>
                          <a:latin typeface="Arial"/>
                        </a:rPr>
                        <a:t>caffeine</a:t>
                      </a:r>
                    </a:p>
                  </a:txBody>
                  <a:tcPr marL="64008" marR="64008" marT="9144" marB="9144" anchor="ctr">
                    <a:solidFill>
                      <a:srgbClr val="D2D5E4"/>
                    </a:solidFill>
                  </a:tcPr>
                </a:tc>
                <a:tc>
                  <a:txBody>
                    <a:bodyPr/>
                    <a:lstStyle/>
                    <a:p>
                      <a:pPr algn="l"/>
                      <a:r>
                        <a:rPr sz="750" b="0">
                          <a:solidFill>
                            <a:srgbClr val="000000"/>
                          </a:solidFill>
                          <a:latin typeface="Arial"/>
                        </a:rPr>
                        <a:t>decimal(6,2)</a:t>
                      </a:r>
                    </a:p>
                  </a:txBody>
                  <a:tcPr marL="64008" marR="64008" marT="9144" marB="9144" anchor="ctr">
                    <a:solidFill>
                      <a:srgbClr val="D2D5E4"/>
                    </a:solidFill>
                  </a:tcPr>
                </a:tc>
                <a:tc>
                  <a:txBody>
                    <a:bodyPr/>
                    <a:lstStyle/>
                    <a:p>
                      <a:pPr algn="l"/>
                      <a:r>
                        <a:rPr sz="750" b="0">
                          <a:solidFill>
                            <a:srgbClr val="000000"/>
                          </a:solidFill>
                          <a:latin typeface="Arial"/>
                        </a:rPr>
                        <a:t>—</a:t>
                      </a:r>
                    </a:p>
                  </a:txBody>
                  <a:tcPr marL="64008" marR="64008" marT="9144" marB="9144" anchor="ctr">
                    <a:solidFill>
                      <a:srgbClr val="D2D5E4"/>
                    </a:solidFill>
                  </a:tcPr>
                </a:tc>
                <a:tc>
                  <a:txBody>
                    <a:bodyPr/>
                    <a:lstStyle/>
                    <a:p>
                      <a:pPr algn="l"/>
                      <a:r>
                        <a:rPr sz="750" b="0">
                          <a:solidFill>
                            <a:srgbClr val="000000"/>
                          </a:solidFill>
                          <a:latin typeface="Arial"/>
                        </a:rPr>
                        <a:t>Caffeine snapshot.</a:t>
                      </a:r>
                    </a:p>
                  </a:txBody>
                  <a:tcPr marL="64008" marR="64008" marT="9144" marB="9144" anchor="ctr">
                    <a:solidFill>
                      <a:srgbClr val="D2D5E4"/>
                    </a:solidFill>
                  </a:tcPr>
                </a:tc>
                <a:extLst>
                  <a:ext uri="{0D108BD9-81ED-4DB2-BD59-A6C34878D82A}">
                    <a16:rowId xmlns:a16="http://schemas.microsoft.com/office/drawing/2014/main" val="10018"/>
                  </a:ext>
                </a:extLst>
              </a:tr>
              <a:tr h="259689">
                <a:tc>
                  <a:txBody>
                    <a:bodyPr/>
                    <a:lstStyle/>
                    <a:p>
                      <a:pPr algn="l"/>
                      <a:r>
                        <a:rPr sz="750" b="0">
                          <a:solidFill>
                            <a:srgbClr val="000000"/>
                          </a:solidFill>
                          <a:latin typeface="Arial"/>
                        </a:rPr>
                        <a:t>created_at</a:t>
                      </a:r>
                    </a:p>
                  </a:txBody>
                  <a:tcPr marL="64008" marR="64008" marT="9144" marB="9144" anchor="ctr">
                    <a:solidFill>
                      <a:srgbClr val="EAEBF2"/>
                    </a:solidFill>
                  </a:tcPr>
                </a:tc>
                <a:tc>
                  <a:txBody>
                    <a:bodyPr/>
                    <a:lstStyle/>
                    <a:p>
                      <a:pPr algn="l"/>
                      <a:r>
                        <a:rPr sz="750" b="0">
                          <a:solidFill>
                            <a:srgbClr val="000000"/>
                          </a:solidFill>
                          <a:latin typeface="Arial"/>
                        </a:rPr>
                        <a:t>timestamp</a:t>
                      </a:r>
                    </a:p>
                  </a:txBody>
                  <a:tcPr marL="64008" marR="64008" marT="9144" marB="9144" anchor="ctr">
                    <a:solidFill>
                      <a:srgbClr val="EAEBF2"/>
                    </a:solidFill>
                  </a:tcPr>
                </a:tc>
                <a:tc>
                  <a:txBody>
                    <a:bodyPr/>
                    <a:lstStyle/>
                    <a:p>
                      <a:pPr algn="l"/>
                      <a:r>
                        <a:rPr sz="750" b="0">
                          <a:solidFill>
                            <a:srgbClr val="000000"/>
                          </a:solidFill>
                          <a:latin typeface="Arial"/>
                        </a:rPr>
                        <a:t>—</a:t>
                      </a:r>
                    </a:p>
                  </a:txBody>
                  <a:tcPr marL="64008" marR="64008" marT="9144" marB="9144" anchor="ctr">
                    <a:solidFill>
                      <a:srgbClr val="EAEBF2"/>
                    </a:solidFill>
                  </a:tcPr>
                </a:tc>
                <a:tc>
                  <a:txBody>
                    <a:bodyPr/>
                    <a:lstStyle/>
                    <a:p>
                      <a:pPr algn="l"/>
                      <a:r>
                        <a:rPr sz="750" b="0">
                          <a:solidFill>
                            <a:srgbClr val="000000"/>
                          </a:solidFill>
                          <a:latin typeface="Arial"/>
                        </a:rPr>
                        <a:t>Date and time the order item was created.</a:t>
                      </a:r>
                    </a:p>
                  </a:txBody>
                  <a:tcPr marL="64008" marR="64008" marT="9144" marB="9144" anchor="ctr">
                    <a:solidFill>
                      <a:srgbClr val="EAEBF2"/>
                    </a:solidFill>
                  </a:tcPr>
                </a:tc>
                <a:extLst>
                  <a:ext uri="{0D108BD9-81ED-4DB2-BD59-A6C34878D82A}">
                    <a16:rowId xmlns:a16="http://schemas.microsoft.com/office/drawing/2014/main" val="10019"/>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3.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3063240" y="0"/>
            <a:ext cx="30175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256032"/>
            <a:ext cx="8229600" cy="6327648"/>
          </a:xfrm>
          <a:prstGeom prst="rect">
            <a:avLst/>
          </a:prstGeom>
          <a:solidFill>
            <a:srgbClr val="FFFFFF"/>
          </a:solidFill>
          <a:ln w="10160">
            <a:solidFill>
              <a:srgbClr val="696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47288" y="36576"/>
            <a:ext cx="2249424" cy="438912"/>
          </a:xfrm>
          <a:prstGeom prst="rect">
            <a:avLst/>
          </a:prstGeom>
          <a:solidFill>
            <a:srgbClr val="9C5252"/>
          </a:solidFill>
          <a:ln w="12700">
            <a:solidFill>
              <a:srgbClr val="7E9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00000"/>
                </a:solidFill>
                <a:latin typeface="Times New Roman"/>
              </a:rPr>
              <a:t>Data Dictionary</a:t>
            </a:r>
          </a:p>
        </p:txBody>
      </p:sp>
      <p:sp>
        <p:nvSpPr>
          <p:cNvPr id="6" name="Rectangle 5"/>
          <p:cNvSpPr/>
          <p:nvPr/>
        </p:nvSpPr>
        <p:spPr>
          <a:xfrm>
            <a:off x="3502152" y="832104"/>
            <a:ext cx="1737360" cy="32004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00000"/>
                </a:solidFill>
                <a:latin typeface="Arial"/>
              </a:rPr>
              <a:t>Table : orders</a:t>
            </a:r>
          </a:p>
        </p:txBody>
      </p:sp>
      <p:sp>
        <p:nvSpPr>
          <p:cNvPr id="7" name="TextBox 6"/>
          <p:cNvSpPr txBox="1"/>
          <p:nvPr/>
        </p:nvSpPr>
        <p:spPr>
          <a:xfrm>
            <a:off x="5312664" y="832104"/>
            <a:ext cx="320040" cy="320040"/>
          </a:xfrm>
          <a:prstGeom prst="rect">
            <a:avLst/>
          </a:prstGeom>
          <a:noFill/>
        </p:spPr>
        <p:txBody>
          <a:bodyPr wrap="none" anchor="ctr">
            <a:spAutoFit/>
          </a:bodyPr>
          <a:lstStyle/>
          <a:p>
            <a:pPr algn="l"/>
            <a:r>
              <a:rPr sz="1100">
                <a:solidFill>
                  <a:srgbClr val="000000"/>
                </a:solidFill>
                <a:latin typeface="Arial"/>
              </a:rPr>
              <a:t>:-</a:t>
            </a:r>
          </a:p>
        </p:txBody>
      </p:sp>
      <p:graphicFrame>
        <p:nvGraphicFramePr>
          <p:cNvPr id="8" name="Table 7"/>
          <p:cNvGraphicFramePr>
            <a:graphicFrameLocks noGrp="1"/>
          </p:cNvGraphicFramePr>
          <p:nvPr/>
        </p:nvGraphicFramePr>
        <p:xfrm>
          <a:off x="1170432" y="1225296"/>
          <a:ext cx="6949440" cy="5193789"/>
        </p:xfrm>
        <a:graphic>
          <a:graphicData uri="http://schemas.openxmlformats.org/drawingml/2006/table">
            <a:tbl>
              <a:tblPr firstRow="1" bandRow="1">
                <a:tableStyleId>{5C22544A-7EE6-4342-B048-85BDC9FD1C3A}</a:tableStyleId>
              </a:tblPr>
              <a:tblGrid>
                <a:gridCol w="1572768">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305517">
                <a:tc>
                  <a:txBody>
                    <a:bodyPr/>
                    <a:lstStyle/>
                    <a:p>
                      <a:pPr algn="l"/>
                      <a:r>
                        <a:rPr sz="950" b="1">
                          <a:solidFill>
                            <a:srgbClr val="FFFFFF"/>
                          </a:solidFill>
                          <a:latin typeface="Arial"/>
                        </a:rPr>
                        <a:t>Field Name</a:t>
                      </a:r>
                    </a:p>
                  </a:txBody>
                  <a:tcPr marL="64008" marR="64008" marT="9144" marB="9144" anchor="ctr">
                    <a:solidFill>
                      <a:srgbClr val="6076B4"/>
                    </a:solidFill>
                  </a:tcPr>
                </a:tc>
                <a:tc>
                  <a:txBody>
                    <a:bodyPr/>
                    <a:lstStyle/>
                    <a:p>
                      <a:pPr algn="l"/>
                      <a:r>
                        <a:rPr sz="950" b="1">
                          <a:solidFill>
                            <a:srgbClr val="FFFFFF"/>
                          </a:solidFill>
                          <a:latin typeface="Arial"/>
                        </a:rPr>
                        <a:t>Data Type</a:t>
                      </a:r>
                    </a:p>
                  </a:txBody>
                  <a:tcPr marL="64008" marR="64008" marT="9144" marB="9144" anchor="ctr">
                    <a:solidFill>
                      <a:srgbClr val="6076B4"/>
                    </a:solidFill>
                  </a:tcPr>
                </a:tc>
                <a:tc>
                  <a:txBody>
                    <a:bodyPr/>
                    <a:lstStyle/>
                    <a:p>
                      <a:pPr algn="l"/>
                      <a:r>
                        <a:rPr sz="950" b="1">
                          <a:solidFill>
                            <a:srgbClr val="FFFFFF"/>
                          </a:solidFill>
                          <a:latin typeface="Arial"/>
                        </a:rPr>
                        <a:t>Key</a:t>
                      </a:r>
                    </a:p>
                  </a:txBody>
                  <a:tcPr marL="64008" marR="64008" marT="9144" marB="9144" anchor="ctr">
                    <a:solidFill>
                      <a:srgbClr val="6076B4"/>
                    </a:solidFill>
                  </a:tcPr>
                </a:tc>
                <a:tc>
                  <a:txBody>
                    <a:bodyPr/>
                    <a:lstStyle/>
                    <a:p>
                      <a:pPr algn="l"/>
                      <a:r>
                        <a:rPr sz="950" b="1">
                          <a:solidFill>
                            <a:srgbClr val="FFFFFF"/>
                          </a:solidFill>
                          <a:latin typeface="Arial"/>
                        </a:rPr>
                        <a:t>Description</a:t>
                      </a:r>
                    </a:p>
                  </a:txBody>
                  <a:tcPr marL="64008" marR="64008" marT="9144" marB="9144" anchor="ctr">
                    <a:solidFill>
                      <a:srgbClr val="6076B4"/>
                    </a:solidFill>
                  </a:tcPr>
                </a:tc>
                <a:extLst>
                  <a:ext uri="{0D108BD9-81ED-4DB2-BD59-A6C34878D82A}">
                    <a16:rowId xmlns:a16="http://schemas.microsoft.com/office/drawing/2014/main" val="10000"/>
                  </a:ext>
                </a:extLst>
              </a:tr>
              <a:tr h="305517">
                <a:tc>
                  <a:txBody>
                    <a:bodyPr/>
                    <a:lstStyle/>
                    <a:p>
                      <a:pPr algn="l"/>
                      <a:r>
                        <a:rPr sz="800" b="0">
                          <a:solidFill>
                            <a:srgbClr val="000000"/>
                          </a:solidFill>
                          <a:latin typeface="Arial"/>
                        </a:rPr>
                        <a:t>id</a:t>
                      </a:r>
                    </a:p>
                  </a:txBody>
                  <a:tcPr marL="64008" marR="64008" marT="9144" marB="9144" anchor="ctr">
                    <a:solidFill>
                      <a:srgbClr val="EAEBF2"/>
                    </a:solidFill>
                  </a:tcPr>
                </a:tc>
                <a:tc>
                  <a:txBody>
                    <a:bodyPr/>
                    <a:lstStyle/>
                    <a:p>
                      <a:pPr algn="l"/>
                      <a:r>
                        <a:rPr sz="800" b="0">
                          <a:solidFill>
                            <a:srgbClr val="000000"/>
                          </a:solidFill>
                          <a:latin typeface="Arial"/>
                        </a:rPr>
                        <a:t>bigint(20) unsigned</a:t>
                      </a:r>
                    </a:p>
                  </a:txBody>
                  <a:tcPr marL="64008" marR="64008" marT="9144" marB="9144" anchor="ctr">
                    <a:solidFill>
                      <a:srgbClr val="EAEBF2"/>
                    </a:solidFill>
                  </a:tcPr>
                </a:tc>
                <a:tc>
                  <a:txBody>
                    <a:bodyPr/>
                    <a:lstStyle/>
                    <a:p>
                      <a:pPr algn="l"/>
                      <a:r>
                        <a:rPr sz="800" b="0">
                          <a:solidFill>
                            <a:srgbClr val="000000"/>
                          </a:solidFill>
                          <a:latin typeface="Arial"/>
                        </a:rPr>
                        <a:t>PK</a:t>
                      </a:r>
                    </a:p>
                  </a:txBody>
                  <a:tcPr marL="64008" marR="64008" marT="9144" marB="9144" anchor="ctr">
                    <a:solidFill>
                      <a:srgbClr val="EAEBF2"/>
                    </a:solidFill>
                  </a:tcPr>
                </a:tc>
                <a:tc>
                  <a:txBody>
                    <a:bodyPr/>
                    <a:lstStyle/>
                    <a:p>
                      <a:pPr algn="l"/>
                      <a:r>
                        <a:rPr sz="800" b="0">
                          <a:solidFill>
                            <a:srgbClr val="000000"/>
                          </a:solidFill>
                          <a:latin typeface="Arial"/>
                        </a:rPr>
                        <a:t>Unique order ID.</a:t>
                      </a:r>
                    </a:p>
                  </a:txBody>
                  <a:tcPr marL="64008" marR="64008" marT="9144" marB="9144" anchor="ctr">
                    <a:solidFill>
                      <a:srgbClr val="EAEBF2"/>
                    </a:solidFill>
                  </a:tcPr>
                </a:tc>
                <a:extLst>
                  <a:ext uri="{0D108BD9-81ED-4DB2-BD59-A6C34878D82A}">
                    <a16:rowId xmlns:a16="http://schemas.microsoft.com/office/drawing/2014/main" val="10001"/>
                  </a:ext>
                </a:extLst>
              </a:tr>
              <a:tr h="305517">
                <a:tc>
                  <a:txBody>
                    <a:bodyPr/>
                    <a:lstStyle/>
                    <a:p>
                      <a:pPr algn="l"/>
                      <a:r>
                        <a:rPr sz="800" b="0">
                          <a:solidFill>
                            <a:srgbClr val="000000"/>
                          </a:solidFill>
                          <a:latin typeface="Arial"/>
                        </a:rPr>
                        <a:t>order_number</a:t>
                      </a:r>
                    </a:p>
                  </a:txBody>
                  <a:tcPr marL="64008" marR="64008" marT="9144" marB="9144" anchor="ctr">
                    <a:solidFill>
                      <a:srgbClr val="D2D5E4"/>
                    </a:solidFill>
                  </a:tcPr>
                </a:tc>
                <a:tc>
                  <a:txBody>
                    <a:bodyPr/>
                    <a:lstStyle/>
                    <a:p>
                      <a:pPr algn="l"/>
                      <a:r>
                        <a:rPr sz="800" b="0">
                          <a:solidFill>
                            <a:srgbClr val="000000"/>
                          </a:solidFill>
                          <a:latin typeface="Arial"/>
                        </a:rPr>
                        <a:t>varchar(64)</a:t>
                      </a:r>
                    </a:p>
                  </a:txBody>
                  <a:tcPr marL="64008" marR="64008" marT="9144" marB="9144" anchor="ctr">
                    <a:solidFill>
                      <a:srgbClr val="D2D5E4"/>
                    </a:solidFill>
                  </a:tcPr>
                </a:tc>
                <a:tc>
                  <a:txBody>
                    <a:bodyPr/>
                    <a:lstStyle/>
                    <a:p>
                      <a:pPr algn="l"/>
                      <a:r>
                        <a:rPr sz="800" b="0">
                          <a:solidFill>
                            <a:srgbClr val="000000"/>
                          </a:solidFill>
                          <a:latin typeface="Arial"/>
                        </a:rPr>
                        <a:t>UNI</a:t>
                      </a:r>
                    </a:p>
                  </a:txBody>
                  <a:tcPr marL="64008" marR="64008" marT="9144" marB="9144" anchor="ctr">
                    <a:solidFill>
                      <a:srgbClr val="D2D5E4"/>
                    </a:solidFill>
                  </a:tcPr>
                </a:tc>
                <a:tc>
                  <a:txBody>
                    <a:bodyPr/>
                    <a:lstStyle/>
                    <a:p>
                      <a:pPr algn="l"/>
                      <a:r>
                        <a:rPr sz="800" b="0">
                          <a:solidFill>
                            <a:srgbClr val="000000"/>
                          </a:solidFill>
                          <a:latin typeface="Arial"/>
                        </a:rPr>
                        <a:t>Unique customer-facing order number.</a:t>
                      </a:r>
                    </a:p>
                  </a:txBody>
                  <a:tcPr marL="64008" marR="64008" marT="9144" marB="9144" anchor="ctr">
                    <a:solidFill>
                      <a:srgbClr val="D2D5E4"/>
                    </a:solidFill>
                  </a:tcPr>
                </a:tc>
                <a:extLst>
                  <a:ext uri="{0D108BD9-81ED-4DB2-BD59-A6C34878D82A}">
                    <a16:rowId xmlns:a16="http://schemas.microsoft.com/office/drawing/2014/main" val="10002"/>
                  </a:ext>
                </a:extLst>
              </a:tr>
              <a:tr h="305517">
                <a:tc>
                  <a:txBody>
                    <a:bodyPr/>
                    <a:lstStyle/>
                    <a:p>
                      <a:pPr algn="l"/>
                      <a:r>
                        <a:rPr sz="800" b="0">
                          <a:solidFill>
                            <a:srgbClr val="000000"/>
                          </a:solidFill>
                          <a:latin typeface="Arial"/>
                        </a:rPr>
                        <a:t>restaurant_id</a:t>
                      </a:r>
                    </a:p>
                  </a:txBody>
                  <a:tcPr marL="64008" marR="64008" marT="9144" marB="9144" anchor="ctr">
                    <a:solidFill>
                      <a:srgbClr val="EAEBF2"/>
                    </a:solidFill>
                  </a:tcPr>
                </a:tc>
                <a:tc>
                  <a:txBody>
                    <a:bodyPr/>
                    <a:lstStyle/>
                    <a:p>
                      <a:pPr algn="l"/>
                      <a:r>
                        <a:rPr sz="800" b="0">
                          <a:solidFill>
                            <a:srgbClr val="000000"/>
                          </a:solidFill>
                          <a:latin typeface="Arial"/>
                        </a:rPr>
                        <a:t>bigint(20) unsigned</a:t>
                      </a:r>
                    </a:p>
                  </a:txBody>
                  <a:tcPr marL="64008" marR="64008" marT="9144" marB="9144" anchor="ctr">
                    <a:solidFill>
                      <a:srgbClr val="EAEBF2"/>
                    </a:solidFill>
                  </a:tcPr>
                </a:tc>
                <a:tc>
                  <a:txBody>
                    <a:bodyPr/>
                    <a:lstStyle/>
                    <a:p>
                      <a:pPr algn="l"/>
                      <a:r>
                        <a:rPr sz="800" b="0">
                          <a:solidFill>
                            <a:srgbClr val="000000"/>
                          </a:solidFill>
                          <a:latin typeface="Arial"/>
                        </a:rPr>
                        <a:t>FK/IDX</a:t>
                      </a:r>
                    </a:p>
                  </a:txBody>
                  <a:tcPr marL="64008" marR="64008" marT="9144" marB="9144" anchor="ctr">
                    <a:solidFill>
                      <a:srgbClr val="EAEBF2"/>
                    </a:solidFill>
                  </a:tcPr>
                </a:tc>
                <a:tc>
                  <a:txBody>
                    <a:bodyPr/>
                    <a:lstStyle/>
                    <a:p>
                      <a:pPr algn="l"/>
                      <a:r>
                        <a:rPr sz="800" b="0">
                          <a:solidFill>
                            <a:srgbClr val="000000"/>
                          </a:solidFill>
                          <a:latin typeface="Arial"/>
                        </a:rPr>
                        <a:t>Restaurant receiving the order.</a:t>
                      </a:r>
                    </a:p>
                  </a:txBody>
                  <a:tcPr marL="64008" marR="64008" marT="9144" marB="9144" anchor="ctr">
                    <a:solidFill>
                      <a:srgbClr val="EAEBF2"/>
                    </a:solidFill>
                  </a:tcPr>
                </a:tc>
                <a:extLst>
                  <a:ext uri="{0D108BD9-81ED-4DB2-BD59-A6C34878D82A}">
                    <a16:rowId xmlns:a16="http://schemas.microsoft.com/office/drawing/2014/main" val="10003"/>
                  </a:ext>
                </a:extLst>
              </a:tr>
              <a:tr h="305517">
                <a:tc>
                  <a:txBody>
                    <a:bodyPr/>
                    <a:lstStyle/>
                    <a:p>
                      <a:pPr algn="l"/>
                      <a:r>
                        <a:rPr sz="800" b="0">
                          <a:solidFill>
                            <a:srgbClr val="000000"/>
                          </a:solidFill>
                          <a:latin typeface="Arial"/>
                        </a:rPr>
                        <a:t>branch_id</a:t>
                      </a:r>
                    </a:p>
                  </a:txBody>
                  <a:tcPr marL="64008" marR="64008" marT="9144" marB="9144" anchor="ctr">
                    <a:solidFill>
                      <a:srgbClr val="D2D5E4"/>
                    </a:solidFill>
                  </a:tcPr>
                </a:tc>
                <a:tc>
                  <a:txBody>
                    <a:bodyPr/>
                    <a:lstStyle/>
                    <a:p>
                      <a:pPr algn="l"/>
                      <a:r>
                        <a:rPr sz="800" b="0">
                          <a:solidFill>
                            <a:srgbClr val="000000"/>
                          </a:solidFill>
                          <a:latin typeface="Arial"/>
                        </a:rPr>
                        <a:t>bigint(20) unsigned</a:t>
                      </a:r>
                    </a:p>
                  </a:txBody>
                  <a:tcPr marL="64008" marR="64008" marT="9144" marB="9144" anchor="ctr">
                    <a:solidFill>
                      <a:srgbClr val="D2D5E4"/>
                    </a:solidFill>
                  </a:tcPr>
                </a:tc>
                <a:tc>
                  <a:txBody>
                    <a:bodyPr/>
                    <a:lstStyle/>
                    <a:p>
                      <a:pPr algn="l"/>
                      <a:r>
                        <a:rPr sz="800" b="0">
                          <a:solidFill>
                            <a:srgbClr val="000000"/>
                          </a:solidFill>
                          <a:latin typeface="Arial"/>
                        </a:rPr>
                        <a:t>FK/IDX</a:t>
                      </a:r>
                    </a:p>
                  </a:txBody>
                  <a:tcPr marL="64008" marR="64008" marT="9144" marB="9144" anchor="ctr">
                    <a:solidFill>
                      <a:srgbClr val="D2D5E4"/>
                    </a:solidFill>
                  </a:tcPr>
                </a:tc>
                <a:tc>
                  <a:txBody>
                    <a:bodyPr/>
                    <a:lstStyle/>
                    <a:p>
                      <a:pPr algn="l"/>
                      <a:r>
                        <a:rPr sz="800" b="0">
                          <a:solidFill>
                            <a:srgbClr val="000000"/>
                          </a:solidFill>
                          <a:latin typeface="Arial"/>
                        </a:rPr>
                        <a:t>Branch receiving the order.</a:t>
                      </a:r>
                    </a:p>
                  </a:txBody>
                  <a:tcPr marL="64008" marR="64008" marT="9144" marB="9144" anchor="ctr">
                    <a:solidFill>
                      <a:srgbClr val="D2D5E4"/>
                    </a:solidFill>
                  </a:tcPr>
                </a:tc>
                <a:extLst>
                  <a:ext uri="{0D108BD9-81ED-4DB2-BD59-A6C34878D82A}">
                    <a16:rowId xmlns:a16="http://schemas.microsoft.com/office/drawing/2014/main" val="10004"/>
                  </a:ext>
                </a:extLst>
              </a:tr>
              <a:tr h="305517">
                <a:tc>
                  <a:txBody>
                    <a:bodyPr/>
                    <a:lstStyle/>
                    <a:p>
                      <a:pPr algn="l"/>
                      <a:r>
                        <a:rPr sz="800" b="0">
                          <a:solidFill>
                            <a:srgbClr val="000000"/>
                          </a:solidFill>
                          <a:latin typeface="Arial"/>
                        </a:rPr>
                        <a:t>table_id</a:t>
                      </a:r>
                    </a:p>
                  </a:txBody>
                  <a:tcPr marL="64008" marR="64008" marT="9144" marB="9144" anchor="ctr">
                    <a:solidFill>
                      <a:srgbClr val="EAEBF2"/>
                    </a:solidFill>
                  </a:tcPr>
                </a:tc>
                <a:tc>
                  <a:txBody>
                    <a:bodyPr/>
                    <a:lstStyle/>
                    <a:p>
                      <a:pPr algn="l"/>
                      <a:r>
                        <a:rPr sz="800" b="0">
                          <a:solidFill>
                            <a:srgbClr val="000000"/>
                          </a:solidFill>
                          <a:latin typeface="Arial"/>
                        </a:rPr>
                        <a:t>bigint(20) unsigned</a:t>
                      </a:r>
                    </a:p>
                  </a:txBody>
                  <a:tcPr marL="64008" marR="64008" marT="9144" marB="9144" anchor="ctr">
                    <a:solidFill>
                      <a:srgbClr val="EAEBF2"/>
                    </a:solidFill>
                  </a:tcPr>
                </a:tc>
                <a:tc>
                  <a:txBody>
                    <a:bodyPr/>
                    <a:lstStyle/>
                    <a:p>
                      <a:pPr algn="l"/>
                      <a:r>
                        <a:rPr sz="800" b="0">
                          <a:solidFill>
                            <a:srgbClr val="000000"/>
                          </a:solidFill>
                          <a:latin typeface="Arial"/>
                        </a:rPr>
                        <a:t>FK/IDX</a:t>
                      </a:r>
                    </a:p>
                  </a:txBody>
                  <a:tcPr marL="64008" marR="64008" marT="9144" marB="9144" anchor="ctr">
                    <a:solidFill>
                      <a:srgbClr val="EAEBF2"/>
                    </a:solidFill>
                  </a:tcPr>
                </a:tc>
                <a:tc>
                  <a:txBody>
                    <a:bodyPr/>
                    <a:lstStyle/>
                    <a:p>
                      <a:pPr algn="l"/>
                      <a:r>
                        <a:rPr sz="800" b="0">
                          <a:solidFill>
                            <a:srgbClr val="000000"/>
                          </a:solidFill>
                          <a:latin typeface="Arial"/>
                        </a:rPr>
                        <a:t>Dining table associated with the order.</a:t>
                      </a:r>
                    </a:p>
                  </a:txBody>
                  <a:tcPr marL="64008" marR="64008" marT="9144" marB="9144" anchor="ctr">
                    <a:solidFill>
                      <a:srgbClr val="EAEBF2"/>
                    </a:solidFill>
                  </a:tcPr>
                </a:tc>
                <a:extLst>
                  <a:ext uri="{0D108BD9-81ED-4DB2-BD59-A6C34878D82A}">
                    <a16:rowId xmlns:a16="http://schemas.microsoft.com/office/drawing/2014/main" val="10005"/>
                  </a:ext>
                </a:extLst>
              </a:tr>
              <a:tr h="305517">
                <a:tc>
                  <a:txBody>
                    <a:bodyPr/>
                    <a:lstStyle/>
                    <a:p>
                      <a:pPr algn="l"/>
                      <a:r>
                        <a:rPr sz="800" b="0">
                          <a:solidFill>
                            <a:srgbClr val="000000"/>
                          </a:solidFill>
                          <a:latin typeface="Arial"/>
                        </a:rPr>
                        <a:t>customer_id</a:t>
                      </a:r>
                    </a:p>
                  </a:txBody>
                  <a:tcPr marL="64008" marR="64008" marT="9144" marB="9144" anchor="ctr">
                    <a:solidFill>
                      <a:srgbClr val="D2D5E4"/>
                    </a:solidFill>
                  </a:tcPr>
                </a:tc>
                <a:tc>
                  <a:txBody>
                    <a:bodyPr/>
                    <a:lstStyle/>
                    <a:p>
                      <a:pPr algn="l"/>
                      <a:r>
                        <a:rPr sz="800" b="0">
                          <a:solidFill>
                            <a:srgbClr val="000000"/>
                          </a:solidFill>
                          <a:latin typeface="Arial"/>
                        </a:rPr>
                        <a:t>bigint(20) unsigned</a:t>
                      </a:r>
                    </a:p>
                  </a:txBody>
                  <a:tcPr marL="64008" marR="64008" marT="9144" marB="9144" anchor="ctr">
                    <a:solidFill>
                      <a:srgbClr val="D2D5E4"/>
                    </a:solidFill>
                  </a:tcPr>
                </a:tc>
                <a:tc>
                  <a:txBody>
                    <a:bodyPr/>
                    <a:lstStyle/>
                    <a:p>
                      <a:pPr algn="l"/>
                      <a:r>
                        <a:rPr sz="800" b="0">
                          <a:solidFill>
                            <a:srgbClr val="000000"/>
                          </a:solidFill>
                          <a:latin typeface="Arial"/>
                        </a:rPr>
                        <a:t>FK/IDX</a:t>
                      </a:r>
                    </a:p>
                  </a:txBody>
                  <a:tcPr marL="64008" marR="64008" marT="9144" marB="9144" anchor="ctr">
                    <a:solidFill>
                      <a:srgbClr val="D2D5E4"/>
                    </a:solidFill>
                  </a:tcPr>
                </a:tc>
                <a:tc>
                  <a:txBody>
                    <a:bodyPr/>
                    <a:lstStyle/>
                    <a:p>
                      <a:pPr algn="l"/>
                      <a:r>
                        <a:rPr sz="800" b="0">
                          <a:solidFill>
                            <a:srgbClr val="000000"/>
                          </a:solidFill>
                          <a:latin typeface="Arial"/>
                        </a:rPr>
                        <a:t>Customer who placed the order.</a:t>
                      </a:r>
                    </a:p>
                  </a:txBody>
                  <a:tcPr marL="64008" marR="64008" marT="9144" marB="9144" anchor="ctr">
                    <a:solidFill>
                      <a:srgbClr val="D2D5E4"/>
                    </a:solidFill>
                  </a:tcPr>
                </a:tc>
                <a:extLst>
                  <a:ext uri="{0D108BD9-81ED-4DB2-BD59-A6C34878D82A}">
                    <a16:rowId xmlns:a16="http://schemas.microsoft.com/office/drawing/2014/main" val="10006"/>
                  </a:ext>
                </a:extLst>
              </a:tr>
              <a:tr h="305517">
                <a:tc>
                  <a:txBody>
                    <a:bodyPr/>
                    <a:lstStyle/>
                    <a:p>
                      <a:pPr algn="l"/>
                      <a:r>
                        <a:rPr sz="800" b="0">
                          <a:solidFill>
                            <a:srgbClr val="000000"/>
                          </a:solidFill>
                          <a:latin typeface="Arial"/>
                        </a:rPr>
                        <a:t>order_type</a:t>
                      </a:r>
                    </a:p>
                  </a:txBody>
                  <a:tcPr marL="64008" marR="64008" marT="9144" marB="9144" anchor="ctr">
                    <a:solidFill>
                      <a:srgbClr val="EAEBF2"/>
                    </a:solidFill>
                  </a:tcPr>
                </a:tc>
                <a:tc>
                  <a:txBody>
                    <a:bodyPr/>
                    <a:lstStyle/>
                    <a:p>
                      <a:pPr algn="l"/>
                      <a:r>
                        <a:rPr sz="800" b="0">
                          <a:solidFill>
                            <a:srgbClr val="000000"/>
                          </a:solidFill>
                          <a:latin typeface="Arial"/>
                        </a:rPr>
                        <a:t>enum('dine_in','takeaway')</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Type of order.</a:t>
                      </a:r>
                    </a:p>
                  </a:txBody>
                  <a:tcPr marL="64008" marR="64008" marT="9144" marB="9144" anchor="ctr">
                    <a:solidFill>
                      <a:srgbClr val="EAEBF2"/>
                    </a:solidFill>
                  </a:tcPr>
                </a:tc>
                <a:extLst>
                  <a:ext uri="{0D108BD9-81ED-4DB2-BD59-A6C34878D82A}">
                    <a16:rowId xmlns:a16="http://schemas.microsoft.com/office/drawing/2014/main" val="10007"/>
                  </a:ext>
                </a:extLst>
              </a:tr>
              <a:tr h="305517">
                <a:tc>
                  <a:txBody>
                    <a:bodyPr/>
                    <a:lstStyle/>
                    <a:p>
                      <a:pPr algn="l"/>
                      <a:r>
                        <a:rPr sz="800" b="0">
                          <a:solidFill>
                            <a:srgbClr val="000000"/>
                          </a:solidFill>
                          <a:latin typeface="Arial"/>
                        </a:rPr>
                        <a:t>subtotal</a:t>
                      </a:r>
                    </a:p>
                  </a:txBody>
                  <a:tcPr marL="64008" marR="64008" marT="9144" marB="9144" anchor="ctr">
                    <a:solidFill>
                      <a:srgbClr val="D2D5E4"/>
                    </a:solidFill>
                  </a:tcPr>
                </a:tc>
                <a:tc>
                  <a:txBody>
                    <a:bodyPr/>
                    <a:lstStyle/>
                    <a:p>
                      <a:pPr algn="l"/>
                      <a:r>
                        <a:rPr sz="800" b="0">
                          <a:solidFill>
                            <a:srgbClr val="000000"/>
                          </a:solidFill>
                          <a:latin typeface="Arial"/>
                        </a:rPr>
                        <a:t>decimal(10,2)</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Order subtotal before tax and service charge.</a:t>
                      </a:r>
                    </a:p>
                  </a:txBody>
                  <a:tcPr marL="64008" marR="64008" marT="9144" marB="9144" anchor="ctr">
                    <a:solidFill>
                      <a:srgbClr val="D2D5E4"/>
                    </a:solidFill>
                  </a:tcPr>
                </a:tc>
                <a:extLst>
                  <a:ext uri="{0D108BD9-81ED-4DB2-BD59-A6C34878D82A}">
                    <a16:rowId xmlns:a16="http://schemas.microsoft.com/office/drawing/2014/main" val="10008"/>
                  </a:ext>
                </a:extLst>
              </a:tr>
              <a:tr h="305517">
                <a:tc>
                  <a:txBody>
                    <a:bodyPr/>
                    <a:lstStyle/>
                    <a:p>
                      <a:pPr algn="l"/>
                      <a:r>
                        <a:rPr sz="800" b="0">
                          <a:solidFill>
                            <a:srgbClr val="000000"/>
                          </a:solidFill>
                          <a:latin typeface="Arial"/>
                        </a:rPr>
                        <a:t>tax</a:t>
                      </a:r>
                    </a:p>
                  </a:txBody>
                  <a:tcPr marL="64008" marR="64008" marT="9144" marB="9144" anchor="ctr">
                    <a:solidFill>
                      <a:srgbClr val="EAEBF2"/>
                    </a:solidFill>
                  </a:tcPr>
                </a:tc>
                <a:tc>
                  <a:txBody>
                    <a:bodyPr/>
                    <a:lstStyle/>
                    <a:p>
                      <a:pPr algn="l"/>
                      <a:r>
                        <a:rPr sz="800" b="0">
                          <a:solidFill>
                            <a:srgbClr val="000000"/>
                          </a:solidFill>
                          <a:latin typeface="Arial"/>
                        </a:rPr>
                        <a:t>decimal(10,2)</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Tax amount, including 5% GST.</a:t>
                      </a:r>
                    </a:p>
                  </a:txBody>
                  <a:tcPr marL="64008" marR="64008" marT="9144" marB="9144" anchor="ctr">
                    <a:solidFill>
                      <a:srgbClr val="EAEBF2"/>
                    </a:solidFill>
                  </a:tcPr>
                </a:tc>
                <a:extLst>
                  <a:ext uri="{0D108BD9-81ED-4DB2-BD59-A6C34878D82A}">
                    <a16:rowId xmlns:a16="http://schemas.microsoft.com/office/drawing/2014/main" val="10009"/>
                  </a:ext>
                </a:extLst>
              </a:tr>
              <a:tr h="305517">
                <a:tc>
                  <a:txBody>
                    <a:bodyPr/>
                    <a:lstStyle/>
                    <a:p>
                      <a:pPr algn="l"/>
                      <a:r>
                        <a:rPr sz="800" b="0">
                          <a:solidFill>
                            <a:srgbClr val="000000"/>
                          </a:solidFill>
                          <a:latin typeface="Arial"/>
                        </a:rPr>
                        <a:t>service_charge</a:t>
                      </a:r>
                    </a:p>
                  </a:txBody>
                  <a:tcPr marL="64008" marR="64008" marT="9144" marB="9144" anchor="ctr">
                    <a:solidFill>
                      <a:srgbClr val="D2D5E4"/>
                    </a:solidFill>
                  </a:tcPr>
                </a:tc>
                <a:tc>
                  <a:txBody>
                    <a:bodyPr/>
                    <a:lstStyle/>
                    <a:p>
                      <a:pPr algn="l"/>
                      <a:r>
                        <a:rPr sz="800" b="0">
                          <a:solidFill>
                            <a:srgbClr val="000000"/>
                          </a:solidFill>
                          <a:latin typeface="Arial"/>
                        </a:rPr>
                        <a:t>decimal(10,2)</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Optional service charge.</a:t>
                      </a:r>
                    </a:p>
                  </a:txBody>
                  <a:tcPr marL="64008" marR="64008" marT="9144" marB="9144" anchor="ctr">
                    <a:solidFill>
                      <a:srgbClr val="D2D5E4"/>
                    </a:solidFill>
                  </a:tcPr>
                </a:tc>
                <a:extLst>
                  <a:ext uri="{0D108BD9-81ED-4DB2-BD59-A6C34878D82A}">
                    <a16:rowId xmlns:a16="http://schemas.microsoft.com/office/drawing/2014/main" val="10010"/>
                  </a:ext>
                </a:extLst>
              </a:tr>
              <a:tr h="305517">
                <a:tc>
                  <a:txBody>
                    <a:bodyPr/>
                    <a:lstStyle/>
                    <a:p>
                      <a:pPr algn="l"/>
                      <a:r>
                        <a:rPr sz="800" b="0">
                          <a:solidFill>
                            <a:srgbClr val="000000"/>
                          </a:solidFill>
                          <a:latin typeface="Arial"/>
                        </a:rPr>
                        <a:t>total_amount</a:t>
                      </a:r>
                    </a:p>
                  </a:txBody>
                  <a:tcPr marL="64008" marR="64008" marT="9144" marB="9144" anchor="ctr">
                    <a:solidFill>
                      <a:srgbClr val="EAEBF2"/>
                    </a:solidFill>
                  </a:tcPr>
                </a:tc>
                <a:tc>
                  <a:txBody>
                    <a:bodyPr/>
                    <a:lstStyle/>
                    <a:p>
                      <a:pPr algn="l"/>
                      <a:r>
                        <a:rPr sz="800" b="0">
                          <a:solidFill>
                            <a:srgbClr val="000000"/>
                          </a:solidFill>
                          <a:latin typeface="Arial"/>
                        </a:rPr>
                        <a:t>decimal(10,2)</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Final payable order amount.</a:t>
                      </a:r>
                    </a:p>
                  </a:txBody>
                  <a:tcPr marL="64008" marR="64008" marT="9144" marB="9144" anchor="ctr">
                    <a:solidFill>
                      <a:srgbClr val="EAEBF2"/>
                    </a:solidFill>
                  </a:tcPr>
                </a:tc>
                <a:extLst>
                  <a:ext uri="{0D108BD9-81ED-4DB2-BD59-A6C34878D82A}">
                    <a16:rowId xmlns:a16="http://schemas.microsoft.com/office/drawing/2014/main" val="10011"/>
                  </a:ext>
                </a:extLst>
              </a:tr>
              <a:tr h="305517">
                <a:tc>
                  <a:txBody>
                    <a:bodyPr/>
                    <a:lstStyle/>
                    <a:p>
                      <a:pPr algn="l"/>
                      <a:r>
                        <a:rPr sz="800" b="0">
                          <a:solidFill>
                            <a:srgbClr val="000000"/>
                          </a:solidFill>
                          <a:latin typeface="Arial"/>
                        </a:rPr>
                        <a:t>payment_status</a:t>
                      </a:r>
                    </a:p>
                  </a:txBody>
                  <a:tcPr marL="64008" marR="64008" marT="9144" marB="9144" anchor="ctr">
                    <a:solidFill>
                      <a:srgbClr val="D2D5E4"/>
                    </a:solidFill>
                  </a:tcPr>
                </a:tc>
                <a:tc>
                  <a:txBody>
                    <a:bodyPr/>
                    <a:lstStyle/>
                    <a:p>
                      <a:pPr algn="l"/>
                      <a:r>
                        <a:rPr sz="800" b="0">
                          <a:solidFill>
                            <a:srgbClr val="000000"/>
                          </a:solidFill>
                          <a:latin typeface="Arial"/>
                        </a:rPr>
                        <a:t>enum(...)</a:t>
                      </a:r>
                    </a:p>
                  </a:txBody>
                  <a:tcPr marL="64008" marR="64008" marT="9144" marB="9144" anchor="ctr">
                    <a:solidFill>
                      <a:srgbClr val="D2D5E4"/>
                    </a:solidFill>
                  </a:tcPr>
                </a:tc>
                <a:tc>
                  <a:txBody>
                    <a:bodyPr/>
                    <a:lstStyle/>
                    <a:p>
                      <a:pPr algn="l"/>
                      <a:r>
                        <a:rPr sz="800" b="0">
                          <a:solidFill>
                            <a:srgbClr val="000000"/>
                          </a:solidFill>
                          <a:latin typeface="Arial"/>
                        </a:rPr>
                        <a:t>IDX</a:t>
                      </a:r>
                    </a:p>
                  </a:txBody>
                  <a:tcPr marL="64008" marR="64008" marT="9144" marB="9144" anchor="ctr">
                    <a:solidFill>
                      <a:srgbClr val="D2D5E4"/>
                    </a:solidFill>
                  </a:tcPr>
                </a:tc>
                <a:tc>
                  <a:txBody>
                    <a:bodyPr/>
                    <a:lstStyle/>
                    <a:p>
                      <a:pPr algn="l"/>
                      <a:r>
                        <a:rPr sz="800" b="0">
                          <a:solidFill>
                            <a:srgbClr val="000000"/>
                          </a:solidFill>
                          <a:latin typeface="Arial"/>
                        </a:rPr>
                        <a:t>Payment state of the order.</a:t>
                      </a:r>
                    </a:p>
                  </a:txBody>
                  <a:tcPr marL="64008" marR="64008" marT="9144" marB="9144" anchor="ctr">
                    <a:solidFill>
                      <a:srgbClr val="D2D5E4"/>
                    </a:solidFill>
                  </a:tcPr>
                </a:tc>
                <a:extLst>
                  <a:ext uri="{0D108BD9-81ED-4DB2-BD59-A6C34878D82A}">
                    <a16:rowId xmlns:a16="http://schemas.microsoft.com/office/drawing/2014/main" val="10012"/>
                  </a:ext>
                </a:extLst>
              </a:tr>
              <a:tr h="305517">
                <a:tc>
                  <a:txBody>
                    <a:bodyPr/>
                    <a:lstStyle/>
                    <a:p>
                      <a:pPr algn="l"/>
                      <a:r>
                        <a:rPr sz="800" b="0">
                          <a:solidFill>
                            <a:srgbClr val="000000"/>
                          </a:solidFill>
                          <a:latin typeface="Arial"/>
                        </a:rPr>
                        <a:t>order_status</a:t>
                      </a:r>
                    </a:p>
                  </a:txBody>
                  <a:tcPr marL="64008" marR="64008" marT="9144" marB="9144" anchor="ctr">
                    <a:solidFill>
                      <a:srgbClr val="EAEBF2"/>
                    </a:solidFill>
                  </a:tcPr>
                </a:tc>
                <a:tc>
                  <a:txBody>
                    <a:bodyPr/>
                    <a:lstStyle/>
                    <a:p>
                      <a:pPr algn="l"/>
                      <a:r>
                        <a:rPr sz="800" b="0">
                          <a:solidFill>
                            <a:srgbClr val="000000"/>
                          </a:solidFill>
                          <a:latin typeface="Arial"/>
                        </a:rPr>
                        <a:t>enum(...)</a:t>
                      </a:r>
                    </a:p>
                  </a:txBody>
                  <a:tcPr marL="64008" marR="64008" marT="9144" marB="9144" anchor="ctr">
                    <a:solidFill>
                      <a:srgbClr val="EAEBF2"/>
                    </a:solidFill>
                  </a:tcPr>
                </a:tc>
                <a:tc>
                  <a:txBody>
                    <a:bodyPr/>
                    <a:lstStyle/>
                    <a:p>
                      <a:pPr algn="l"/>
                      <a:r>
                        <a:rPr sz="800" b="0">
                          <a:solidFill>
                            <a:srgbClr val="000000"/>
                          </a:solidFill>
                          <a:latin typeface="Arial"/>
                        </a:rPr>
                        <a:t>IDX</a:t>
                      </a:r>
                    </a:p>
                  </a:txBody>
                  <a:tcPr marL="64008" marR="64008" marT="9144" marB="9144" anchor="ctr">
                    <a:solidFill>
                      <a:srgbClr val="EAEBF2"/>
                    </a:solidFill>
                  </a:tcPr>
                </a:tc>
                <a:tc>
                  <a:txBody>
                    <a:bodyPr/>
                    <a:lstStyle/>
                    <a:p>
                      <a:pPr algn="l"/>
                      <a:r>
                        <a:rPr sz="800" b="0">
                          <a:solidFill>
                            <a:srgbClr val="000000"/>
                          </a:solidFill>
                          <a:latin typeface="Arial"/>
                        </a:rPr>
                        <a:t>Order lifecycle status.</a:t>
                      </a:r>
                    </a:p>
                  </a:txBody>
                  <a:tcPr marL="64008" marR="64008" marT="9144" marB="9144" anchor="ctr">
                    <a:solidFill>
                      <a:srgbClr val="EAEBF2"/>
                    </a:solidFill>
                  </a:tcPr>
                </a:tc>
                <a:extLst>
                  <a:ext uri="{0D108BD9-81ED-4DB2-BD59-A6C34878D82A}">
                    <a16:rowId xmlns:a16="http://schemas.microsoft.com/office/drawing/2014/main" val="10013"/>
                  </a:ext>
                </a:extLst>
              </a:tr>
              <a:tr h="305517">
                <a:tc>
                  <a:txBody>
                    <a:bodyPr/>
                    <a:lstStyle/>
                    <a:p>
                      <a:pPr algn="l"/>
                      <a:r>
                        <a:rPr sz="800" b="0">
                          <a:solidFill>
                            <a:srgbClr val="000000"/>
                          </a:solidFill>
                          <a:latin typeface="Arial"/>
                        </a:rPr>
                        <a:t>notes</a:t>
                      </a:r>
                    </a:p>
                  </a:txBody>
                  <a:tcPr marL="64008" marR="64008" marT="9144" marB="9144" anchor="ctr">
                    <a:solidFill>
                      <a:srgbClr val="D2D5E4"/>
                    </a:solidFill>
                  </a:tcPr>
                </a:tc>
                <a:tc>
                  <a:txBody>
                    <a:bodyPr/>
                    <a:lstStyle/>
                    <a:p>
                      <a:pPr algn="l"/>
                      <a:r>
                        <a:rPr sz="800" b="0">
                          <a:solidFill>
                            <a:srgbClr val="000000"/>
                          </a:solidFill>
                          <a:latin typeface="Arial"/>
                        </a:rPr>
                        <a:t>text</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Additional customer/order notes.</a:t>
                      </a:r>
                    </a:p>
                  </a:txBody>
                  <a:tcPr marL="64008" marR="64008" marT="9144" marB="9144" anchor="ctr">
                    <a:solidFill>
                      <a:srgbClr val="D2D5E4"/>
                    </a:solidFill>
                  </a:tcPr>
                </a:tc>
                <a:extLst>
                  <a:ext uri="{0D108BD9-81ED-4DB2-BD59-A6C34878D82A}">
                    <a16:rowId xmlns:a16="http://schemas.microsoft.com/office/drawing/2014/main" val="10014"/>
                  </a:ext>
                </a:extLst>
              </a:tr>
              <a:tr h="305517">
                <a:tc>
                  <a:txBody>
                    <a:bodyPr/>
                    <a:lstStyle/>
                    <a:p>
                      <a:pPr algn="l"/>
                      <a:r>
                        <a:rPr sz="800" b="0">
                          <a:solidFill>
                            <a:srgbClr val="000000"/>
                          </a:solidFill>
                          <a:latin typeface="Arial"/>
                        </a:rPr>
                        <a:t>created_at</a:t>
                      </a:r>
                    </a:p>
                  </a:txBody>
                  <a:tcPr marL="64008" marR="64008" marT="9144" marB="9144" anchor="ctr">
                    <a:solidFill>
                      <a:srgbClr val="EAEBF2"/>
                    </a:solidFill>
                  </a:tcPr>
                </a:tc>
                <a:tc>
                  <a:txBody>
                    <a:bodyPr/>
                    <a:lstStyle/>
                    <a:p>
                      <a:pPr algn="l"/>
                      <a:r>
                        <a:rPr sz="800" b="0">
                          <a:solidFill>
                            <a:srgbClr val="000000"/>
                          </a:solidFill>
                          <a:latin typeface="Arial"/>
                        </a:rPr>
                        <a:t>timestamp</a:t>
                      </a:r>
                    </a:p>
                  </a:txBody>
                  <a:tcPr marL="64008" marR="64008" marT="9144" marB="9144" anchor="ctr">
                    <a:solidFill>
                      <a:srgbClr val="EAEBF2"/>
                    </a:solidFill>
                  </a:tcPr>
                </a:tc>
                <a:tc>
                  <a:txBody>
                    <a:bodyPr/>
                    <a:lstStyle/>
                    <a:p>
                      <a:pPr algn="l"/>
                      <a:r>
                        <a:rPr sz="800" b="0">
                          <a:solidFill>
                            <a:srgbClr val="000000"/>
                          </a:solidFill>
                          <a:latin typeface="Arial"/>
                        </a:rPr>
                        <a:t>IDX</a:t>
                      </a:r>
                    </a:p>
                  </a:txBody>
                  <a:tcPr marL="64008" marR="64008" marT="9144" marB="9144" anchor="ctr">
                    <a:solidFill>
                      <a:srgbClr val="EAEBF2"/>
                    </a:solidFill>
                  </a:tcPr>
                </a:tc>
                <a:tc>
                  <a:txBody>
                    <a:bodyPr/>
                    <a:lstStyle/>
                    <a:p>
                      <a:pPr algn="l"/>
                      <a:r>
                        <a:rPr sz="800" b="0">
                          <a:solidFill>
                            <a:srgbClr val="000000"/>
                          </a:solidFill>
                          <a:latin typeface="Arial"/>
                        </a:rPr>
                        <a:t>Date and time the order was created.</a:t>
                      </a:r>
                    </a:p>
                  </a:txBody>
                  <a:tcPr marL="64008" marR="64008" marT="9144" marB="9144" anchor="ctr">
                    <a:solidFill>
                      <a:srgbClr val="EAEBF2"/>
                    </a:solidFill>
                  </a:tcPr>
                </a:tc>
                <a:extLst>
                  <a:ext uri="{0D108BD9-81ED-4DB2-BD59-A6C34878D82A}">
                    <a16:rowId xmlns:a16="http://schemas.microsoft.com/office/drawing/2014/main" val="10015"/>
                  </a:ext>
                </a:extLst>
              </a:tr>
              <a:tr h="305517">
                <a:tc>
                  <a:txBody>
                    <a:bodyPr/>
                    <a:lstStyle/>
                    <a:p>
                      <a:pPr algn="l"/>
                      <a:r>
                        <a:rPr sz="800" b="0">
                          <a:solidFill>
                            <a:srgbClr val="000000"/>
                          </a:solidFill>
                          <a:latin typeface="Arial"/>
                        </a:rPr>
                        <a:t>updated_at</a:t>
                      </a:r>
                    </a:p>
                  </a:txBody>
                  <a:tcPr marL="64008" marR="64008" marT="9144" marB="9144" anchor="ctr">
                    <a:solidFill>
                      <a:srgbClr val="D2D5E4"/>
                    </a:solidFill>
                  </a:tcPr>
                </a:tc>
                <a:tc>
                  <a:txBody>
                    <a:bodyPr/>
                    <a:lstStyle/>
                    <a:p>
                      <a:pPr algn="l"/>
                      <a:r>
                        <a:rPr sz="800" b="0">
                          <a:solidFill>
                            <a:srgbClr val="000000"/>
                          </a:solidFill>
                          <a:latin typeface="Arial"/>
                        </a:rPr>
                        <a:t>timestamp</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Date and time the order was last updated.</a:t>
                      </a:r>
                    </a:p>
                  </a:txBody>
                  <a:tcPr marL="64008" marR="64008" marT="9144" marB="9144" anchor="ctr">
                    <a:solidFill>
                      <a:srgbClr val="D2D5E4"/>
                    </a:solidFill>
                  </a:tcPr>
                </a:tc>
                <a:extLst>
                  <a:ext uri="{0D108BD9-81ED-4DB2-BD59-A6C34878D82A}">
                    <a16:rowId xmlns:a16="http://schemas.microsoft.com/office/drawing/2014/main" val="1001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3.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3063240" y="0"/>
            <a:ext cx="30175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256032"/>
            <a:ext cx="8229600" cy="6327648"/>
          </a:xfrm>
          <a:prstGeom prst="rect">
            <a:avLst/>
          </a:prstGeom>
          <a:solidFill>
            <a:srgbClr val="FFFFFF"/>
          </a:solidFill>
          <a:ln w="10160">
            <a:solidFill>
              <a:srgbClr val="696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47288" y="36576"/>
            <a:ext cx="2249424" cy="438912"/>
          </a:xfrm>
          <a:prstGeom prst="rect">
            <a:avLst/>
          </a:prstGeom>
          <a:solidFill>
            <a:srgbClr val="9C5252"/>
          </a:solidFill>
          <a:ln w="12700">
            <a:solidFill>
              <a:srgbClr val="7E9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00000"/>
                </a:solidFill>
                <a:latin typeface="Times New Roman"/>
              </a:rPr>
              <a:t>Data Dictionary</a:t>
            </a:r>
          </a:p>
        </p:txBody>
      </p:sp>
      <p:sp>
        <p:nvSpPr>
          <p:cNvPr id="6" name="Rectangle 5"/>
          <p:cNvSpPr/>
          <p:nvPr/>
        </p:nvSpPr>
        <p:spPr>
          <a:xfrm>
            <a:off x="3502152" y="832104"/>
            <a:ext cx="1737360" cy="32004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00000"/>
                </a:solidFill>
                <a:latin typeface="Arial"/>
              </a:rPr>
              <a:t>Table : payments</a:t>
            </a:r>
          </a:p>
        </p:txBody>
      </p:sp>
      <p:sp>
        <p:nvSpPr>
          <p:cNvPr id="7" name="TextBox 6"/>
          <p:cNvSpPr txBox="1"/>
          <p:nvPr/>
        </p:nvSpPr>
        <p:spPr>
          <a:xfrm>
            <a:off x="5312664" y="832104"/>
            <a:ext cx="320040" cy="320040"/>
          </a:xfrm>
          <a:prstGeom prst="rect">
            <a:avLst/>
          </a:prstGeom>
          <a:noFill/>
        </p:spPr>
        <p:txBody>
          <a:bodyPr wrap="none" anchor="ctr">
            <a:spAutoFit/>
          </a:bodyPr>
          <a:lstStyle/>
          <a:p>
            <a:pPr algn="l"/>
            <a:r>
              <a:rPr sz="1100">
                <a:solidFill>
                  <a:srgbClr val="000000"/>
                </a:solidFill>
                <a:latin typeface="Arial"/>
              </a:rPr>
              <a:t>:-</a:t>
            </a:r>
          </a:p>
        </p:txBody>
      </p:sp>
      <p:graphicFrame>
        <p:nvGraphicFramePr>
          <p:cNvPr id="8" name="Table 7"/>
          <p:cNvGraphicFramePr>
            <a:graphicFrameLocks noGrp="1"/>
          </p:cNvGraphicFramePr>
          <p:nvPr/>
        </p:nvGraphicFramePr>
        <p:xfrm>
          <a:off x="1170432" y="1225296"/>
          <a:ext cx="6949440" cy="5193792"/>
        </p:xfrm>
        <a:graphic>
          <a:graphicData uri="http://schemas.openxmlformats.org/drawingml/2006/table">
            <a:tbl>
              <a:tblPr firstRow="1" bandRow="1">
                <a:tableStyleId>{5C22544A-7EE6-4342-B048-85BDC9FD1C3A}</a:tableStyleId>
              </a:tblPr>
              <a:tblGrid>
                <a:gridCol w="1572768">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577088">
                <a:tc>
                  <a:txBody>
                    <a:bodyPr/>
                    <a:lstStyle/>
                    <a:p>
                      <a:pPr algn="l"/>
                      <a:r>
                        <a:rPr sz="1050" b="1">
                          <a:solidFill>
                            <a:srgbClr val="FFFFFF"/>
                          </a:solidFill>
                          <a:latin typeface="Arial"/>
                        </a:rPr>
                        <a:t>Field Name</a:t>
                      </a:r>
                    </a:p>
                  </a:txBody>
                  <a:tcPr marL="64008" marR="64008" marT="9144" marB="9144" anchor="ctr">
                    <a:solidFill>
                      <a:srgbClr val="6076B4"/>
                    </a:solidFill>
                  </a:tcPr>
                </a:tc>
                <a:tc>
                  <a:txBody>
                    <a:bodyPr/>
                    <a:lstStyle/>
                    <a:p>
                      <a:pPr algn="l"/>
                      <a:r>
                        <a:rPr sz="1050" b="1">
                          <a:solidFill>
                            <a:srgbClr val="FFFFFF"/>
                          </a:solidFill>
                          <a:latin typeface="Arial"/>
                        </a:rPr>
                        <a:t>Data Type</a:t>
                      </a:r>
                    </a:p>
                  </a:txBody>
                  <a:tcPr marL="64008" marR="64008" marT="9144" marB="9144" anchor="ctr">
                    <a:solidFill>
                      <a:srgbClr val="6076B4"/>
                    </a:solidFill>
                  </a:tcPr>
                </a:tc>
                <a:tc>
                  <a:txBody>
                    <a:bodyPr/>
                    <a:lstStyle/>
                    <a:p>
                      <a:pPr algn="l"/>
                      <a:r>
                        <a:rPr sz="1050" b="1">
                          <a:solidFill>
                            <a:srgbClr val="FFFFFF"/>
                          </a:solidFill>
                          <a:latin typeface="Arial"/>
                        </a:rPr>
                        <a:t>Key</a:t>
                      </a:r>
                    </a:p>
                  </a:txBody>
                  <a:tcPr marL="64008" marR="64008" marT="9144" marB="9144" anchor="ctr">
                    <a:solidFill>
                      <a:srgbClr val="6076B4"/>
                    </a:solidFill>
                  </a:tcPr>
                </a:tc>
                <a:tc>
                  <a:txBody>
                    <a:bodyPr/>
                    <a:lstStyle/>
                    <a:p>
                      <a:pPr algn="l"/>
                      <a:r>
                        <a:rPr sz="1050" b="1">
                          <a:solidFill>
                            <a:srgbClr val="FFFFFF"/>
                          </a:solidFill>
                          <a:latin typeface="Arial"/>
                        </a:rPr>
                        <a:t>Description</a:t>
                      </a:r>
                    </a:p>
                  </a:txBody>
                  <a:tcPr marL="64008" marR="64008" marT="9144" marB="9144" anchor="ctr">
                    <a:solidFill>
                      <a:srgbClr val="6076B4"/>
                    </a:solidFill>
                  </a:tcPr>
                </a:tc>
                <a:extLst>
                  <a:ext uri="{0D108BD9-81ED-4DB2-BD59-A6C34878D82A}">
                    <a16:rowId xmlns:a16="http://schemas.microsoft.com/office/drawing/2014/main" val="10000"/>
                  </a:ext>
                </a:extLst>
              </a:tr>
              <a:tr h="577088">
                <a:tc>
                  <a:txBody>
                    <a:bodyPr/>
                    <a:lstStyle/>
                    <a:p>
                      <a:pPr algn="l"/>
                      <a:r>
                        <a:rPr sz="950" b="0">
                          <a:solidFill>
                            <a:srgbClr val="000000"/>
                          </a:solidFill>
                          <a:latin typeface="Arial"/>
                        </a:rPr>
                        <a:t>id</a:t>
                      </a:r>
                    </a:p>
                  </a:txBody>
                  <a:tcPr marL="64008" marR="64008" marT="9144" marB="9144" anchor="ctr">
                    <a:solidFill>
                      <a:srgbClr val="EAEBF2"/>
                    </a:solidFill>
                  </a:tcPr>
                </a:tc>
                <a:tc>
                  <a:txBody>
                    <a:bodyPr/>
                    <a:lstStyle/>
                    <a:p>
                      <a:pPr algn="l"/>
                      <a:r>
                        <a:rPr sz="950" b="0">
                          <a:solidFill>
                            <a:srgbClr val="000000"/>
                          </a:solidFill>
                          <a:latin typeface="Arial"/>
                        </a:rPr>
                        <a:t>bigint(20) unsigned</a:t>
                      </a:r>
                    </a:p>
                  </a:txBody>
                  <a:tcPr marL="64008" marR="64008" marT="9144" marB="9144" anchor="ctr">
                    <a:solidFill>
                      <a:srgbClr val="EAEBF2"/>
                    </a:solidFill>
                  </a:tcPr>
                </a:tc>
                <a:tc>
                  <a:txBody>
                    <a:bodyPr/>
                    <a:lstStyle/>
                    <a:p>
                      <a:pPr algn="l"/>
                      <a:r>
                        <a:rPr sz="950" b="0">
                          <a:solidFill>
                            <a:srgbClr val="000000"/>
                          </a:solidFill>
                          <a:latin typeface="Arial"/>
                        </a:rPr>
                        <a:t>PK</a:t>
                      </a:r>
                    </a:p>
                  </a:txBody>
                  <a:tcPr marL="64008" marR="64008" marT="9144" marB="9144" anchor="ctr">
                    <a:solidFill>
                      <a:srgbClr val="EAEBF2"/>
                    </a:solidFill>
                  </a:tcPr>
                </a:tc>
                <a:tc>
                  <a:txBody>
                    <a:bodyPr/>
                    <a:lstStyle/>
                    <a:p>
                      <a:pPr algn="l"/>
                      <a:r>
                        <a:rPr sz="950" b="0">
                          <a:solidFill>
                            <a:srgbClr val="000000"/>
                          </a:solidFill>
                          <a:latin typeface="Arial"/>
                        </a:rPr>
                        <a:t>Unique payment record ID.</a:t>
                      </a:r>
                    </a:p>
                  </a:txBody>
                  <a:tcPr marL="64008" marR="64008" marT="9144" marB="9144" anchor="ctr">
                    <a:solidFill>
                      <a:srgbClr val="EAEBF2"/>
                    </a:solidFill>
                  </a:tcPr>
                </a:tc>
                <a:extLst>
                  <a:ext uri="{0D108BD9-81ED-4DB2-BD59-A6C34878D82A}">
                    <a16:rowId xmlns:a16="http://schemas.microsoft.com/office/drawing/2014/main" val="10001"/>
                  </a:ext>
                </a:extLst>
              </a:tr>
              <a:tr h="577088">
                <a:tc>
                  <a:txBody>
                    <a:bodyPr/>
                    <a:lstStyle/>
                    <a:p>
                      <a:pPr algn="l"/>
                      <a:r>
                        <a:rPr sz="950" b="0">
                          <a:solidFill>
                            <a:srgbClr val="000000"/>
                          </a:solidFill>
                          <a:latin typeface="Arial"/>
                        </a:rPr>
                        <a:t>order_id</a:t>
                      </a:r>
                    </a:p>
                  </a:txBody>
                  <a:tcPr marL="64008" marR="64008" marT="9144" marB="9144" anchor="ctr">
                    <a:solidFill>
                      <a:srgbClr val="D2D5E4"/>
                    </a:solidFill>
                  </a:tcPr>
                </a:tc>
                <a:tc>
                  <a:txBody>
                    <a:bodyPr/>
                    <a:lstStyle/>
                    <a:p>
                      <a:pPr algn="l"/>
                      <a:r>
                        <a:rPr sz="950" b="0">
                          <a:solidFill>
                            <a:srgbClr val="000000"/>
                          </a:solidFill>
                          <a:latin typeface="Arial"/>
                        </a:rPr>
                        <a:t>bigint(20) unsigned</a:t>
                      </a:r>
                    </a:p>
                  </a:txBody>
                  <a:tcPr marL="64008" marR="64008" marT="9144" marB="9144" anchor="ctr">
                    <a:solidFill>
                      <a:srgbClr val="D2D5E4"/>
                    </a:solidFill>
                  </a:tcPr>
                </a:tc>
                <a:tc>
                  <a:txBody>
                    <a:bodyPr/>
                    <a:lstStyle/>
                    <a:p>
                      <a:pPr algn="l"/>
                      <a:r>
                        <a:rPr sz="950" b="0">
                          <a:solidFill>
                            <a:srgbClr val="000000"/>
                          </a:solidFill>
                          <a:latin typeface="Arial"/>
                        </a:rPr>
                        <a:t>UNI/FK</a:t>
                      </a:r>
                    </a:p>
                  </a:txBody>
                  <a:tcPr marL="64008" marR="64008" marT="9144" marB="9144" anchor="ctr">
                    <a:solidFill>
                      <a:srgbClr val="D2D5E4"/>
                    </a:solidFill>
                  </a:tcPr>
                </a:tc>
                <a:tc>
                  <a:txBody>
                    <a:bodyPr/>
                    <a:lstStyle/>
                    <a:p>
                      <a:pPr algn="l"/>
                      <a:r>
                        <a:rPr sz="950" b="0">
                          <a:solidFill>
                            <a:srgbClr val="000000"/>
                          </a:solidFill>
                          <a:latin typeface="Arial"/>
                        </a:rPr>
                        <a:t>Unique order settlement reference.</a:t>
                      </a:r>
                    </a:p>
                  </a:txBody>
                  <a:tcPr marL="64008" marR="64008" marT="9144" marB="9144" anchor="ctr">
                    <a:solidFill>
                      <a:srgbClr val="D2D5E4"/>
                    </a:solidFill>
                  </a:tcPr>
                </a:tc>
                <a:extLst>
                  <a:ext uri="{0D108BD9-81ED-4DB2-BD59-A6C34878D82A}">
                    <a16:rowId xmlns:a16="http://schemas.microsoft.com/office/drawing/2014/main" val="10002"/>
                  </a:ext>
                </a:extLst>
              </a:tr>
              <a:tr h="577088">
                <a:tc>
                  <a:txBody>
                    <a:bodyPr/>
                    <a:lstStyle/>
                    <a:p>
                      <a:pPr algn="l"/>
                      <a:r>
                        <a:rPr sz="950" b="0">
                          <a:solidFill>
                            <a:srgbClr val="000000"/>
                          </a:solidFill>
                          <a:latin typeface="Arial"/>
                        </a:rPr>
                        <a:t>payment_method</a:t>
                      </a:r>
                    </a:p>
                  </a:txBody>
                  <a:tcPr marL="64008" marR="64008" marT="9144" marB="9144" anchor="ctr">
                    <a:solidFill>
                      <a:srgbClr val="EAEBF2"/>
                    </a:solidFill>
                  </a:tcPr>
                </a:tc>
                <a:tc>
                  <a:txBody>
                    <a:bodyPr/>
                    <a:lstStyle/>
                    <a:p>
                      <a:pPr algn="l"/>
                      <a:r>
                        <a:rPr sz="950" b="0">
                          <a:solidFill>
                            <a:srgbClr val="000000"/>
                          </a:solidFill>
                          <a:latin typeface="Arial"/>
                        </a:rPr>
                        <a:t>enum('cash','upi','card')</a:t>
                      </a:r>
                    </a:p>
                  </a:txBody>
                  <a:tcPr marL="64008" marR="64008" marT="9144" marB="9144" anchor="ctr">
                    <a:solidFill>
                      <a:srgbClr val="EAEBF2"/>
                    </a:solidFill>
                  </a:tcPr>
                </a:tc>
                <a:tc>
                  <a:txBody>
                    <a:bodyPr/>
                    <a:lstStyle/>
                    <a:p>
                      <a:pPr algn="l"/>
                      <a:r>
                        <a:rPr sz="950" b="0">
                          <a:solidFill>
                            <a:srgbClr val="000000"/>
                          </a:solidFill>
                          <a:latin typeface="Arial"/>
                        </a:rPr>
                        <a:t>—</a:t>
                      </a:r>
                    </a:p>
                  </a:txBody>
                  <a:tcPr marL="64008" marR="64008" marT="9144" marB="9144" anchor="ctr">
                    <a:solidFill>
                      <a:srgbClr val="EAEBF2"/>
                    </a:solidFill>
                  </a:tcPr>
                </a:tc>
                <a:tc>
                  <a:txBody>
                    <a:bodyPr/>
                    <a:lstStyle/>
                    <a:p>
                      <a:pPr algn="l"/>
                      <a:r>
                        <a:rPr sz="950" b="0">
                          <a:solidFill>
                            <a:srgbClr val="000000"/>
                          </a:solidFill>
                          <a:latin typeface="Arial"/>
                        </a:rPr>
                        <a:t>Payment method used.</a:t>
                      </a:r>
                    </a:p>
                  </a:txBody>
                  <a:tcPr marL="64008" marR="64008" marT="9144" marB="9144" anchor="ctr">
                    <a:solidFill>
                      <a:srgbClr val="EAEBF2"/>
                    </a:solidFill>
                  </a:tcPr>
                </a:tc>
                <a:extLst>
                  <a:ext uri="{0D108BD9-81ED-4DB2-BD59-A6C34878D82A}">
                    <a16:rowId xmlns:a16="http://schemas.microsoft.com/office/drawing/2014/main" val="10003"/>
                  </a:ext>
                </a:extLst>
              </a:tr>
              <a:tr h="577088">
                <a:tc>
                  <a:txBody>
                    <a:bodyPr/>
                    <a:lstStyle/>
                    <a:p>
                      <a:pPr algn="l"/>
                      <a:r>
                        <a:rPr sz="950" b="0">
                          <a:solidFill>
                            <a:srgbClr val="000000"/>
                          </a:solidFill>
                          <a:latin typeface="Arial"/>
                        </a:rPr>
                        <a:t>transaction_reference</a:t>
                      </a:r>
                    </a:p>
                  </a:txBody>
                  <a:tcPr marL="64008" marR="64008" marT="9144" marB="9144" anchor="ctr">
                    <a:solidFill>
                      <a:srgbClr val="D2D5E4"/>
                    </a:solidFill>
                  </a:tcPr>
                </a:tc>
                <a:tc>
                  <a:txBody>
                    <a:bodyPr/>
                    <a:lstStyle/>
                    <a:p>
                      <a:pPr algn="l"/>
                      <a:r>
                        <a:rPr sz="950" b="0">
                          <a:solidFill>
                            <a:srgbClr val="000000"/>
                          </a:solidFill>
                          <a:latin typeface="Arial"/>
                        </a:rPr>
                        <a:t>varchar(128)</a:t>
                      </a:r>
                    </a:p>
                  </a:txBody>
                  <a:tcPr marL="64008" marR="64008" marT="9144" marB="9144" anchor="ctr">
                    <a:solidFill>
                      <a:srgbClr val="D2D5E4"/>
                    </a:solidFill>
                  </a:tcPr>
                </a:tc>
                <a:tc>
                  <a:txBody>
                    <a:bodyPr/>
                    <a:lstStyle/>
                    <a:p>
                      <a:pPr algn="l"/>
                      <a:r>
                        <a:rPr sz="950" b="0">
                          <a:solidFill>
                            <a:srgbClr val="000000"/>
                          </a:solidFill>
                          <a:latin typeface="Arial"/>
                        </a:rPr>
                        <a:t>—</a:t>
                      </a:r>
                    </a:p>
                  </a:txBody>
                  <a:tcPr marL="64008" marR="64008" marT="9144" marB="9144" anchor="ctr">
                    <a:solidFill>
                      <a:srgbClr val="D2D5E4"/>
                    </a:solidFill>
                  </a:tcPr>
                </a:tc>
                <a:tc>
                  <a:txBody>
                    <a:bodyPr/>
                    <a:lstStyle/>
                    <a:p>
                      <a:pPr algn="l"/>
                      <a:r>
                        <a:rPr sz="950" b="0">
                          <a:solidFill>
                            <a:srgbClr val="000000"/>
                          </a:solidFill>
                          <a:latin typeface="Arial"/>
                        </a:rPr>
                        <a:t>External payment transaction reference.</a:t>
                      </a:r>
                    </a:p>
                  </a:txBody>
                  <a:tcPr marL="64008" marR="64008" marT="9144" marB="9144" anchor="ctr">
                    <a:solidFill>
                      <a:srgbClr val="D2D5E4"/>
                    </a:solidFill>
                  </a:tcPr>
                </a:tc>
                <a:extLst>
                  <a:ext uri="{0D108BD9-81ED-4DB2-BD59-A6C34878D82A}">
                    <a16:rowId xmlns:a16="http://schemas.microsoft.com/office/drawing/2014/main" val="10004"/>
                  </a:ext>
                </a:extLst>
              </a:tr>
              <a:tr h="577088">
                <a:tc>
                  <a:txBody>
                    <a:bodyPr/>
                    <a:lstStyle/>
                    <a:p>
                      <a:pPr algn="l"/>
                      <a:r>
                        <a:rPr sz="950" b="0">
                          <a:solidFill>
                            <a:srgbClr val="000000"/>
                          </a:solidFill>
                          <a:latin typeface="Arial"/>
                        </a:rPr>
                        <a:t>amount</a:t>
                      </a:r>
                    </a:p>
                  </a:txBody>
                  <a:tcPr marL="64008" marR="64008" marT="9144" marB="9144" anchor="ctr">
                    <a:solidFill>
                      <a:srgbClr val="EAEBF2"/>
                    </a:solidFill>
                  </a:tcPr>
                </a:tc>
                <a:tc>
                  <a:txBody>
                    <a:bodyPr/>
                    <a:lstStyle/>
                    <a:p>
                      <a:pPr algn="l"/>
                      <a:r>
                        <a:rPr sz="950" b="0">
                          <a:solidFill>
                            <a:srgbClr val="000000"/>
                          </a:solidFill>
                          <a:latin typeface="Arial"/>
                        </a:rPr>
                        <a:t>decimal(10,2)</a:t>
                      </a:r>
                    </a:p>
                  </a:txBody>
                  <a:tcPr marL="64008" marR="64008" marT="9144" marB="9144" anchor="ctr">
                    <a:solidFill>
                      <a:srgbClr val="EAEBF2"/>
                    </a:solidFill>
                  </a:tcPr>
                </a:tc>
                <a:tc>
                  <a:txBody>
                    <a:bodyPr/>
                    <a:lstStyle/>
                    <a:p>
                      <a:pPr algn="l"/>
                      <a:r>
                        <a:rPr sz="950" b="0">
                          <a:solidFill>
                            <a:srgbClr val="000000"/>
                          </a:solidFill>
                          <a:latin typeface="Arial"/>
                        </a:rPr>
                        <a:t>—</a:t>
                      </a:r>
                    </a:p>
                  </a:txBody>
                  <a:tcPr marL="64008" marR="64008" marT="9144" marB="9144" anchor="ctr">
                    <a:solidFill>
                      <a:srgbClr val="EAEBF2"/>
                    </a:solidFill>
                  </a:tcPr>
                </a:tc>
                <a:tc>
                  <a:txBody>
                    <a:bodyPr/>
                    <a:lstStyle/>
                    <a:p>
                      <a:pPr algn="l"/>
                      <a:r>
                        <a:rPr sz="950" b="0">
                          <a:solidFill>
                            <a:srgbClr val="000000"/>
                          </a:solidFill>
                          <a:latin typeface="Arial"/>
                        </a:rPr>
                        <a:t>Amount settled.</a:t>
                      </a:r>
                    </a:p>
                  </a:txBody>
                  <a:tcPr marL="64008" marR="64008" marT="9144" marB="9144" anchor="ctr">
                    <a:solidFill>
                      <a:srgbClr val="EAEBF2"/>
                    </a:solidFill>
                  </a:tcPr>
                </a:tc>
                <a:extLst>
                  <a:ext uri="{0D108BD9-81ED-4DB2-BD59-A6C34878D82A}">
                    <a16:rowId xmlns:a16="http://schemas.microsoft.com/office/drawing/2014/main" val="10005"/>
                  </a:ext>
                </a:extLst>
              </a:tr>
              <a:tr h="577088">
                <a:tc>
                  <a:txBody>
                    <a:bodyPr/>
                    <a:lstStyle/>
                    <a:p>
                      <a:pPr algn="l"/>
                      <a:r>
                        <a:rPr sz="950" b="0">
                          <a:solidFill>
                            <a:srgbClr val="000000"/>
                          </a:solidFill>
                          <a:latin typeface="Arial"/>
                        </a:rPr>
                        <a:t>status</a:t>
                      </a:r>
                    </a:p>
                  </a:txBody>
                  <a:tcPr marL="64008" marR="64008" marT="9144" marB="9144" anchor="ctr">
                    <a:solidFill>
                      <a:srgbClr val="D2D5E4"/>
                    </a:solidFill>
                  </a:tcPr>
                </a:tc>
                <a:tc>
                  <a:txBody>
                    <a:bodyPr/>
                    <a:lstStyle/>
                    <a:p>
                      <a:pPr algn="l"/>
                      <a:r>
                        <a:rPr sz="950" b="0">
                          <a:solidFill>
                            <a:srgbClr val="000000"/>
                          </a:solidFill>
                          <a:latin typeface="Arial"/>
                        </a:rPr>
                        <a:t>enum('pending','completed','failed')</a:t>
                      </a:r>
                    </a:p>
                  </a:txBody>
                  <a:tcPr marL="64008" marR="64008" marT="9144" marB="9144" anchor="ctr">
                    <a:solidFill>
                      <a:srgbClr val="D2D5E4"/>
                    </a:solidFill>
                  </a:tcPr>
                </a:tc>
                <a:tc>
                  <a:txBody>
                    <a:bodyPr/>
                    <a:lstStyle/>
                    <a:p>
                      <a:pPr algn="l"/>
                      <a:r>
                        <a:rPr sz="950" b="0">
                          <a:solidFill>
                            <a:srgbClr val="000000"/>
                          </a:solidFill>
                          <a:latin typeface="Arial"/>
                        </a:rPr>
                        <a:t>IDX</a:t>
                      </a:r>
                    </a:p>
                  </a:txBody>
                  <a:tcPr marL="64008" marR="64008" marT="9144" marB="9144" anchor="ctr">
                    <a:solidFill>
                      <a:srgbClr val="D2D5E4"/>
                    </a:solidFill>
                  </a:tcPr>
                </a:tc>
                <a:tc>
                  <a:txBody>
                    <a:bodyPr/>
                    <a:lstStyle/>
                    <a:p>
                      <a:pPr algn="l"/>
                      <a:r>
                        <a:rPr sz="950" b="0">
                          <a:solidFill>
                            <a:srgbClr val="000000"/>
                          </a:solidFill>
                          <a:latin typeface="Arial"/>
                        </a:rPr>
                        <a:t>Payment transaction status.</a:t>
                      </a:r>
                    </a:p>
                  </a:txBody>
                  <a:tcPr marL="64008" marR="64008" marT="9144" marB="9144" anchor="ctr">
                    <a:solidFill>
                      <a:srgbClr val="D2D5E4"/>
                    </a:solidFill>
                  </a:tcPr>
                </a:tc>
                <a:extLst>
                  <a:ext uri="{0D108BD9-81ED-4DB2-BD59-A6C34878D82A}">
                    <a16:rowId xmlns:a16="http://schemas.microsoft.com/office/drawing/2014/main" val="10006"/>
                  </a:ext>
                </a:extLst>
              </a:tr>
              <a:tr h="577088">
                <a:tc>
                  <a:txBody>
                    <a:bodyPr/>
                    <a:lstStyle/>
                    <a:p>
                      <a:pPr algn="l"/>
                      <a:r>
                        <a:rPr sz="950" b="0">
                          <a:solidFill>
                            <a:srgbClr val="000000"/>
                          </a:solidFill>
                          <a:latin typeface="Arial"/>
                        </a:rPr>
                        <a:t>paid_at</a:t>
                      </a:r>
                    </a:p>
                  </a:txBody>
                  <a:tcPr marL="64008" marR="64008" marT="9144" marB="9144" anchor="ctr">
                    <a:solidFill>
                      <a:srgbClr val="EAEBF2"/>
                    </a:solidFill>
                  </a:tcPr>
                </a:tc>
                <a:tc>
                  <a:txBody>
                    <a:bodyPr/>
                    <a:lstStyle/>
                    <a:p>
                      <a:pPr algn="l"/>
                      <a:r>
                        <a:rPr sz="950" b="0">
                          <a:solidFill>
                            <a:srgbClr val="000000"/>
                          </a:solidFill>
                          <a:latin typeface="Arial"/>
                        </a:rPr>
                        <a:t>timestamp</a:t>
                      </a:r>
                    </a:p>
                  </a:txBody>
                  <a:tcPr marL="64008" marR="64008" marT="9144" marB="9144" anchor="ctr">
                    <a:solidFill>
                      <a:srgbClr val="EAEBF2"/>
                    </a:solidFill>
                  </a:tcPr>
                </a:tc>
                <a:tc>
                  <a:txBody>
                    <a:bodyPr/>
                    <a:lstStyle/>
                    <a:p>
                      <a:pPr algn="l"/>
                      <a:r>
                        <a:rPr sz="950" b="0">
                          <a:solidFill>
                            <a:srgbClr val="000000"/>
                          </a:solidFill>
                          <a:latin typeface="Arial"/>
                        </a:rPr>
                        <a:t>—</a:t>
                      </a:r>
                    </a:p>
                  </a:txBody>
                  <a:tcPr marL="64008" marR="64008" marT="9144" marB="9144" anchor="ctr">
                    <a:solidFill>
                      <a:srgbClr val="EAEBF2"/>
                    </a:solidFill>
                  </a:tcPr>
                </a:tc>
                <a:tc>
                  <a:txBody>
                    <a:bodyPr/>
                    <a:lstStyle/>
                    <a:p>
                      <a:pPr algn="l"/>
                      <a:r>
                        <a:rPr sz="950" b="0">
                          <a:solidFill>
                            <a:srgbClr val="000000"/>
                          </a:solidFill>
                          <a:latin typeface="Arial"/>
                        </a:rPr>
                        <a:t>Date and time payment was completed.</a:t>
                      </a:r>
                    </a:p>
                  </a:txBody>
                  <a:tcPr marL="64008" marR="64008" marT="9144" marB="9144" anchor="ctr">
                    <a:solidFill>
                      <a:srgbClr val="EAEBF2"/>
                    </a:solidFill>
                  </a:tcPr>
                </a:tc>
                <a:extLst>
                  <a:ext uri="{0D108BD9-81ED-4DB2-BD59-A6C34878D82A}">
                    <a16:rowId xmlns:a16="http://schemas.microsoft.com/office/drawing/2014/main" val="10007"/>
                  </a:ext>
                </a:extLst>
              </a:tr>
              <a:tr h="577088">
                <a:tc>
                  <a:txBody>
                    <a:bodyPr/>
                    <a:lstStyle/>
                    <a:p>
                      <a:pPr algn="l"/>
                      <a:r>
                        <a:rPr sz="950" b="0">
                          <a:solidFill>
                            <a:srgbClr val="000000"/>
                          </a:solidFill>
                          <a:latin typeface="Arial"/>
                        </a:rPr>
                        <a:t>created_at</a:t>
                      </a:r>
                    </a:p>
                  </a:txBody>
                  <a:tcPr marL="64008" marR="64008" marT="9144" marB="9144" anchor="ctr">
                    <a:solidFill>
                      <a:srgbClr val="D2D5E4"/>
                    </a:solidFill>
                  </a:tcPr>
                </a:tc>
                <a:tc>
                  <a:txBody>
                    <a:bodyPr/>
                    <a:lstStyle/>
                    <a:p>
                      <a:pPr algn="l"/>
                      <a:r>
                        <a:rPr sz="950" b="0">
                          <a:solidFill>
                            <a:srgbClr val="000000"/>
                          </a:solidFill>
                          <a:latin typeface="Arial"/>
                        </a:rPr>
                        <a:t>timestamp</a:t>
                      </a:r>
                    </a:p>
                  </a:txBody>
                  <a:tcPr marL="64008" marR="64008" marT="9144" marB="9144" anchor="ctr">
                    <a:solidFill>
                      <a:srgbClr val="D2D5E4"/>
                    </a:solidFill>
                  </a:tcPr>
                </a:tc>
                <a:tc>
                  <a:txBody>
                    <a:bodyPr/>
                    <a:lstStyle/>
                    <a:p>
                      <a:pPr algn="l"/>
                      <a:r>
                        <a:rPr sz="950" b="0">
                          <a:solidFill>
                            <a:srgbClr val="000000"/>
                          </a:solidFill>
                          <a:latin typeface="Arial"/>
                        </a:rPr>
                        <a:t>—</a:t>
                      </a:r>
                    </a:p>
                  </a:txBody>
                  <a:tcPr marL="64008" marR="64008" marT="9144" marB="9144" anchor="ctr">
                    <a:solidFill>
                      <a:srgbClr val="D2D5E4"/>
                    </a:solidFill>
                  </a:tcPr>
                </a:tc>
                <a:tc>
                  <a:txBody>
                    <a:bodyPr/>
                    <a:lstStyle/>
                    <a:p>
                      <a:pPr algn="l"/>
                      <a:r>
                        <a:rPr sz="950" b="0">
                          <a:solidFill>
                            <a:srgbClr val="000000"/>
                          </a:solidFill>
                          <a:latin typeface="Arial"/>
                        </a:rPr>
                        <a:t>Date and time the payment record was created.</a:t>
                      </a:r>
                    </a:p>
                  </a:txBody>
                  <a:tcPr marL="64008" marR="64008" marT="9144" marB="9144" anchor="ctr">
                    <a:solidFill>
                      <a:srgbClr val="D2D5E4"/>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3.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3063240" y="0"/>
            <a:ext cx="30175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256032"/>
            <a:ext cx="8229600" cy="6327648"/>
          </a:xfrm>
          <a:prstGeom prst="rect">
            <a:avLst/>
          </a:prstGeom>
          <a:solidFill>
            <a:srgbClr val="FFFFFF"/>
          </a:solidFill>
          <a:ln w="10160">
            <a:solidFill>
              <a:srgbClr val="696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47288" y="36576"/>
            <a:ext cx="2249424" cy="438912"/>
          </a:xfrm>
          <a:prstGeom prst="rect">
            <a:avLst/>
          </a:prstGeom>
          <a:solidFill>
            <a:srgbClr val="9C5252"/>
          </a:solidFill>
          <a:ln w="12700">
            <a:solidFill>
              <a:srgbClr val="7E9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00000"/>
                </a:solidFill>
                <a:latin typeface="Times New Roman"/>
              </a:rPr>
              <a:t>Data Dictionary</a:t>
            </a:r>
          </a:p>
        </p:txBody>
      </p:sp>
      <p:sp>
        <p:nvSpPr>
          <p:cNvPr id="6" name="Rectangle 5"/>
          <p:cNvSpPr/>
          <p:nvPr/>
        </p:nvSpPr>
        <p:spPr>
          <a:xfrm>
            <a:off x="3502152" y="832104"/>
            <a:ext cx="1737360" cy="32004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00000"/>
                </a:solidFill>
                <a:latin typeface="Arial"/>
              </a:rPr>
              <a:t>Table : qr_tokens</a:t>
            </a:r>
          </a:p>
        </p:txBody>
      </p:sp>
      <p:sp>
        <p:nvSpPr>
          <p:cNvPr id="7" name="TextBox 6"/>
          <p:cNvSpPr txBox="1"/>
          <p:nvPr/>
        </p:nvSpPr>
        <p:spPr>
          <a:xfrm>
            <a:off x="5312664" y="832104"/>
            <a:ext cx="320040" cy="320040"/>
          </a:xfrm>
          <a:prstGeom prst="rect">
            <a:avLst/>
          </a:prstGeom>
          <a:noFill/>
        </p:spPr>
        <p:txBody>
          <a:bodyPr wrap="none" anchor="ctr">
            <a:spAutoFit/>
          </a:bodyPr>
          <a:lstStyle/>
          <a:p>
            <a:pPr algn="l"/>
            <a:r>
              <a:rPr sz="1100">
                <a:solidFill>
                  <a:srgbClr val="000000"/>
                </a:solidFill>
                <a:latin typeface="Arial"/>
              </a:rPr>
              <a:t>:-</a:t>
            </a:r>
          </a:p>
        </p:txBody>
      </p:sp>
      <p:graphicFrame>
        <p:nvGraphicFramePr>
          <p:cNvPr id="8" name="Table 7"/>
          <p:cNvGraphicFramePr>
            <a:graphicFrameLocks noGrp="1"/>
          </p:cNvGraphicFramePr>
          <p:nvPr/>
        </p:nvGraphicFramePr>
        <p:xfrm>
          <a:off x="1170432" y="1225296"/>
          <a:ext cx="6949440" cy="5193792"/>
        </p:xfrm>
        <a:graphic>
          <a:graphicData uri="http://schemas.openxmlformats.org/drawingml/2006/table">
            <a:tbl>
              <a:tblPr firstRow="1" bandRow="1">
                <a:tableStyleId>{5C22544A-7EE6-4342-B048-85BDC9FD1C3A}</a:tableStyleId>
              </a:tblPr>
              <a:tblGrid>
                <a:gridCol w="1572768">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577088">
                <a:tc>
                  <a:txBody>
                    <a:bodyPr/>
                    <a:lstStyle/>
                    <a:p>
                      <a:pPr algn="l"/>
                      <a:r>
                        <a:rPr sz="1050" b="1">
                          <a:solidFill>
                            <a:srgbClr val="FFFFFF"/>
                          </a:solidFill>
                          <a:latin typeface="Arial"/>
                        </a:rPr>
                        <a:t>Field Name</a:t>
                      </a:r>
                    </a:p>
                  </a:txBody>
                  <a:tcPr marL="64008" marR="64008" marT="9144" marB="9144" anchor="ctr">
                    <a:solidFill>
                      <a:srgbClr val="6076B4"/>
                    </a:solidFill>
                  </a:tcPr>
                </a:tc>
                <a:tc>
                  <a:txBody>
                    <a:bodyPr/>
                    <a:lstStyle/>
                    <a:p>
                      <a:pPr algn="l"/>
                      <a:r>
                        <a:rPr sz="1050" b="1">
                          <a:solidFill>
                            <a:srgbClr val="FFFFFF"/>
                          </a:solidFill>
                          <a:latin typeface="Arial"/>
                        </a:rPr>
                        <a:t>Data Type</a:t>
                      </a:r>
                    </a:p>
                  </a:txBody>
                  <a:tcPr marL="64008" marR="64008" marT="9144" marB="9144" anchor="ctr">
                    <a:solidFill>
                      <a:srgbClr val="6076B4"/>
                    </a:solidFill>
                  </a:tcPr>
                </a:tc>
                <a:tc>
                  <a:txBody>
                    <a:bodyPr/>
                    <a:lstStyle/>
                    <a:p>
                      <a:pPr algn="l"/>
                      <a:r>
                        <a:rPr sz="1050" b="1">
                          <a:solidFill>
                            <a:srgbClr val="FFFFFF"/>
                          </a:solidFill>
                          <a:latin typeface="Arial"/>
                        </a:rPr>
                        <a:t>Key</a:t>
                      </a:r>
                    </a:p>
                  </a:txBody>
                  <a:tcPr marL="64008" marR="64008" marT="9144" marB="9144" anchor="ctr">
                    <a:solidFill>
                      <a:srgbClr val="6076B4"/>
                    </a:solidFill>
                  </a:tcPr>
                </a:tc>
                <a:tc>
                  <a:txBody>
                    <a:bodyPr/>
                    <a:lstStyle/>
                    <a:p>
                      <a:pPr algn="l"/>
                      <a:r>
                        <a:rPr sz="1050" b="1">
                          <a:solidFill>
                            <a:srgbClr val="FFFFFF"/>
                          </a:solidFill>
                          <a:latin typeface="Arial"/>
                        </a:rPr>
                        <a:t>Description</a:t>
                      </a:r>
                    </a:p>
                  </a:txBody>
                  <a:tcPr marL="64008" marR="64008" marT="9144" marB="9144" anchor="ctr">
                    <a:solidFill>
                      <a:srgbClr val="6076B4"/>
                    </a:solidFill>
                  </a:tcPr>
                </a:tc>
                <a:extLst>
                  <a:ext uri="{0D108BD9-81ED-4DB2-BD59-A6C34878D82A}">
                    <a16:rowId xmlns:a16="http://schemas.microsoft.com/office/drawing/2014/main" val="10000"/>
                  </a:ext>
                </a:extLst>
              </a:tr>
              <a:tr h="577088">
                <a:tc>
                  <a:txBody>
                    <a:bodyPr/>
                    <a:lstStyle/>
                    <a:p>
                      <a:pPr algn="l"/>
                      <a:r>
                        <a:rPr sz="950" b="0">
                          <a:solidFill>
                            <a:srgbClr val="000000"/>
                          </a:solidFill>
                          <a:latin typeface="Arial"/>
                        </a:rPr>
                        <a:t>id</a:t>
                      </a:r>
                    </a:p>
                  </a:txBody>
                  <a:tcPr marL="64008" marR="64008" marT="9144" marB="9144" anchor="ctr">
                    <a:solidFill>
                      <a:srgbClr val="EAEBF2"/>
                    </a:solidFill>
                  </a:tcPr>
                </a:tc>
                <a:tc>
                  <a:txBody>
                    <a:bodyPr/>
                    <a:lstStyle/>
                    <a:p>
                      <a:pPr algn="l"/>
                      <a:r>
                        <a:rPr sz="950" b="0">
                          <a:solidFill>
                            <a:srgbClr val="000000"/>
                          </a:solidFill>
                          <a:latin typeface="Arial"/>
                        </a:rPr>
                        <a:t>bigint(20) unsigned</a:t>
                      </a:r>
                    </a:p>
                  </a:txBody>
                  <a:tcPr marL="64008" marR="64008" marT="9144" marB="9144" anchor="ctr">
                    <a:solidFill>
                      <a:srgbClr val="EAEBF2"/>
                    </a:solidFill>
                  </a:tcPr>
                </a:tc>
                <a:tc>
                  <a:txBody>
                    <a:bodyPr/>
                    <a:lstStyle/>
                    <a:p>
                      <a:pPr algn="l"/>
                      <a:r>
                        <a:rPr sz="950" b="0">
                          <a:solidFill>
                            <a:srgbClr val="000000"/>
                          </a:solidFill>
                          <a:latin typeface="Arial"/>
                        </a:rPr>
                        <a:t>PK</a:t>
                      </a:r>
                    </a:p>
                  </a:txBody>
                  <a:tcPr marL="64008" marR="64008" marT="9144" marB="9144" anchor="ctr">
                    <a:solidFill>
                      <a:srgbClr val="EAEBF2"/>
                    </a:solidFill>
                  </a:tcPr>
                </a:tc>
                <a:tc>
                  <a:txBody>
                    <a:bodyPr/>
                    <a:lstStyle/>
                    <a:p>
                      <a:pPr algn="l"/>
                      <a:r>
                        <a:rPr sz="950" b="0">
                          <a:solidFill>
                            <a:srgbClr val="000000"/>
                          </a:solidFill>
                          <a:latin typeface="Arial"/>
                        </a:rPr>
                        <a:t>Unique QR token record ID.</a:t>
                      </a:r>
                    </a:p>
                  </a:txBody>
                  <a:tcPr marL="64008" marR="64008" marT="9144" marB="9144" anchor="ctr">
                    <a:solidFill>
                      <a:srgbClr val="EAEBF2"/>
                    </a:solidFill>
                  </a:tcPr>
                </a:tc>
                <a:extLst>
                  <a:ext uri="{0D108BD9-81ED-4DB2-BD59-A6C34878D82A}">
                    <a16:rowId xmlns:a16="http://schemas.microsoft.com/office/drawing/2014/main" val="10001"/>
                  </a:ext>
                </a:extLst>
              </a:tr>
              <a:tr h="577088">
                <a:tc>
                  <a:txBody>
                    <a:bodyPr/>
                    <a:lstStyle/>
                    <a:p>
                      <a:pPr algn="l"/>
                      <a:r>
                        <a:rPr sz="950" b="0">
                          <a:solidFill>
                            <a:srgbClr val="000000"/>
                          </a:solidFill>
                          <a:latin typeface="Arial"/>
                        </a:rPr>
                        <a:t>restaurant_id</a:t>
                      </a:r>
                    </a:p>
                  </a:txBody>
                  <a:tcPr marL="64008" marR="64008" marT="9144" marB="9144" anchor="ctr">
                    <a:solidFill>
                      <a:srgbClr val="D2D5E4"/>
                    </a:solidFill>
                  </a:tcPr>
                </a:tc>
                <a:tc>
                  <a:txBody>
                    <a:bodyPr/>
                    <a:lstStyle/>
                    <a:p>
                      <a:pPr algn="l"/>
                      <a:r>
                        <a:rPr sz="950" b="0">
                          <a:solidFill>
                            <a:srgbClr val="000000"/>
                          </a:solidFill>
                          <a:latin typeface="Arial"/>
                        </a:rPr>
                        <a:t>bigint(20) unsigned</a:t>
                      </a:r>
                    </a:p>
                  </a:txBody>
                  <a:tcPr marL="64008" marR="64008" marT="9144" marB="9144" anchor="ctr">
                    <a:solidFill>
                      <a:srgbClr val="D2D5E4"/>
                    </a:solidFill>
                  </a:tcPr>
                </a:tc>
                <a:tc>
                  <a:txBody>
                    <a:bodyPr/>
                    <a:lstStyle/>
                    <a:p>
                      <a:pPr algn="l"/>
                      <a:r>
                        <a:rPr sz="950" b="0">
                          <a:solidFill>
                            <a:srgbClr val="000000"/>
                          </a:solidFill>
                          <a:latin typeface="Arial"/>
                        </a:rPr>
                        <a:t>FK/IDX</a:t>
                      </a:r>
                    </a:p>
                  </a:txBody>
                  <a:tcPr marL="64008" marR="64008" marT="9144" marB="9144" anchor="ctr">
                    <a:solidFill>
                      <a:srgbClr val="D2D5E4"/>
                    </a:solidFill>
                  </a:tcPr>
                </a:tc>
                <a:tc>
                  <a:txBody>
                    <a:bodyPr/>
                    <a:lstStyle/>
                    <a:p>
                      <a:pPr algn="l"/>
                      <a:r>
                        <a:rPr sz="950" b="0">
                          <a:solidFill>
                            <a:srgbClr val="000000"/>
                          </a:solidFill>
                          <a:latin typeface="Arial"/>
                        </a:rPr>
                        <a:t>Restaurant associated with the QR token.</a:t>
                      </a:r>
                    </a:p>
                  </a:txBody>
                  <a:tcPr marL="64008" marR="64008" marT="9144" marB="9144" anchor="ctr">
                    <a:solidFill>
                      <a:srgbClr val="D2D5E4"/>
                    </a:solidFill>
                  </a:tcPr>
                </a:tc>
                <a:extLst>
                  <a:ext uri="{0D108BD9-81ED-4DB2-BD59-A6C34878D82A}">
                    <a16:rowId xmlns:a16="http://schemas.microsoft.com/office/drawing/2014/main" val="10002"/>
                  </a:ext>
                </a:extLst>
              </a:tr>
              <a:tr h="577088">
                <a:tc>
                  <a:txBody>
                    <a:bodyPr/>
                    <a:lstStyle/>
                    <a:p>
                      <a:pPr algn="l"/>
                      <a:r>
                        <a:rPr sz="950" b="0">
                          <a:solidFill>
                            <a:srgbClr val="000000"/>
                          </a:solidFill>
                          <a:latin typeface="Arial"/>
                        </a:rPr>
                        <a:t>branch_id</a:t>
                      </a:r>
                    </a:p>
                  </a:txBody>
                  <a:tcPr marL="64008" marR="64008" marT="9144" marB="9144" anchor="ctr">
                    <a:solidFill>
                      <a:srgbClr val="EAEBF2"/>
                    </a:solidFill>
                  </a:tcPr>
                </a:tc>
                <a:tc>
                  <a:txBody>
                    <a:bodyPr/>
                    <a:lstStyle/>
                    <a:p>
                      <a:pPr algn="l"/>
                      <a:r>
                        <a:rPr sz="950" b="0">
                          <a:solidFill>
                            <a:srgbClr val="000000"/>
                          </a:solidFill>
                          <a:latin typeface="Arial"/>
                        </a:rPr>
                        <a:t>bigint(20) unsigned</a:t>
                      </a:r>
                    </a:p>
                  </a:txBody>
                  <a:tcPr marL="64008" marR="64008" marT="9144" marB="9144" anchor="ctr">
                    <a:solidFill>
                      <a:srgbClr val="EAEBF2"/>
                    </a:solidFill>
                  </a:tcPr>
                </a:tc>
                <a:tc>
                  <a:txBody>
                    <a:bodyPr/>
                    <a:lstStyle/>
                    <a:p>
                      <a:pPr algn="l"/>
                      <a:r>
                        <a:rPr sz="950" b="0">
                          <a:solidFill>
                            <a:srgbClr val="000000"/>
                          </a:solidFill>
                          <a:latin typeface="Arial"/>
                        </a:rPr>
                        <a:t>FK/IDX</a:t>
                      </a:r>
                    </a:p>
                  </a:txBody>
                  <a:tcPr marL="64008" marR="64008" marT="9144" marB="9144" anchor="ctr">
                    <a:solidFill>
                      <a:srgbClr val="EAEBF2"/>
                    </a:solidFill>
                  </a:tcPr>
                </a:tc>
                <a:tc>
                  <a:txBody>
                    <a:bodyPr/>
                    <a:lstStyle/>
                    <a:p>
                      <a:pPr algn="l"/>
                      <a:r>
                        <a:rPr sz="950" b="0">
                          <a:solidFill>
                            <a:srgbClr val="000000"/>
                          </a:solidFill>
                          <a:latin typeface="Arial"/>
                        </a:rPr>
                        <a:t>Branch associated with the QR token.</a:t>
                      </a:r>
                    </a:p>
                  </a:txBody>
                  <a:tcPr marL="64008" marR="64008" marT="9144" marB="9144" anchor="ctr">
                    <a:solidFill>
                      <a:srgbClr val="EAEBF2"/>
                    </a:solidFill>
                  </a:tcPr>
                </a:tc>
                <a:extLst>
                  <a:ext uri="{0D108BD9-81ED-4DB2-BD59-A6C34878D82A}">
                    <a16:rowId xmlns:a16="http://schemas.microsoft.com/office/drawing/2014/main" val="10003"/>
                  </a:ext>
                </a:extLst>
              </a:tr>
              <a:tr h="577088">
                <a:tc>
                  <a:txBody>
                    <a:bodyPr/>
                    <a:lstStyle/>
                    <a:p>
                      <a:pPr algn="l"/>
                      <a:r>
                        <a:rPr sz="950" b="0">
                          <a:solidFill>
                            <a:srgbClr val="000000"/>
                          </a:solidFill>
                          <a:latin typeface="Arial"/>
                        </a:rPr>
                        <a:t>table_id</a:t>
                      </a:r>
                    </a:p>
                  </a:txBody>
                  <a:tcPr marL="64008" marR="64008" marT="9144" marB="9144" anchor="ctr">
                    <a:solidFill>
                      <a:srgbClr val="D2D5E4"/>
                    </a:solidFill>
                  </a:tcPr>
                </a:tc>
                <a:tc>
                  <a:txBody>
                    <a:bodyPr/>
                    <a:lstStyle/>
                    <a:p>
                      <a:pPr algn="l"/>
                      <a:r>
                        <a:rPr sz="950" b="0">
                          <a:solidFill>
                            <a:srgbClr val="000000"/>
                          </a:solidFill>
                          <a:latin typeface="Arial"/>
                        </a:rPr>
                        <a:t>bigint(20) unsigned</a:t>
                      </a:r>
                    </a:p>
                  </a:txBody>
                  <a:tcPr marL="64008" marR="64008" marT="9144" marB="9144" anchor="ctr">
                    <a:solidFill>
                      <a:srgbClr val="D2D5E4"/>
                    </a:solidFill>
                  </a:tcPr>
                </a:tc>
                <a:tc>
                  <a:txBody>
                    <a:bodyPr/>
                    <a:lstStyle/>
                    <a:p>
                      <a:pPr algn="l"/>
                      <a:r>
                        <a:rPr sz="950" b="0">
                          <a:solidFill>
                            <a:srgbClr val="000000"/>
                          </a:solidFill>
                          <a:latin typeface="Arial"/>
                        </a:rPr>
                        <a:t>FK/IDX</a:t>
                      </a:r>
                    </a:p>
                  </a:txBody>
                  <a:tcPr marL="64008" marR="64008" marT="9144" marB="9144" anchor="ctr">
                    <a:solidFill>
                      <a:srgbClr val="D2D5E4"/>
                    </a:solidFill>
                  </a:tcPr>
                </a:tc>
                <a:tc>
                  <a:txBody>
                    <a:bodyPr/>
                    <a:lstStyle/>
                    <a:p>
                      <a:pPr algn="l"/>
                      <a:r>
                        <a:rPr sz="950" b="0">
                          <a:solidFill>
                            <a:srgbClr val="000000"/>
                          </a:solidFill>
                          <a:latin typeface="Arial"/>
                        </a:rPr>
                        <a:t>Table associated with the QR token.</a:t>
                      </a:r>
                    </a:p>
                  </a:txBody>
                  <a:tcPr marL="64008" marR="64008" marT="9144" marB="9144" anchor="ctr">
                    <a:solidFill>
                      <a:srgbClr val="D2D5E4"/>
                    </a:solidFill>
                  </a:tcPr>
                </a:tc>
                <a:extLst>
                  <a:ext uri="{0D108BD9-81ED-4DB2-BD59-A6C34878D82A}">
                    <a16:rowId xmlns:a16="http://schemas.microsoft.com/office/drawing/2014/main" val="10004"/>
                  </a:ext>
                </a:extLst>
              </a:tr>
              <a:tr h="577088">
                <a:tc>
                  <a:txBody>
                    <a:bodyPr/>
                    <a:lstStyle/>
                    <a:p>
                      <a:pPr algn="l"/>
                      <a:r>
                        <a:rPr sz="950" b="0">
                          <a:solidFill>
                            <a:srgbClr val="000000"/>
                          </a:solidFill>
                          <a:latin typeface="Arial"/>
                        </a:rPr>
                        <a:t>token</a:t>
                      </a:r>
                    </a:p>
                  </a:txBody>
                  <a:tcPr marL="64008" marR="64008" marT="9144" marB="9144" anchor="ctr">
                    <a:solidFill>
                      <a:srgbClr val="EAEBF2"/>
                    </a:solidFill>
                  </a:tcPr>
                </a:tc>
                <a:tc>
                  <a:txBody>
                    <a:bodyPr/>
                    <a:lstStyle/>
                    <a:p>
                      <a:pPr algn="l"/>
                      <a:r>
                        <a:rPr sz="950" b="0">
                          <a:solidFill>
                            <a:srgbClr val="000000"/>
                          </a:solidFill>
                          <a:latin typeface="Arial"/>
                        </a:rPr>
                        <a:t>varchar(128)</a:t>
                      </a:r>
                    </a:p>
                  </a:txBody>
                  <a:tcPr marL="64008" marR="64008" marT="9144" marB="9144" anchor="ctr">
                    <a:solidFill>
                      <a:srgbClr val="EAEBF2"/>
                    </a:solidFill>
                  </a:tcPr>
                </a:tc>
                <a:tc>
                  <a:txBody>
                    <a:bodyPr/>
                    <a:lstStyle/>
                    <a:p>
                      <a:pPr algn="l"/>
                      <a:r>
                        <a:rPr sz="950" b="0">
                          <a:solidFill>
                            <a:srgbClr val="000000"/>
                          </a:solidFill>
                          <a:latin typeface="Arial"/>
                        </a:rPr>
                        <a:t>UNI</a:t>
                      </a:r>
                    </a:p>
                  </a:txBody>
                  <a:tcPr marL="64008" marR="64008" marT="9144" marB="9144" anchor="ctr">
                    <a:solidFill>
                      <a:srgbClr val="EAEBF2"/>
                    </a:solidFill>
                  </a:tcPr>
                </a:tc>
                <a:tc>
                  <a:txBody>
                    <a:bodyPr/>
                    <a:lstStyle/>
                    <a:p>
                      <a:pPr algn="l"/>
                      <a:r>
                        <a:rPr sz="950" b="0">
                          <a:solidFill>
                            <a:srgbClr val="000000"/>
                          </a:solidFill>
                          <a:latin typeface="Arial"/>
                        </a:rPr>
                        <a:t>Unique QR ordering session token.</a:t>
                      </a:r>
                    </a:p>
                  </a:txBody>
                  <a:tcPr marL="64008" marR="64008" marT="9144" marB="9144" anchor="ctr">
                    <a:solidFill>
                      <a:srgbClr val="EAEBF2"/>
                    </a:solidFill>
                  </a:tcPr>
                </a:tc>
                <a:extLst>
                  <a:ext uri="{0D108BD9-81ED-4DB2-BD59-A6C34878D82A}">
                    <a16:rowId xmlns:a16="http://schemas.microsoft.com/office/drawing/2014/main" val="10005"/>
                  </a:ext>
                </a:extLst>
              </a:tr>
              <a:tr h="577088">
                <a:tc>
                  <a:txBody>
                    <a:bodyPr/>
                    <a:lstStyle/>
                    <a:p>
                      <a:pPr algn="l"/>
                      <a:r>
                        <a:rPr sz="950" b="0">
                          <a:solidFill>
                            <a:srgbClr val="000000"/>
                          </a:solidFill>
                          <a:latin typeface="Arial"/>
                        </a:rPr>
                        <a:t>status</a:t>
                      </a:r>
                    </a:p>
                  </a:txBody>
                  <a:tcPr marL="64008" marR="64008" marT="9144" marB="9144" anchor="ctr">
                    <a:solidFill>
                      <a:srgbClr val="D2D5E4"/>
                    </a:solidFill>
                  </a:tcPr>
                </a:tc>
                <a:tc>
                  <a:txBody>
                    <a:bodyPr/>
                    <a:lstStyle/>
                    <a:p>
                      <a:pPr algn="l"/>
                      <a:r>
                        <a:rPr sz="950" b="0">
                          <a:solidFill>
                            <a:srgbClr val="000000"/>
                          </a:solidFill>
                          <a:latin typeface="Arial"/>
                        </a:rPr>
                        <a:t>enum('active','inactive','expired')</a:t>
                      </a:r>
                    </a:p>
                  </a:txBody>
                  <a:tcPr marL="64008" marR="64008" marT="9144" marB="9144" anchor="ctr">
                    <a:solidFill>
                      <a:srgbClr val="D2D5E4"/>
                    </a:solidFill>
                  </a:tcPr>
                </a:tc>
                <a:tc>
                  <a:txBody>
                    <a:bodyPr/>
                    <a:lstStyle/>
                    <a:p>
                      <a:pPr algn="l"/>
                      <a:r>
                        <a:rPr sz="950" b="0">
                          <a:solidFill>
                            <a:srgbClr val="000000"/>
                          </a:solidFill>
                          <a:latin typeface="Arial"/>
                        </a:rPr>
                        <a:t>IDX</a:t>
                      </a:r>
                    </a:p>
                  </a:txBody>
                  <a:tcPr marL="64008" marR="64008" marT="9144" marB="9144" anchor="ctr">
                    <a:solidFill>
                      <a:srgbClr val="D2D5E4"/>
                    </a:solidFill>
                  </a:tcPr>
                </a:tc>
                <a:tc>
                  <a:txBody>
                    <a:bodyPr/>
                    <a:lstStyle/>
                    <a:p>
                      <a:pPr algn="l"/>
                      <a:r>
                        <a:rPr sz="950" b="0">
                          <a:solidFill>
                            <a:srgbClr val="000000"/>
                          </a:solidFill>
                          <a:latin typeface="Arial"/>
                        </a:rPr>
                        <a:t>Current token status.</a:t>
                      </a:r>
                    </a:p>
                  </a:txBody>
                  <a:tcPr marL="64008" marR="64008" marT="9144" marB="9144" anchor="ctr">
                    <a:solidFill>
                      <a:srgbClr val="D2D5E4"/>
                    </a:solidFill>
                  </a:tcPr>
                </a:tc>
                <a:extLst>
                  <a:ext uri="{0D108BD9-81ED-4DB2-BD59-A6C34878D82A}">
                    <a16:rowId xmlns:a16="http://schemas.microsoft.com/office/drawing/2014/main" val="10006"/>
                  </a:ext>
                </a:extLst>
              </a:tr>
              <a:tr h="577088">
                <a:tc>
                  <a:txBody>
                    <a:bodyPr/>
                    <a:lstStyle/>
                    <a:p>
                      <a:pPr algn="l"/>
                      <a:r>
                        <a:rPr sz="950" b="0">
                          <a:solidFill>
                            <a:srgbClr val="000000"/>
                          </a:solidFill>
                          <a:latin typeface="Arial"/>
                        </a:rPr>
                        <a:t>expires_at</a:t>
                      </a:r>
                    </a:p>
                  </a:txBody>
                  <a:tcPr marL="64008" marR="64008" marT="9144" marB="9144" anchor="ctr">
                    <a:solidFill>
                      <a:srgbClr val="EAEBF2"/>
                    </a:solidFill>
                  </a:tcPr>
                </a:tc>
                <a:tc>
                  <a:txBody>
                    <a:bodyPr/>
                    <a:lstStyle/>
                    <a:p>
                      <a:pPr algn="l"/>
                      <a:r>
                        <a:rPr sz="950" b="0">
                          <a:solidFill>
                            <a:srgbClr val="000000"/>
                          </a:solidFill>
                          <a:latin typeface="Arial"/>
                        </a:rPr>
                        <a:t>timestamp</a:t>
                      </a:r>
                    </a:p>
                  </a:txBody>
                  <a:tcPr marL="64008" marR="64008" marT="9144" marB="9144" anchor="ctr">
                    <a:solidFill>
                      <a:srgbClr val="EAEBF2"/>
                    </a:solidFill>
                  </a:tcPr>
                </a:tc>
                <a:tc>
                  <a:txBody>
                    <a:bodyPr/>
                    <a:lstStyle/>
                    <a:p>
                      <a:pPr algn="l"/>
                      <a:r>
                        <a:rPr sz="950" b="0">
                          <a:solidFill>
                            <a:srgbClr val="000000"/>
                          </a:solidFill>
                          <a:latin typeface="Arial"/>
                        </a:rPr>
                        <a:t>—</a:t>
                      </a:r>
                    </a:p>
                  </a:txBody>
                  <a:tcPr marL="64008" marR="64008" marT="9144" marB="9144" anchor="ctr">
                    <a:solidFill>
                      <a:srgbClr val="EAEBF2"/>
                    </a:solidFill>
                  </a:tcPr>
                </a:tc>
                <a:tc>
                  <a:txBody>
                    <a:bodyPr/>
                    <a:lstStyle/>
                    <a:p>
                      <a:pPr algn="l"/>
                      <a:r>
                        <a:rPr sz="950" b="0">
                          <a:solidFill>
                            <a:srgbClr val="000000"/>
                          </a:solidFill>
                          <a:latin typeface="Arial"/>
                        </a:rPr>
                        <a:t>Token expiration date and time.</a:t>
                      </a:r>
                    </a:p>
                  </a:txBody>
                  <a:tcPr marL="64008" marR="64008" marT="9144" marB="9144" anchor="ctr">
                    <a:solidFill>
                      <a:srgbClr val="EAEBF2"/>
                    </a:solidFill>
                  </a:tcPr>
                </a:tc>
                <a:extLst>
                  <a:ext uri="{0D108BD9-81ED-4DB2-BD59-A6C34878D82A}">
                    <a16:rowId xmlns:a16="http://schemas.microsoft.com/office/drawing/2014/main" val="10007"/>
                  </a:ext>
                </a:extLst>
              </a:tr>
              <a:tr h="577088">
                <a:tc>
                  <a:txBody>
                    <a:bodyPr/>
                    <a:lstStyle/>
                    <a:p>
                      <a:pPr algn="l"/>
                      <a:r>
                        <a:rPr sz="950" b="0">
                          <a:solidFill>
                            <a:srgbClr val="000000"/>
                          </a:solidFill>
                          <a:latin typeface="Arial"/>
                        </a:rPr>
                        <a:t>created_at</a:t>
                      </a:r>
                    </a:p>
                  </a:txBody>
                  <a:tcPr marL="64008" marR="64008" marT="9144" marB="9144" anchor="ctr">
                    <a:solidFill>
                      <a:srgbClr val="D2D5E4"/>
                    </a:solidFill>
                  </a:tcPr>
                </a:tc>
                <a:tc>
                  <a:txBody>
                    <a:bodyPr/>
                    <a:lstStyle/>
                    <a:p>
                      <a:pPr algn="l"/>
                      <a:r>
                        <a:rPr sz="950" b="0">
                          <a:solidFill>
                            <a:srgbClr val="000000"/>
                          </a:solidFill>
                          <a:latin typeface="Arial"/>
                        </a:rPr>
                        <a:t>timestamp</a:t>
                      </a:r>
                    </a:p>
                  </a:txBody>
                  <a:tcPr marL="64008" marR="64008" marT="9144" marB="9144" anchor="ctr">
                    <a:solidFill>
                      <a:srgbClr val="D2D5E4"/>
                    </a:solidFill>
                  </a:tcPr>
                </a:tc>
                <a:tc>
                  <a:txBody>
                    <a:bodyPr/>
                    <a:lstStyle/>
                    <a:p>
                      <a:pPr algn="l"/>
                      <a:r>
                        <a:rPr sz="950" b="0">
                          <a:solidFill>
                            <a:srgbClr val="000000"/>
                          </a:solidFill>
                          <a:latin typeface="Arial"/>
                        </a:rPr>
                        <a:t>—</a:t>
                      </a:r>
                    </a:p>
                  </a:txBody>
                  <a:tcPr marL="64008" marR="64008" marT="9144" marB="9144" anchor="ctr">
                    <a:solidFill>
                      <a:srgbClr val="D2D5E4"/>
                    </a:solidFill>
                  </a:tcPr>
                </a:tc>
                <a:tc>
                  <a:txBody>
                    <a:bodyPr/>
                    <a:lstStyle/>
                    <a:p>
                      <a:pPr algn="l"/>
                      <a:r>
                        <a:rPr sz="950" b="0">
                          <a:solidFill>
                            <a:srgbClr val="000000"/>
                          </a:solidFill>
                          <a:latin typeface="Arial"/>
                        </a:rPr>
                        <a:t>Date and time the token was created.</a:t>
                      </a:r>
                    </a:p>
                  </a:txBody>
                  <a:tcPr marL="64008" marR="64008" marT="9144" marB="9144" anchor="ctr">
                    <a:solidFill>
                      <a:srgbClr val="D2D5E4"/>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3.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3063240" y="0"/>
            <a:ext cx="30175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256032"/>
            <a:ext cx="8229600" cy="6327648"/>
          </a:xfrm>
          <a:prstGeom prst="rect">
            <a:avLst/>
          </a:prstGeom>
          <a:solidFill>
            <a:srgbClr val="FFFFFF"/>
          </a:solidFill>
          <a:ln w="10160">
            <a:solidFill>
              <a:srgbClr val="696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47288" y="36576"/>
            <a:ext cx="2249424" cy="438912"/>
          </a:xfrm>
          <a:prstGeom prst="rect">
            <a:avLst/>
          </a:prstGeom>
          <a:solidFill>
            <a:srgbClr val="9C5252"/>
          </a:solidFill>
          <a:ln w="12700">
            <a:solidFill>
              <a:srgbClr val="7E9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00000"/>
                </a:solidFill>
                <a:latin typeface="Times New Roman"/>
              </a:rPr>
              <a:t>Data Dictionary</a:t>
            </a:r>
          </a:p>
        </p:txBody>
      </p:sp>
      <p:sp>
        <p:nvSpPr>
          <p:cNvPr id="6" name="Rectangle 5"/>
          <p:cNvSpPr/>
          <p:nvPr/>
        </p:nvSpPr>
        <p:spPr>
          <a:xfrm>
            <a:off x="3348990" y="832104"/>
            <a:ext cx="2043684" cy="32004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00000"/>
                </a:solidFill>
                <a:latin typeface="Arial"/>
              </a:rPr>
              <a:t>Table : restaurant_tables</a:t>
            </a:r>
          </a:p>
        </p:txBody>
      </p:sp>
      <p:sp>
        <p:nvSpPr>
          <p:cNvPr id="7" name="TextBox 6"/>
          <p:cNvSpPr txBox="1"/>
          <p:nvPr/>
        </p:nvSpPr>
        <p:spPr>
          <a:xfrm>
            <a:off x="5465826" y="832104"/>
            <a:ext cx="320040" cy="320040"/>
          </a:xfrm>
          <a:prstGeom prst="rect">
            <a:avLst/>
          </a:prstGeom>
          <a:noFill/>
        </p:spPr>
        <p:txBody>
          <a:bodyPr wrap="none" anchor="ctr">
            <a:spAutoFit/>
          </a:bodyPr>
          <a:lstStyle/>
          <a:p>
            <a:pPr algn="l"/>
            <a:r>
              <a:rPr sz="1100">
                <a:solidFill>
                  <a:srgbClr val="000000"/>
                </a:solidFill>
                <a:latin typeface="Arial"/>
              </a:rPr>
              <a:t>:-</a:t>
            </a:r>
          </a:p>
        </p:txBody>
      </p:sp>
      <p:graphicFrame>
        <p:nvGraphicFramePr>
          <p:cNvPr id="8" name="Table 7"/>
          <p:cNvGraphicFramePr>
            <a:graphicFrameLocks noGrp="1"/>
          </p:cNvGraphicFramePr>
          <p:nvPr/>
        </p:nvGraphicFramePr>
        <p:xfrm>
          <a:off x="1170432" y="1225296"/>
          <a:ext cx="6949440" cy="5193792"/>
        </p:xfrm>
        <a:graphic>
          <a:graphicData uri="http://schemas.openxmlformats.org/drawingml/2006/table">
            <a:tbl>
              <a:tblPr firstRow="1" bandRow="1">
                <a:tableStyleId>{5C22544A-7EE6-4342-B048-85BDC9FD1C3A}</a:tableStyleId>
              </a:tblPr>
              <a:tblGrid>
                <a:gridCol w="1572768">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649224">
                <a:tc>
                  <a:txBody>
                    <a:bodyPr/>
                    <a:lstStyle/>
                    <a:p>
                      <a:pPr algn="l"/>
                      <a:r>
                        <a:rPr sz="1050" b="1">
                          <a:solidFill>
                            <a:srgbClr val="FFFFFF"/>
                          </a:solidFill>
                          <a:latin typeface="Arial"/>
                        </a:rPr>
                        <a:t>Field Name</a:t>
                      </a:r>
                    </a:p>
                  </a:txBody>
                  <a:tcPr marL="64008" marR="64008" marT="9144" marB="9144" anchor="ctr">
                    <a:solidFill>
                      <a:srgbClr val="6076B4"/>
                    </a:solidFill>
                  </a:tcPr>
                </a:tc>
                <a:tc>
                  <a:txBody>
                    <a:bodyPr/>
                    <a:lstStyle/>
                    <a:p>
                      <a:pPr algn="l"/>
                      <a:r>
                        <a:rPr sz="1050" b="1">
                          <a:solidFill>
                            <a:srgbClr val="FFFFFF"/>
                          </a:solidFill>
                          <a:latin typeface="Arial"/>
                        </a:rPr>
                        <a:t>Data Type</a:t>
                      </a:r>
                    </a:p>
                  </a:txBody>
                  <a:tcPr marL="64008" marR="64008" marT="9144" marB="9144" anchor="ctr">
                    <a:solidFill>
                      <a:srgbClr val="6076B4"/>
                    </a:solidFill>
                  </a:tcPr>
                </a:tc>
                <a:tc>
                  <a:txBody>
                    <a:bodyPr/>
                    <a:lstStyle/>
                    <a:p>
                      <a:pPr algn="l"/>
                      <a:r>
                        <a:rPr sz="1050" b="1">
                          <a:solidFill>
                            <a:srgbClr val="FFFFFF"/>
                          </a:solidFill>
                          <a:latin typeface="Arial"/>
                        </a:rPr>
                        <a:t>Key</a:t>
                      </a:r>
                    </a:p>
                  </a:txBody>
                  <a:tcPr marL="64008" marR="64008" marT="9144" marB="9144" anchor="ctr">
                    <a:solidFill>
                      <a:srgbClr val="6076B4"/>
                    </a:solidFill>
                  </a:tcPr>
                </a:tc>
                <a:tc>
                  <a:txBody>
                    <a:bodyPr/>
                    <a:lstStyle/>
                    <a:p>
                      <a:pPr algn="l"/>
                      <a:r>
                        <a:rPr sz="1050" b="1">
                          <a:solidFill>
                            <a:srgbClr val="FFFFFF"/>
                          </a:solidFill>
                          <a:latin typeface="Arial"/>
                        </a:rPr>
                        <a:t>Description</a:t>
                      </a:r>
                    </a:p>
                  </a:txBody>
                  <a:tcPr marL="64008" marR="64008" marT="9144" marB="9144" anchor="ctr">
                    <a:solidFill>
                      <a:srgbClr val="6076B4"/>
                    </a:solidFill>
                  </a:tcPr>
                </a:tc>
                <a:extLst>
                  <a:ext uri="{0D108BD9-81ED-4DB2-BD59-A6C34878D82A}">
                    <a16:rowId xmlns:a16="http://schemas.microsoft.com/office/drawing/2014/main" val="10000"/>
                  </a:ext>
                </a:extLst>
              </a:tr>
              <a:tr h="649224">
                <a:tc>
                  <a:txBody>
                    <a:bodyPr/>
                    <a:lstStyle/>
                    <a:p>
                      <a:pPr algn="l"/>
                      <a:r>
                        <a:rPr sz="950" b="0">
                          <a:solidFill>
                            <a:srgbClr val="000000"/>
                          </a:solidFill>
                          <a:latin typeface="Arial"/>
                        </a:rPr>
                        <a:t>id</a:t>
                      </a:r>
                    </a:p>
                  </a:txBody>
                  <a:tcPr marL="64008" marR="64008" marT="9144" marB="9144" anchor="ctr">
                    <a:solidFill>
                      <a:srgbClr val="EAEBF2"/>
                    </a:solidFill>
                  </a:tcPr>
                </a:tc>
                <a:tc>
                  <a:txBody>
                    <a:bodyPr/>
                    <a:lstStyle/>
                    <a:p>
                      <a:pPr algn="l"/>
                      <a:r>
                        <a:rPr sz="950" b="0">
                          <a:solidFill>
                            <a:srgbClr val="000000"/>
                          </a:solidFill>
                          <a:latin typeface="Arial"/>
                        </a:rPr>
                        <a:t>bigint(20) unsigned</a:t>
                      </a:r>
                    </a:p>
                  </a:txBody>
                  <a:tcPr marL="64008" marR="64008" marT="9144" marB="9144" anchor="ctr">
                    <a:solidFill>
                      <a:srgbClr val="EAEBF2"/>
                    </a:solidFill>
                  </a:tcPr>
                </a:tc>
                <a:tc>
                  <a:txBody>
                    <a:bodyPr/>
                    <a:lstStyle/>
                    <a:p>
                      <a:pPr algn="l"/>
                      <a:r>
                        <a:rPr sz="950" b="0">
                          <a:solidFill>
                            <a:srgbClr val="000000"/>
                          </a:solidFill>
                          <a:latin typeface="Arial"/>
                        </a:rPr>
                        <a:t>PK</a:t>
                      </a:r>
                    </a:p>
                  </a:txBody>
                  <a:tcPr marL="64008" marR="64008" marT="9144" marB="9144" anchor="ctr">
                    <a:solidFill>
                      <a:srgbClr val="EAEBF2"/>
                    </a:solidFill>
                  </a:tcPr>
                </a:tc>
                <a:tc>
                  <a:txBody>
                    <a:bodyPr/>
                    <a:lstStyle/>
                    <a:p>
                      <a:pPr algn="l"/>
                      <a:r>
                        <a:rPr sz="950" b="0">
                          <a:solidFill>
                            <a:srgbClr val="000000"/>
                          </a:solidFill>
                          <a:latin typeface="Arial"/>
                        </a:rPr>
                        <a:t>Unique restaurant table ID.</a:t>
                      </a:r>
                    </a:p>
                  </a:txBody>
                  <a:tcPr marL="64008" marR="64008" marT="9144" marB="9144" anchor="ctr">
                    <a:solidFill>
                      <a:srgbClr val="EAEBF2"/>
                    </a:solidFill>
                  </a:tcPr>
                </a:tc>
                <a:extLst>
                  <a:ext uri="{0D108BD9-81ED-4DB2-BD59-A6C34878D82A}">
                    <a16:rowId xmlns:a16="http://schemas.microsoft.com/office/drawing/2014/main" val="10001"/>
                  </a:ext>
                </a:extLst>
              </a:tr>
              <a:tr h="649224">
                <a:tc>
                  <a:txBody>
                    <a:bodyPr/>
                    <a:lstStyle/>
                    <a:p>
                      <a:pPr algn="l"/>
                      <a:r>
                        <a:rPr sz="950" b="0">
                          <a:solidFill>
                            <a:srgbClr val="000000"/>
                          </a:solidFill>
                          <a:latin typeface="Arial"/>
                        </a:rPr>
                        <a:t>restaurant_id</a:t>
                      </a:r>
                    </a:p>
                  </a:txBody>
                  <a:tcPr marL="64008" marR="64008" marT="9144" marB="9144" anchor="ctr">
                    <a:solidFill>
                      <a:srgbClr val="D2D5E4"/>
                    </a:solidFill>
                  </a:tcPr>
                </a:tc>
                <a:tc>
                  <a:txBody>
                    <a:bodyPr/>
                    <a:lstStyle/>
                    <a:p>
                      <a:pPr algn="l"/>
                      <a:r>
                        <a:rPr sz="950" b="0">
                          <a:solidFill>
                            <a:srgbClr val="000000"/>
                          </a:solidFill>
                          <a:latin typeface="Arial"/>
                        </a:rPr>
                        <a:t>bigint(20) unsigned</a:t>
                      </a:r>
                    </a:p>
                  </a:txBody>
                  <a:tcPr marL="64008" marR="64008" marT="9144" marB="9144" anchor="ctr">
                    <a:solidFill>
                      <a:srgbClr val="D2D5E4"/>
                    </a:solidFill>
                  </a:tcPr>
                </a:tc>
                <a:tc>
                  <a:txBody>
                    <a:bodyPr/>
                    <a:lstStyle/>
                    <a:p>
                      <a:pPr algn="l"/>
                      <a:r>
                        <a:rPr sz="950" b="0">
                          <a:solidFill>
                            <a:srgbClr val="000000"/>
                          </a:solidFill>
                          <a:latin typeface="Arial"/>
                        </a:rPr>
                        <a:t>FK/IDX</a:t>
                      </a:r>
                    </a:p>
                  </a:txBody>
                  <a:tcPr marL="64008" marR="64008" marT="9144" marB="9144" anchor="ctr">
                    <a:solidFill>
                      <a:srgbClr val="D2D5E4"/>
                    </a:solidFill>
                  </a:tcPr>
                </a:tc>
                <a:tc>
                  <a:txBody>
                    <a:bodyPr/>
                    <a:lstStyle/>
                    <a:p>
                      <a:pPr algn="l"/>
                      <a:r>
                        <a:rPr sz="950" b="0">
                          <a:solidFill>
                            <a:srgbClr val="000000"/>
                          </a:solidFill>
                          <a:latin typeface="Arial"/>
                        </a:rPr>
                        <a:t>Restaurant owning the table.</a:t>
                      </a:r>
                    </a:p>
                  </a:txBody>
                  <a:tcPr marL="64008" marR="64008" marT="9144" marB="9144" anchor="ctr">
                    <a:solidFill>
                      <a:srgbClr val="D2D5E4"/>
                    </a:solidFill>
                  </a:tcPr>
                </a:tc>
                <a:extLst>
                  <a:ext uri="{0D108BD9-81ED-4DB2-BD59-A6C34878D82A}">
                    <a16:rowId xmlns:a16="http://schemas.microsoft.com/office/drawing/2014/main" val="10002"/>
                  </a:ext>
                </a:extLst>
              </a:tr>
              <a:tr h="649224">
                <a:tc>
                  <a:txBody>
                    <a:bodyPr/>
                    <a:lstStyle/>
                    <a:p>
                      <a:pPr algn="l"/>
                      <a:r>
                        <a:rPr sz="950" b="0">
                          <a:solidFill>
                            <a:srgbClr val="000000"/>
                          </a:solidFill>
                          <a:latin typeface="Arial"/>
                        </a:rPr>
                        <a:t>branch_id</a:t>
                      </a:r>
                    </a:p>
                  </a:txBody>
                  <a:tcPr marL="64008" marR="64008" marT="9144" marB="9144" anchor="ctr">
                    <a:solidFill>
                      <a:srgbClr val="EAEBF2"/>
                    </a:solidFill>
                  </a:tcPr>
                </a:tc>
                <a:tc>
                  <a:txBody>
                    <a:bodyPr/>
                    <a:lstStyle/>
                    <a:p>
                      <a:pPr algn="l"/>
                      <a:r>
                        <a:rPr sz="950" b="0">
                          <a:solidFill>
                            <a:srgbClr val="000000"/>
                          </a:solidFill>
                          <a:latin typeface="Arial"/>
                        </a:rPr>
                        <a:t>bigint(20) unsigned</a:t>
                      </a:r>
                    </a:p>
                  </a:txBody>
                  <a:tcPr marL="64008" marR="64008" marT="9144" marB="9144" anchor="ctr">
                    <a:solidFill>
                      <a:srgbClr val="EAEBF2"/>
                    </a:solidFill>
                  </a:tcPr>
                </a:tc>
                <a:tc>
                  <a:txBody>
                    <a:bodyPr/>
                    <a:lstStyle/>
                    <a:p>
                      <a:pPr algn="l"/>
                      <a:r>
                        <a:rPr sz="950" b="0">
                          <a:solidFill>
                            <a:srgbClr val="000000"/>
                          </a:solidFill>
                          <a:latin typeface="Arial"/>
                        </a:rPr>
                        <a:t>FK/IDX</a:t>
                      </a:r>
                    </a:p>
                  </a:txBody>
                  <a:tcPr marL="64008" marR="64008" marT="9144" marB="9144" anchor="ctr">
                    <a:solidFill>
                      <a:srgbClr val="EAEBF2"/>
                    </a:solidFill>
                  </a:tcPr>
                </a:tc>
                <a:tc>
                  <a:txBody>
                    <a:bodyPr/>
                    <a:lstStyle/>
                    <a:p>
                      <a:pPr algn="l"/>
                      <a:r>
                        <a:rPr sz="950" b="0">
                          <a:solidFill>
                            <a:srgbClr val="000000"/>
                          </a:solidFill>
                          <a:latin typeface="Arial"/>
                        </a:rPr>
                        <a:t>Branch containing the table.</a:t>
                      </a:r>
                    </a:p>
                  </a:txBody>
                  <a:tcPr marL="64008" marR="64008" marT="9144" marB="9144" anchor="ctr">
                    <a:solidFill>
                      <a:srgbClr val="EAEBF2"/>
                    </a:solidFill>
                  </a:tcPr>
                </a:tc>
                <a:extLst>
                  <a:ext uri="{0D108BD9-81ED-4DB2-BD59-A6C34878D82A}">
                    <a16:rowId xmlns:a16="http://schemas.microsoft.com/office/drawing/2014/main" val="10003"/>
                  </a:ext>
                </a:extLst>
              </a:tr>
              <a:tr h="649224">
                <a:tc>
                  <a:txBody>
                    <a:bodyPr/>
                    <a:lstStyle/>
                    <a:p>
                      <a:pPr algn="l"/>
                      <a:r>
                        <a:rPr sz="950" b="0">
                          <a:solidFill>
                            <a:srgbClr val="000000"/>
                          </a:solidFill>
                          <a:latin typeface="Arial"/>
                        </a:rPr>
                        <a:t>table_number</a:t>
                      </a:r>
                    </a:p>
                  </a:txBody>
                  <a:tcPr marL="64008" marR="64008" marT="9144" marB="9144" anchor="ctr">
                    <a:solidFill>
                      <a:srgbClr val="D2D5E4"/>
                    </a:solidFill>
                  </a:tcPr>
                </a:tc>
                <a:tc>
                  <a:txBody>
                    <a:bodyPr/>
                    <a:lstStyle/>
                    <a:p>
                      <a:pPr algn="l"/>
                      <a:r>
                        <a:rPr sz="950" b="0">
                          <a:solidFill>
                            <a:srgbClr val="000000"/>
                          </a:solidFill>
                          <a:latin typeface="Arial"/>
                        </a:rPr>
                        <a:t>varchar(50)</a:t>
                      </a:r>
                    </a:p>
                  </a:txBody>
                  <a:tcPr marL="64008" marR="64008" marT="9144" marB="9144" anchor="ctr">
                    <a:solidFill>
                      <a:srgbClr val="D2D5E4"/>
                    </a:solidFill>
                  </a:tcPr>
                </a:tc>
                <a:tc>
                  <a:txBody>
                    <a:bodyPr/>
                    <a:lstStyle/>
                    <a:p>
                      <a:pPr algn="l"/>
                      <a:r>
                        <a:rPr sz="950" b="0">
                          <a:solidFill>
                            <a:srgbClr val="000000"/>
                          </a:solidFill>
                          <a:latin typeface="Arial"/>
                        </a:rPr>
                        <a:t>UNI*</a:t>
                      </a:r>
                    </a:p>
                  </a:txBody>
                  <a:tcPr marL="64008" marR="64008" marT="9144" marB="9144" anchor="ctr">
                    <a:solidFill>
                      <a:srgbClr val="D2D5E4"/>
                    </a:solidFill>
                  </a:tcPr>
                </a:tc>
                <a:tc>
                  <a:txBody>
                    <a:bodyPr/>
                    <a:lstStyle/>
                    <a:p>
                      <a:pPr algn="l"/>
                      <a:r>
                        <a:rPr sz="950" b="0">
                          <a:solidFill>
                            <a:srgbClr val="000000"/>
                          </a:solidFill>
                          <a:latin typeface="Arial"/>
                        </a:rPr>
                        <a:t>Table number; unique within a branch.</a:t>
                      </a:r>
                    </a:p>
                  </a:txBody>
                  <a:tcPr marL="64008" marR="64008" marT="9144" marB="9144" anchor="ctr">
                    <a:solidFill>
                      <a:srgbClr val="D2D5E4"/>
                    </a:solidFill>
                  </a:tcPr>
                </a:tc>
                <a:extLst>
                  <a:ext uri="{0D108BD9-81ED-4DB2-BD59-A6C34878D82A}">
                    <a16:rowId xmlns:a16="http://schemas.microsoft.com/office/drawing/2014/main" val="10004"/>
                  </a:ext>
                </a:extLst>
              </a:tr>
              <a:tr h="649224">
                <a:tc>
                  <a:txBody>
                    <a:bodyPr/>
                    <a:lstStyle/>
                    <a:p>
                      <a:pPr algn="l"/>
                      <a:r>
                        <a:rPr sz="950" b="0">
                          <a:solidFill>
                            <a:srgbClr val="000000"/>
                          </a:solidFill>
                          <a:latin typeface="Arial"/>
                        </a:rPr>
                        <a:t>status</a:t>
                      </a:r>
                    </a:p>
                  </a:txBody>
                  <a:tcPr marL="64008" marR="64008" marT="9144" marB="9144" anchor="ctr">
                    <a:solidFill>
                      <a:srgbClr val="EAEBF2"/>
                    </a:solidFill>
                  </a:tcPr>
                </a:tc>
                <a:tc>
                  <a:txBody>
                    <a:bodyPr/>
                    <a:lstStyle/>
                    <a:p>
                      <a:pPr algn="l"/>
                      <a:r>
                        <a:rPr sz="950" b="0">
                          <a:solidFill>
                            <a:srgbClr val="000000"/>
                          </a:solidFill>
                          <a:latin typeface="Arial"/>
                        </a:rPr>
                        <a:t>enum(...)</a:t>
                      </a:r>
                    </a:p>
                  </a:txBody>
                  <a:tcPr marL="64008" marR="64008" marT="9144" marB="9144" anchor="ctr">
                    <a:solidFill>
                      <a:srgbClr val="EAEBF2"/>
                    </a:solidFill>
                  </a:tcPr>
                </a:tc>
                <a:tc>
                  <a:txBody>
                    <a:bodyPr/>
                    <a:lstStyle/>
                    <a:p>
                      <a:pPr algn="l"/>
                      <a:r>
                        <a:rPr sz="950" b="0">
                          <a:solidFill>
                            <a:srgbClr val="000000"/>
                          </a:solidFill>
                          <a:latin typeface="Arial"/>
                        </a:rPr>
                        <a:t>IDX</a:t>
                      </a:r>
                    </a:p>
                  </a:txBody>
                  <a:tcPr marL="64008" marR="64008" marT="9144" marB="9144" anchor="ctr">
                    <a:solidFill>
                      <a:srgbClr val="EAEBF2"/>
                    </a:solidFill>
                  </a:tcPr>
                </a:tc>
                <a:tc>
                  <a:txBody>
                    <a:bodyPr/>
                    <a:lstStyle/>
                    <a:p>
                      <a:pPr algn="l"/>
                      <a:r>
                        <a:rPr sz="950" b="0">
                          <a:solidFill>
                            <a:srgbClr val="000000"/>
                          </a:solidFill>
                          <a:latin typeface="Arial"/>
                        </a:rPr>
                        <a:t>Current table availability/occupancy status.</a:t>
                      </a:r>
                    </a:p>
                  </a:txBody>
                  <a:tcPr marL="64008" marR="64008" marT="9144" marB="9144" anchor="ctr">
                    <a:solidFill>
                      <a:srgbClr val="EAEBF2"/>
                    </a:solidFill>
                  </a:tcPr>
                </a:tc>
                <a:extLst>
                  <a:ext uri="{0D108BD9-81ED-4DB2-BD59-A6C34878D82A}">
                    <a16:rowId xmlns:a16="http://schemas.microsoft.com/office/drawing/2014/main" val="10005"/>
                  </a:ext>
                </a:extLst>
              </a:tr>
              <a:tr h="649224">
                <a:tc>
                  <a:txBody>
                    <a:bodyPr/>
                    <a:lstStyle/>
                    <a:p>
                      <a:pPr algn="l"/>
                      <a:r>
                        <a:rPr sz="950" b="0">
                          <a:solidFill>
                            <a:srgbClr val="000000"/>
                          </a:solidFill>
                          <a:latin typeface="Arial"/>
                        </a:rPr>
                        <a:t>created_at</a:t>
                      </a:r>
                    </a:p>
                  </a:txBody>
                  <a:tcPr marL="64008" marR="64008" marT="9144" marB="9144" anchor="ctr">
                    <a:solidFill>
                      <a:srgbClr val="D2D5E4"/>
                    </a:solidFill>
                  </a:tcPr>
                </a:tc>
                <a:tc>
                  <a:txBody>
                    <a:bodyPr/>
                    <a:lstStyle/>
                    <a:p>
                      <a:pPr algn="l"/>
                      <a:r>
                        <a:rPr sz="950" b="0">
                          <a:solidFill>
                            <a:srgbClr val="000000"/>
                          </a:solidFill>
                          <a:latin typeface="Arial"/>
                        </a:rPr>
                        <a:t>timestamp</a:t>
                      </a:r>
                    </a:p>
                  </a:txBody>
                  <a:tcPr marL="64008" marR="64008" marT="9144" marB="9144" anchor="ctr">
                    <a:solidFill>
                      <a:srgbClr val="D2D5E4"/>
                    </a:solidFill>
                  </a:tcPr>
                </a:tc>
                <a:tc>
                  <a:txBody>
                    <a:bodyPr/>
                    <a:lstStyle/>
                    <a:p>
                      <a:pPr algn="l"/>
                      <a:r>
                        <a:rPr sz="950" b="0">
                          <a:solidFill>
                            <a:srgbClr val="000000"/>
                          </a:solidFill>
                          <a:latin typeface="Arial"/>
                        </a:rPr>
                        <a:t>—</a:t>
                      </a:r>
                    </a:p>
                  </a:txBody>
                  <a:tcPr marL="64008" marR="64008" marT="9144" marB="9144" anchor="ctr">
                    <a:solidFill>
                      <a:srgbClr val="D2D5E4"/>
                    </a:solidFill>
                  </a:tcPr>
                </a:tc>
                <a:tc>
                  <a:txBody>
                    <a:bodyPr/>
                    <a:lstStyle/>
                    <a:p>
                      <a:pPr algn="l"/>
                      <a:r>
                        <a:rPr sz="950" b="0">
                          <a:solidFill>
                            <a:srgbClr val="000000"/>
                          </a:solidFill>
                          <a:latin typeface="Arial"/>
                        </a:rPr>
                        <a:t>Date and time the table was created.</a:t>
                      </a:r>
                    </a:p>
                  </a:txBody>
                  <a:tcPr marL="64008" marR="64008" marT="9144" marB="9144" anchor="ctr">
                    <a:solidFill>
                      <a:srgbClr val="D2D5E4"/>
                    </a:solidFill>
                  </a:tcPr>
                </a:tc>
                <a:extLst>
                  <a:ext uri="{0D108BD9-81ED-4DB2-BD59-A6C34878D82A}">
                    <a16:rowId xmlns:a16="http://schemas.microsoft.com/office/drawing/2014/main" val="10006"/>
                  </a:ext>
                </a:extLst>
              </a:tr>
              <a:tr h="649224">
                <a:tc>
                  <a:txBody>
                    <a:bodyPr/>
                    <a:lstStyle/>
                    <a:p>
                      <a:pPr algn="l"/>
                      <a:r>
                        <a:rPr sz="950" b="0">
                          <a:solidFill>
                            <a:srgbClr val="000000"/>
                          </a:solidFill>
                          <a:latin typeface="Arial"/>
                        </a:rPr>
                        <a:t>updated_at</a:t>
                      </a:r>
                    </a:p>
                  </a:txBody>
                  <a:tcPr marL="64008" marR="64008" marT="9144" marB="9144" anchor="ctr">
                    <a:solidFill>
                      <a:srgbClr val="EAEBF2"/>
                    </a:solidFill>
                  </a:tcPr>
                </a:tc>
                <a:tc>
                  <a:txBody>
                    <a:bodyPr/>
                    <a:lstStyle/>
                    <a:p>
                      <a:pPr algn="l"/>
                      <a:r>
                        <a:rPr sz="950" b="0">
                          <a:solidFill>
                            <a:srgbClr val="000000"/>
                          </a:solidFill>
                          <a:latin typeface="Arial"/>
                        </a:rPr>
                        <a:t>timestamp</a:t>
                      </a:r>
                    </a:p>
                  </a:txBody>
                  <a:tcPr marL="64008" marR="64008" marT="9144" marB="9144" anchor="ctr">
                    <a:solidFill>
                      <a:srgbClr val="EAEBF2"/>
                    </a:solidFill>
                  </a:tcPr>
                </a:tc>
                <a:tc>
                  <a:txBody>
                    <a:bodyPr/>
                    <a:lstStyle/>
                    <a:p>
                      <a:pPr algn="l"/>
                      <a:r>
                        <a:rPr sz="950" b="0">
                          <a:solidFill>
                            <a:srgbClr val="000000"/>
                          </a:solidFill>
                          <a:latin typeface="Arial"/>
                        </a:rPr>
                        <a:t>—</a:t>
                      </a:r>
                    </a:p>
                  </a:txBody>
                  <a:tcPr marL="64008" marR="64008" marT="9144" marB="9144" anchor="ctr">
                    <a:solidFill>
                      <a:srgbClr val="EAEBF2"/>
                    </a:solidFill>
                  </a:tcPr>
                </a:tc>
                <a:tc>
                  <a:txBody>
                    <a:bodyPr/>
                    <a:lstStyle/>
                    <a:p>
                      <a:pPr algn="l"/>
                      <a:r>
                        <a:rPr sz="950" b="0">
                          <a:solidFill>
                            <a:srgbClr val="000000"/>
                          </a:solidFill>
                          <a:latin typeface="Arial"/>
                        </a:rPr>
                        <a:t>Date and time the table was last updated.</a:t>
                      </a:r>
                    </a:p>
                  </a:txBody>
                  <a:tcPr marL="64008" marR="64008" marT="9144" marB="9144" anchor="ctr">
                    <a:solidFill>
                      <a:srgbClr val="EAEBF2"/>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3.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3063240" y="0"/>
            <a:ext cx="30175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256032"/>
            <a:ext cx="8229600" cy="6327648"/>
          </a:xfrm>
          <a:prstGeom prst="rect">
            <a:avLst/>
          </a:prstGeom>
          <a:solidFill>
            <a:srgbClr val="FFFFFF"/>
          </a:solidFill>
          <a:ln w="10160">
            <a:solidFill>
              <a:srgbClr val="696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47288" y="36576"/>
            <a:ext cx="2249424" cy="438912"/>
          </a:xfrm>
          <a:prstGeom prst="rect">
            <a:avLst/>
          </a:prstGeom>
          <a:solidFill>
            <a:srgbClr val="9C5252"/>
          </a:solidFill>
          <a:ln w="12700">
            <a:solidFill>
              <a:srgbClr val="7E9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00000"/>
                </a:solidFill>
                <a:latin typeface="Times New Roman"/>
              </a:rPr>
              <a:t>Data Dictionary</a:t>
            </a:r>
          </a:p>
        </p:txBody>
      </p:sp>
      <p:sp>
        <p:nvSpPr>
          <p:cNvPr id="6" name="Rectangle 5"/>
          <p:cNvSpPr/>
          <p:nvPr/>
        </p:nvSpPr>
        <p:spPr>
          <a:xfrm>
            <a:off x="3502152" y="832104"/>
            <a:ext cx="1737360" cy="32004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00000"/>
                </a:solidFill>
                <a:latin typeface="Arial"/>
              </a:rPr>
              <a:t>Table : restaurants</a:t>
            </a:r>
          </a:p>
        </p:txBody>
      </p:sp>
      <p:sp>
        <p:nvSpPr>
          <p:cNvPr id="7" name="TextBox 6"/>
          <p:cNvSpPr txBox="1"/>
          <p:nvPr/>
        </p:nvSpPr>
        <p:spPr>
          <a:xfrm>
            <a:off x="5312664" y="832104"/>
            <a:ext cx="320040" cy="320040"/>
          </a:xfrm>
          <a:prstGeom prst="rect">
            <a:avLst/>
          </a:prstGeom>
          <a:noFill/>
        </p:spPr>
        <p:txBody>
          <a:bodyPr wrap="none" anchor="ctr">
            <a:spAutoFit/>
          </a:bodyPr>
          <a:lstStyle/>
          <a:p>
            <a:pPr algn="l"/>
            <a:r>
              <a:rPr sz="1100">
                <a:solidFill>
                  <a:srgbClr val="000000"/>
                </a:solidFill>
                <a:latin typeface="Arial"/>
              </a:rPr>
              <a:t>:-</a:t>
            </a:r>
          </a:p>
        </p:txBody>
      </p:sp>
      <p:graphicFrame>
        <p:nvGraphicFramePr>
          <p:cNvPr id="8" name="Table 7"/>
          <p:cNvGraphicFramePr>
            <a:graphicFrameLocks noGrp="1"/>
          </p:cNvGraphicFramePr>
          <p:nvPr/>
        </p:nvGraphicFramePr>
        <p:xfrm>
          <a:off x="1170432" y="1225296"/>
          <a:ext cx="6949440" cy="5193792"/>
        </p:xfrm>
        <a:graphic>
          <a:graphicData uri="http://schemas.openxmlformats.org/drawingml/2006/table">
            <a:tbl>
              <a:tblPr firstRow="1" bandRow="1">
                <a:tableStyleId>{5C22544A-7EE6-4342-B048-85BDC9FD1C3A}</a:tableStyleId>
              </a:tblPr>
              <a:tblGrid>
                <a:gridCol w="1572768">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324612">
                <a:tc>
                  <a:txBody>
                    <a:bodyPr/>
                    <a:lstStyle/>
                    <a:p>
                      <a:pPr algn="l"/>
                      <a:r>
                        <a:rPr sz="950" b="1">
                          <a:solidFill>
                            <a:srgbClr val="FFFFFF"/>
                          </a:solidFill>
                          <a:latin typeface="Arial"/>
                        </a:rPr>
                        <a:t>Field Name</a:t>
                      </a:r>
                    </a:p>
                  </a:txBody>
                  <a:tcPr marL="64008" marR="64008" marT="9144" marB="9144" anchor="ctr">
                    <a:solidFill>
                      <a:srgbClr val="6076B4"/>
                    </a:solidFill>
                  </a:tcPr>
                </a:tc>
                <a:tc>
                  <a:txBody>
                    <a:bodyPr/>
                    <a:lstStyle/>
                    <a:p>
                      <a:pPr algn="l"/>
                      <a:r>
                        <a:rPr sz="950" b="1">
                          <a:solidFill>
                            <a:srgbClr val="FFFFFF"/>
                          </a:solidFill>
                          <a:latin typeface="Arial"/>
                        </a:rPr>
                        <a:t>Data Type</a:t>
                      </a:r>
                    </a:p>
                  </a:txBody>
                  <a:tcPr marL="64008" marR="64008" marT="9144" marB="9144" anchor="ctr">
                    <a:solidFill>
                      <a:srgbClr val="6076B4"/>
                    </a:solidFill>
                  </a:tcPr>
                </a:tc>
                <a:tc>
                  <a:txBody>
                    <a:bodyPr/>
                    <a:lstStyle/>
                    <a:p>
                      <a:pPr algn="l"/>
                      <a:r>
                        <a:rPr sz="950" b="1">
                          <a:solidFill>
                            <a:srgbClr val="FFFFFF"/>
                          </a:solidFill>
                          <a:latin typeface="Arial"/>
                        </a:rPr>
                        <a:t>Key</a:t>
                      </a:r>
                    </a:p>
                  </a:txBody>
                  <a:tcPr marL="64008" marR="64008" marT="9144" marB="9144" anchor="ctr">
                    <a:solidFill>
                      <a:srgbClr val="6076B4"/>
                    </a:solidFill>
                  </a:tcPr>
                </a:tc>
                <a:tc>
                  <a:txBody>
                    <a:bodyPr/>
                    <a:lstStyle/>
                    <a:p>
                      <a:pPr algn="l"/>
                      <a:r>
                        <a:rPr sz="950" b="1">
                          <a:solidFill>
                            <a:srgbClr val="FFFFFF"/>
                          </a:solidFill>
                          <a:latin typeface="Arial"/>
                        </a:rPr>
                        <a:t>Description</a:t>
                      </a:r>
                    </a:p>
                  </a:txBody>
                  <a:tcPr marL="64008" marR="64008" marT="9144" marB="9144" anchor="ctr">
                    <a:solidFill>
                      <a:srgbClr val="6076B4"/>
                    </a:solidFill>
                  </a:tcPr>
                </a:tc>
                <a:extLst>
                  <a:ext uri="{0D108BD9-81ED-4DB2-BD59-A6C34878D82A}">
                    <a16:rowId xmlns:a16="http://schemas.microsoft.com/office/drawing/2014/main" val="10000"/>
                  </a:ext>
                </a:extLst>
              </a:tr>
              <a:tr h="324612">
                <a:tc>
                  <a:txBody>
                    <a:bodyPr/>
                    <a:lstStyle/>
                    <a:p>
                      <a:pPr algn="l"/>
                      <a:r>
                        <a:rPr sz="800" b="0">
                          <a:solidFill>
                            <a:srgbClr val="000000"/>
                          </a:solidFill>
                          <a:latin typeface="Arial"/>
                        </a:rPr>
                        <a:t>id</a:t>
                      </a:r>
                    </a:p>
                  </a:txBody>
                  <a:tcPr marL="64008" marR="64008" marT="9144" marB="9144" anchor="ctr">
                    <a:solidFill>
                      <a:srgbClr val="EAEBF2"/>
                    </a:solidFill>
                  </a:tcPr>
                </a:tc>
                <a:tc>
                  <a:txBody>
                    <a:bodyPr/>
                    <a:lstStyle/>
                    <a:p>
                      <a:pPr algn="l"/>
                      <a:r>
                        <a:rPr sz="800" b="0">
                          <a:solidFill>
                            <a:srgbClr val="000000"/>
                          </a:solidFill>
                          <a:latin typeface="Arial"/>
                        </a:rPr>
                        <a:t>bigint(20) unsigned</a:t>
                      </a:r>
                    </a:p>
                  </a:txBody>
                  <a:tcPr marL="64008" marR="64008" marT="9144" marB="9144" anchor="ctr">
                    <a:solidFill>
                      <a:srgbClr val="EAEBF2"/>
                    </a:solidFill>
                  </a:tcPr>
                </a:tc>
                <a:tc>
                  <a:txBody>
                    <a:bodyPr/>
                    <a:lstStyle/>
                    <a:p>
                      <a:pPr algn="l"/>
                      <a:r>
                        <a:rPr sz="800" b="0">
                          <a:solidFill>
                            <a:srgbClr val="000000"/>
                          </a:solidFill>
                          <a:latin typeface="Arial"/>
                        </a:rPr>
                        <a:t>PK</a:t>
                      </a:r>
                    </a:p>
                  </a:txBody>
                  <a:tcPr marL="64008" marR="64008" marT="9144" marB="9144" anchor="ctr">
                    <a:solidFill>
                      <a:srgbClr val="EAEBF2"/>
                    </a:solidFill>
                  </a:tcPr>
                </a:tc>
                <a:tc>
                  <a:txBody>
                    <a:bodyPr/>
                    <a:lstStyle/>
                    <a:p>
                      <a:pPr algn="l"/>
                      <a:r>
                        <a:rPr sz="800" b="0">
                          <a:solidFill>
                            <a:srgbClr val="000000"/>
                          </a:solidFill>
                          <a:latin typeface="Arial"/>
                        </a:rPr>
                        <a:t>Unique restaurant ID.</a:t>
                      </a:r>
                    </a:p>
                  </a:txBody>
                  <a:tcPr marL="64008" marR="64008" marT="9144" marB="9144" anchor="ctr">
                    <a:solidFill>
                      <a:srgbClr val="EAEBF2"/>
                    </a:solidFill>
                  </a:tcPr>
                </a:tc>
                <a:extLst>
                  <a:ext uri="{0D108BD9-81ED-4DB2-BD59-A6C34878D82A}">
                    <a16:rowId xmlns:a16="http://schemas.microsoft.com/office/drawing/2014/main" val="10001"/>
                  </a:ext>
                </a:extLst>
              </a:tr>
              <a:tr h="324612">
                <a:tc>
                  <a:txBody>
                    <a:bodyPr/>
                    <a:lstStyle/>
                    <a:p>
                      <a:pPr algn="l"/>
                      <a:r>
                        <a:rPr sz="800" b="0">
                          <a:solidFill>
                            <a:srgbClr val="000000"/>
                          </a:solidFill>
                          <a:latin typeface="Arial"/>
                        </a:rPr>
                        <a:t>owner_user_id</a:t>
                      </a:r>
                    </a:p>
                  </a:txBody>
                  <a:tcPr marL="64008" marR="64008" marT="9144" marB="9144" anchor="ctr">
                    <a:solidFill>
                      <a:srgbClr val="D2D5E4"/>
                    </a:solidFill>
                  </a:tcPr>
                </a:tc>
                <a:tc>
                  <a:txBody>
                    <a:bodyPr/>
                    <a:lstStyle/>
                    <a:p>
                      <a:pPr algn="l"/>
                      <a:r>
                        <a:rPr sz="800" b="0">
                          <a:solidFill>
                            <a:srgbClr val="000000"/>
                          </a:solidFill>
                          <a:latin typeface="Arial"/>
                        </a:rPr>
                        <a:t>bigint(20) unsigned</a:t>
                      </a:r>
                    </a:p>
                  </a:txBody>
                  <a:tcPr marL="64008" marR="64008" marT="9144" marB="9144" anchor="ctr">
                    <a:solidFill>
                      <a:srgbClr val="D2D5E4"/>
                    </a:solidFill>
                  </a:tcPr>
                </a:tc>
                <a:tc>
                  <a:txBody>
                    <a:bodyPr/>
                    <a:lstStyle/>
                    <a:p>
                      <a:pPr algn="l"/>
                      <a:r>
                        <a:rPr sz="800" b="0">
                          <a:solidFill>
                            <a:srgbClr val="000000"/>
                          </a:solidFill>
                          <a:latin typeface="Arial"/>
                        </a:rPr>
                        <a:t>FK/IDX</a:t>
                      </a:r>
                    </a:p>
                  </a:txBody>
                  <a:tcPr marL="64008" marR="64008" marT="9144" marB="9144" anchor="ctr">
                    <a:solidFill>
                      <a:srgbClr val="D2D5E4"/>
                    </a:solidFill>
                  </a:tcPr>
                </a:tc>
                <a:tc>
                  <a:txBody>
                    <a:bodyPr/>
                    <a:lstStyle/>
                    <a:p>
                      <a:pPr algn="l"/>
                      <a:r>
                        <a:rPr sz="800" b="0">
                          <a:solidFill>
                            <a:srgbClr val="000000"/>
                          </a:solidFill>
                          <a:latin typeface="Arial"/>
                        </a:rPr>
                        <a:t>Assigned restaurant owner user.</a:t>
                      </a:r>
                    </a:p>
                  </a:txBody>
                  <a:tcPr marL="64008" marR="64008" marT="9144" marB="9144" anchor="ctr">
                    <a:solidFill>
                      <a:srgbClr val="D2D5E4"/>
                    </a:solidFill>
                  </a:tcPr>
                </a:tc>
                <a:extLst>
                  <a:ext uri="{0D108BD9-81ED-4DB2-BD59-A6C34878D82A}">
                    <a16:rowId xmlns:a16="http://schemas.microsoft.com/office/drawing/2014/main" val="10002"/>
                  </a:ext>
                </a:extLst>
              </a:tr>
              <a:tr h="324612">
                <a:tc>
                  <a:txBody>
                    <a:bodyPr/>
                    <a:lstStyle/>
                    <a:p>
                      <a:pPr algn="l"/>
                      <a:r>
                        <a:rPr sz="800" b="0">
                          <a:solidFill>
                            <a:srgbClr val="000000"/>
                          </a:solidFill>
                          <a:latin typeface="Arial"/>
                        </a:rPr>
                        <a:t>name</a:t>
                      </a:r>
                    </a:p>
                  </a:txBody>
                  <a:tcPr marL="64008" marR="64008" marT="9144" marB="9144" anchor="ctr">
                    <a:solidFill>
                      <a:srgbClr val="EAEBF2"/>
                    </a:solidFill>
                  </a:tcPr>
                </a:tc>
                <a:tc>
                  <a:txBody>
                    <a:bodyPr/>
                    <a:lstStyle/>
                    <a:p>
                      <a:pPr algn="l"/>
                      <a:r>
                        <a:rPr sz="800" b="0">
                          <a:solidFill>
                            <a:srgbClr val="000000"/>
                          </a:solidFill>
                          <a:latin typeface="Arial"/>
                        </a:rPr>
                        <a:t>varchar(150)</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Restaurant name.</a:t>
                      </a:r>
                    </a:p>
                  </a:txBody>
                  <a:tcPr marL="64008" marR="64008" marT="9144" marB="9144" anchor="ctr">
                    <a:solidFill>
                      <a:srgbClr val="EAEBF2"/>
                    </a:solidFill>
                  </a:tcPr>
                </a:tc>
                <a:extLst>
                  <a:ext uri="{0D108BD9-81ED-4DB2-BD59-A6C34878D82A}">
                    <a16:rowId xmlns:a16="http://schemas.microsoft.com/office/drawing/2014/main" val="10003"/>
                  </a:ext>
                </a:extLst>
              </a:tr>
              <a:tr h="324612">
                <a:tc>
                  <a:txBody>
                    <a:bodyPr/>
                    <a:lstStyle/>
                    <a:p>
                      <a:pPr algn="l"/>
                      <a:r>
                        <a:rPr sz="800" b="0">
                          <a:solidFill>
                            <a:srgbClr val="000000"/>
                          </a:solidFill>
                          <a:latin typeface="Arial"/>
                        </a:rPr>
                        <a:t>slug</a:t>
                      </a:r>
                    </a:p>
                  </a:txBody>
                  <a:tcPr marL="64008" marR="64008" marT="9144" marB="9144" anchor="ctr">
                    <a:solidFill>
                      <a:srgbClr val="D2D5E4"/>
                    </a:solidFill>
                  </a:tcPr>
                </a:tc>
                <a:tc>
                  <a:txBody>
                    <a:bodyPr/>
                    <a:lstStyle/>
                    <a:p>
                      <a:pPr algn="l"/>
                      <a:r>
                        <a:rPr sz="800" b="0">
                          <a:solidFill>
                            <a:srgbClr val="000000"/>
                          </a:solidFill>
                          <a:latin typeface="Arial"/>
                        </a:rPr>
                        <a:t>varchar(150)</a:t>
                      </a:r>
                    </a:p>
                  </a:txBody>
                  <a:tcPr marL="64008" marR="64008" marT="9144" marB="9144" anchor="ctr">
                    <a:solidFill>
                      <a:srgbClr val="D2D5E4"/>
                    </a:solidFill>
                  </a:tcPr>
                </a:tc>
                <a:tc>
                  <a:txBody>
                    <a:bodyPr/>
                    <a:lstStyle/>
                    <a:p>
                      <a:pPr algn="l"/>
                      <a:r>
                        <a:rPr sz="800" b="0">
                          <a:solidFill>
                            <a:srgbClr val="000000"/>
                          </a:solidFill>
                          <a:latin typeface="Arial"/>
                        </a:rPr>
                        <a:t>UNI</a:t>
                      </a:r>
                    </a:p>
                  </a:txBody>
                  <a:tcPr marL="64008" marR="64008" marT="9144" marB="9144" anchor="ctr">
                    <a:solidFill>
                      <a:srgbClr val="D2D5E4"/>
                    </a:solidFill>
                  </a:tcPr>
                </a:tc>
                <a:tc>
                  <a:txBody>
                    <a:bodyPr/>
                    <a:lstStyle/>
                    <a:p>
                      <a:pPr algn="l"/>
                      <a:r>
                        <a:rPr sz="800" b="0">
                          <a:solidFill>
                            <a:srgbClr val="000000"/>
                          </a:solidFill>
                          <a:latin typeface="Arial"/>
                        </a:rPr>
                        <a:t>Unique URL-friendly restaurant identifier.</a:t>
                      </a:r>
                    </a:p>
                  </a:txBody>
                  <a:tcPr marL="64008" marR="64008" marT="9144" marB="9144" anchor="ctr">
                    <a:solidFill>
                      <a:srgbClr val="D2D5E4"/>
                    </a:solidFill>
                  </a:tcPr>
                </a:tc>
                <a:extLst>
                  <a:ext uri="{0D108BD9-81ED-4DB2-BD59-A6C34878D82A}">
                    <a16:rowId xmlns:a16="http://schemas.microsoft.com/office/drawing/2014/main" val="10004"/>
                  </a:ext>
                </a:extLst>
              </a:tr>
              <a:tr h="324612">
                <a:tc>
                  <a:txBody>
                    <a:bodyPr/>
                    <a:lstStyle/>
                    <a:p>
                      <a:pPr algn="l"/>
                      <a:r>
                        <a:rPr sz="800" b="0">
                          <a:solidFill>
                            <a:srgbClr val="000000"/>
                          </a:solidFill>
                          <a:latin typeface="Arial"/>
                        </a:rPr>
                        <a:t>logo</a:t>
                      </a:r>
                    </a:p>
                  </a:txBody>
                  <a:tcPr marL="64008" marR="64008" marT="9144" marB="9144" anchor="ctr">
                    <a:solidFill>
                      <a:srgbClr val="EAEBF2"/>
                    </a:solidFill>
                  </a:tcPr>
                </a:tc>
                <a:tc>
                  <a:txBody>
                    <a:bodyPr/>
                    <a:lstStyle/>
                    <a:p>
                      <a:pPr algn="l"/>
                      <a:r>
                        <a:rPr sz="800" b="0">
                          <a:solidFill>
                            <a:srgbClr val="000000"/>
                          </a:solidFill>
                          <a:latin typeface="Arial"/>
                        </a:rPr>
                        <a:t>varchar(255)</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Restaurant logo path.</a:t>
                      </a:r>
                    </a:p>
                  </a:txBody>
                  <a:tcPr marL="64008" marR="64008" marT="9144" marB="9144" anchor="ctr">
                    <a:solidFill>
                      <a:srgbClr val="EAEBF2"/>
                    </a:solidFill>
                  </a:tcPr>
                </a:tc>
                <a:extLst>
                  <a:ext uri="{0D108BD9-81ED-4DB2-BD59-A6C34878D82A}">
                    <a16:rowId xmlns:a16="http://schemas.microsoft.com/office/drawing/2014/main" val="10005"/>
                  </a:ext>
                </a:extLst>
              </a:tr>
              <a:tr h="324612">
                <a:tc>
                  <a:txBody>
                    <a:bodyPr/>
                    <a:lstStyle/>
                    <a:p>
                      <a:pPr algn="l"/>
                      <a:r>
                        <a:rPr sz="800" b="0">
                          <a:solidFill>
                            <a:srgbClr val="000000"/>
                          </a:solidFill>
                          <a:latin typeface="Arial"/>
                        </a:rPr>
                        <a:t>cover_image</a:t>
                      </a:r>
                    </a:p>
                  </a:txBody>
                  <a:tcPr marL="64008" marR="64008" marT="9144" marB="9144" anchor="ctr">
                    <a:solidFill>
                      <a:srgbClr val="D2D5E4"/>
                    </a:solidFill>
                  </a:tcPr>
                </a:tc>
                <a:tc>
                  <a:txBody>
                    <a:bodyPr/>
                    <a:lstStyle/>
                    <a:p>
                      <a:pPr algn="l"/>
                      <a:r>
                        <a:rPr sz="800" b="0">
                          <a:solidFill>
                            <a:srgbClr val="000000"/>
                          </a:solidFill>
                          <a:latin typeface="Arial"/>
                        </a:rPr>
                        <a:t>varchar(255)</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Restaurant cover image path.</a:t>
                      </a:r>
                    </a:p>
                  </a:txBody>
                  <a:tcPr marL="64008" marR="64008" marT="9144" marB="9144" anchor="ctr">
                    <a:solidFill>
                      <a:srgbClr val="D2D5E4"/>
                    </a:solidFill>
                  </a:tcPr>
                </a:tc>
                <a:extLst>
                  <a:ext uri="{0D108BD9-81ED-4DB2-BD59-A6C34878D82A}">
                    <a16:rowId xmlns:a16="http://schemas.microsoft.com/office/drawing/2014/main" val="10006"/>
                  </a:ext>
                </a:extLst>
              </a:tr>
              <a:tr h="324612">
                <a:tc>
                  <a:txBody>
                    <a:bodyPr/>
                    <a:lstStyle/>
                    <a:p>
                      <a:pPr algn="l"/>
                      <a:r>
                        <a:rPr sz="800" b="0">
                          <a:solidFill>
                            <a:srgbClr val="000000"/>
                          </a:solidFill>
                          <a:latin typeface="Arial"/>
                        </a:rPr>
                        <a:t>description</a:t>
                      </a:r>
                    </a:p>
                  </a:txBody>
                  <a:tcPr marL="64008" marR="64008" marT="9144" marB="9144" anchor="ctr">
                    <a:solidFill>
                      <a:srgbClr val="EAEBF2"/>
                    </a:solidFill>
                  </a:tcPr>
                </a:tc>
                <a:tc>
                  <a:txBody>
                    <a:bodyPr/>
                    <a:lstStyle/>
                    <a:p>
                      <a:pPr algn="l"/>
                      <a:r>
                        <a:rPr sz="800" b="0">
                          <a:solidFill>
                            <a:srgbClr val="000000"/>
                          </a:solidFill>
                          <a:latin typeface="Arial"/>
                        </a:rPr>
                        <a:t>text</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Restaurant description.</a:t>
                      </a:r>
                    </a:p>
                  </a:txBody>
                  <a:tcPr marL="64008" marR="64008" marT="9144" marB="9144" anchor="ctr">
                    <a:solidFill>
                      <a:srgbClr val="EAEBF2"/>
                    </a:solidFill>
                  </a:tcPr>
                </a:tc>
                <a:extLst>
                  <a:ext uri="{0D108BD9-81ED-4DB2-BD59-A6C34878D82A}">
                    <a16:rowId xmlns:a16="http://schemas.microsoft.com/office/drawing/2014/main" val="10007"/>
                  </a:ext>
                </a:extLst>
              </a:tr>
              <a:tr h="324612">
                <a:tc>
                  <a:txBody>
                    <a:bodyPr/>
                    <a:lstStyle/>
                    <a:p>
                      <a:pPr algn="l"/>
                      <a:r>
                        <a:rPr sz="800" b="0">
                          <a:solidFill>
                            <a:srgbClr val="000000"/>
                          </a:solidFill>
                          <a:latin typeface="Arial"/>
                        </a:rPr>
                        <a:t>phone</a:t>
                      </a:r>
                    </a:p>
                  </a:txBody>
                  <a:tcPr marL="64008" marR="64008" marT="9144" marB="9144" anchor="ctr">
                    <a:solidFill>
                      <a:srgbClr val="D2D5E4"/>
                    </a:solidFill>
                  </a:tcPr>
                </a:tc>
                <a:tc>
                  <a:txBody>
                    <a:bodyPr/>
                    <a:lstStyle/>
                    <a:p>
                      <a:pPr algn="l"/>
                      <a:r>
                        <a:rPr sz="800" b="0">
                          <a:solidFill>
                            <a:srgbClr val="000000"/>
                          </a:solidFill>
                          <a:latin typeface="Arial"/>
                        </a:rPr>
                        <a:t>varchar(30)</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Restaurant phone number.</a:t>
                      </a:r>
                    </a:p>
                  </a:txBody>
                  <a:tcPr marL="64008" marR="64008" marT="9144" marB="9144" anchor="ctr">
                    <a:solidFill>
                      <a:srgbClr val="D2D5E4"/>
                    </a:solidFill>
                  </a:tcPr>
                </a:tc>
                <a:extLst>
                  <a:ext uri="{0D108BD9-81ED-4DB2-BD59-A6C34878D82A}">
                    <a16:rowId xmlns:a16="http://schemas.microsoft.com/office/drawing/2014/main" val="10008"/>
                  </a:ext>
                </a:extLst>
              </a:tr>
              <a:tr h="324612">
                <a:tc>
                  <a:txBody>
                    <a:bodyPr/>
                    <a:lstStyle/>
                    <a:p>
                      <a:pPr algn="l"/>
                      <a:r>
                        <a:rPr sz="800" b="0">
                          <a:solidFill>
                            <a:srgbClr val="000000"/>
                          </a:solidFill>
                          <a:latin typeface="Arial"/>
                        </a:rPr>
                        <a:t>email</a:t>
                      </a:r>
                    </a:p>
                  </a:txBody>
                  <a:tcPr marL="64008" marR="64008" marT="9144" marB="9144" anchor="ctr">
                    <a:solidFill>
                      <a:srgbClr val="EAEBF2"/>
                    </a:solidFill>
                  </a:tcPr>
                </a:tc>
                <a:tc>
                  <a:txBody>
                    <a:bodyPr/>
                    <a:lstStyle/>
                    <a:p>
                      <a:pPr algn="l"/>
                      <a:r>
                        <a:rPr sz="800" b="0">
                          <a:solidFill>
                            <a:srgbClr val="000000"/>
                          </a:solidFill>
                          <a:latin typeface="Arial"/>
                        </a:rPr>
                        <a:t>varchar(191)</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Restaurant email address.</a:t>
                      </a:r>
                    </a:p>
                  </a:txBody>
                  <a:tcPr marL="64008" marR="64008" marT="9144" marB="9144" anchor="ctr">
                    <a:solidFill>
                      <a:srgbClr val="EAEBF2"/>
                    </a:solidFill>
                  </a:tcPr>
                </a:tc>
                <a:extLst>
                  <a:ext uri="{0D108BD9-81ED-4DB2-BD59-A6C34878D82A}">
                    <a16:rowId xmlns:a16="http://schemas.microsoft.com/office/drawing/2014/main" val="10009"/>
                  </a:ext>
                </a:extLst>
              </a:tr>
              <a:tr h="324612">
                <a:tc>
                  <a:txBody>
                    <a:bodyPr/>
                    <a:lstStyle/>
                    <a:p>
                      <a:pPr algn="l"/>
                      <a:r>
                        <a:rPr sz="800" b="0">
                          <a:solidFill>
                            <a:srgbClr val="000000"/>
                          </a:solidFill>
                          <a:latin typeface="Arial"/>
                        </a:rPr>
                        <a:t>address</a:t>
                      </a:r>
                    </a:p>
                  </a:txBody>
                  <a:tcPr marL="64008" marR="64008" marT="9144" marB="9144" anchor="ctr">
                    <a:solidFill>
                      <a:srgbClr val="D2D5E4"/>
                    </a:solidFill>
                  </a:tcPr>
                </a:tc>
                <a:tc>
                  <a:txBody>
                    <a:bodyPr/>
                    <a:lstStyle/>
                    <a:p>
                      <a:pPr algn="l"/>
                      <a:r>
                        <a:rPr sz="800" b="0">
                          <a:solidFill>
                            <a:srgbClr val="000000"/>
                          </a:solidFill>
                          <a:latin typeface="Arial"/>
                        </a:rPr>
                        <a:t>text</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Restaurant address.</a:t>
                      </a:r>
                    </a:p>
                  </a:txBody>
                  <a:tcPr marL="64008" marR="64008" marT="9144" marB="9144" anchor="ctr">
                    <a:solidFill>
                      <a:srgbClr val="D2D5E4"/>
                    </a:solidFill>
                  </a:tcPr>
                </a:tc>
                <a:extLst>
                  <a:ext uri="{0D108BD9-81ED-4DB2-BD59-A6C34878D82A}">
                    <a16:rowId xmlns:a16="http://schemas.microsoft.com/office/drawing/2014/main" val="10010"/>
                  </a:ext>
                </a:extLst>
              </a:tr>
              <a:tr h="324612">
                <a:tc>
                  <a:txBody>
                    <a:bodyPr/>
                    <a:lstStyle/>
                    <a:p>
                      <a:pPr algn="l"/>
                      <a:r>
                        <a:rPr sz="800" b="0">
                          <a:solidFill>
                            <a:srgbClr val="000000"/>
                          </a:solidFill>
                          <a:latin typeface="Arial"/>
                        </a:rPr>
                        <a:t>city</a:t>
                      </a:r>
                    </a:p>
                  </a:txBody>
                  <a:tcPr marL="64008" marR="64008" marT="9144" marB="9144" anchor="ctr">
                    <a:solidFill>
                      <a:srgbClr val="EAEBF2"/>
                    </a:solidFill>
                  </a:tcPr>
                </a:tc>
                <a:tc>
                  <a:txBody>
                    <a:bodyPr/>
                    <a:lstStyle/>
                    <a:p>
                      <a:pPr algn="l"/>
                      <a:r>
                        <a:rPr sz="800" b="0">
                          <a:solidFill>
                            <a:srgbClr val="000000"/>
                          </a:solidFill>
                          <a:latin typeface="Arial"/>
                        </a:rPr>
                        <a:t>varchar(100)</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Restaurant city.</a:t>
                      </a:r>
                    </a:p>
                  </a:txBody>
                  <a:tcPr marL="64008" marR="64008" marT="9144" marB="9144" anchor="ctr">
                    <a:solidFill>
                      <a:srgbClr val="EAEBF2"/>
                    </a:solidFill>
                  </a:tcPr>
                </a:tc>
                <a:extLst>
                  <a:ext uri="{0D108BD9-81ED-4DB2-BD59-A6C34878D82A}">
                    <a16:rowId xmlns:a16="http://schemas.microsoft.com/office/drawing/2014/main" val="10011"/>
                  </a:ext>
                </a:extLst>
              </a:tr>
              <a:tr h="324612">
                <a:tc>
                  <a:txBody>
                    <a:bodyPr/>
                    <a:lstStyle/>
                    <a:p>
                      <a:pPr algn="l"/>
                      <a:r>
                        <a:rPr sz="800" b="0">
                          <a:solidFill>
                            <a:srgbClr val="000000"/>
                          </a:solidFill>
                          <a:latin typeface="Arial"/>
                        </a:rPr>
                        <a:t>state</a:t>
                      </a:r>
                    </a:p>
                  </a:txBody>
                  <a:tcPr marL="64008" marR="64008" marT="9144" marB="9144" anchor="ctr">
                    <a:solidFill>
                      <a:srgbClr val="D2D5E4"/>
                    </a:solidFill>
                  </a:tcPr>
                </a:tc>
                <a:tc>
                  <a:txBody>
                    <a:bodyPr/>
                    <a:lstStyle/>
                    <a:p>
                      <a:pPr algn="l"/>
                      <a:r>
                        <a:rPr sz="800" b="0">
                          <a:solidFill>
                            <a:srgbClr val="000000"/>
                          </a:solidFill>
                          <a:latin typeface="Arial"/>
                        </a:rPr>
                        <a:t>varchar(100)</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Restaurant state.</a:t>
                      </a:r>
                    </a:p>
                  </a:txBody>
                  <a:tcPr marL="64008" marR="64008" marT="9144" marB="9144" anchor="ctr">
                    <a:solidFill>
                      <a:srgbClr val="D2D5E4"/>
                    </a:solidFill>
                  </a:tcPr>
                </a:tc>
                <a:extLst>
                  <a:ext uri="{0D108BD9-81ED-4DB2-BD59-A6C34878D82A}">
                    <a16:rowId xmlns:a16="http://schemas.microsoft.com/office/drawing/2014/main" val="10012"/>
                  </a:ext>
                </a:extLst>
              </a:tr>
              <a:tr h="324612">
                <a:tc>
                  <a:txBody>
                    <a:bodyPr/>
                    <a:lstStyle/>
                    <a:p>
                      <a:pPr algn="l"/>
                      <a:r>
                        <a:rPr sz="800" b="0">
                          <a:solidFill>
                            <a:srgbClr val="000000"/>
                          </a:solidFill>
                          <a:latin typeface="Arial"/>
                        </a:rPr>
                        <a:t>status</a:t>
                      </a:r>
                    </a:p>
                  </a:txBody>
                  <a:tcPr marL="64008" marR="64008" marT="9144" marB="9144" anchor="ctr">
                    <a:solidFill>
                      <a:srgbClr val="EAEBF2"/>
                    </a:solidFill>
                  </a:tcPr>
                </a:tc>
                <a:tc>
                  <a:txBody>
                    <a:bodyPr/>
                    <a:lstStyle/>
                    <a:p>
                      <a:pPr algn="l"/>
                      <a:r>
                        <a:rPr sz="800" b="0">
                          <a:solidFill>
                            <a:srgbClr val="000000"/>
                          </a:solidFill>
                          <a:latin typeface="Arial"/>
                        </a:rPr>
                        <a:t>enum('pending','approved','suspended')</a:t>
                      </a:r>
                    </a:p>
                  </a:txBody>
                  <a:tcPr marL="64008" marR="64008" marT="9144" marB="9144" anchor="ctr">
                    <a:solidFill>
                      <a:srgbClr val="EAEBF2"/>
                    </a:solidFill>
                  </a:tcPr>
                </a:tc>
                <a:tc>
                  <a:txBody>
                    <a:bodyPr/>
                    <a:lstStyle/>
                    <a:p>
                      <a:pPr algn="l"/>
                      <a:r>
                        <a:rPr sz="800" b="0">
                          <a:solidFill>
                            <a:srgbClr val="000000"/>
                          </a:solidFill>
                          <a:latin typeface="Arial"/>
                        </a:rPr>
                        <a:t>IDX</a:t>
                      </a:r>
                    </a:p>
                  </a:txBody>
                  <a:tcPr marL="64008" marR="64008" marT="9144" marB="9144" anchor="ctr">
                    <a:solidFill>
                      <a:srgbClr val="EAEBF2"/>
                    </a:solidFill>
                  </a:tcPr>
                </a:tc>
                <a:tc>
                  <a:txBody>
                    <a:bodyPr/>
                    <a:lstStyle/>
                    <a:p>
                      <a:pPr algn="l"/>
                      <a:r>
                        <a:rPr sz="800" b="0">
                          <a:solidFill>
                            <a:srgbClr val="000000"/>
                          </a:solidFill>
                          <a:latin typeface="Arial"/>
                        </a:rPr>
                        <a:t>Restaurant approval status.</a:t>
                      </a:r>
                    </a:p>
                  </a:txBody>
                  <a:tcPr marL="64008" marR="64008" marT="9144" marB="9144" anchor="ctr">
                    <a:solidFill>
                      <a:srgbClr val="EAEBF2"/>
                    </a:solidFill>
                  </a:tcPr>
                </a:tc>
                <a:extLst>
                  <a:ext uri="{0D108BD9-81ED-4DB2-BD59-A6C34878D82A}">
                    <a16:rowId xmlns:a16="http://schemas.microsoft.com/office/drawing/2014/main" val="10013"/>
                  </a:ext>
                </a:extLst>
              </a:tr>
              <a:tr h="324612">
                <a:tc>
                  <a:txBody>
                    <a:bodyPr/>
                    <a:lstStyle/>
                    <a:p>
                      <a:pPr algn="l"/>
                      <a:r>
                        <a:rPr sz="800" b="0">
                          <a:solidFill>
                            <a:srgbClr val="000000"/>
                          </a:solidFill>
                          <a:latin typeface="Arial"/>
                        </a:rPr>
                        <a:t>created_at</a:t>
                      </a:r>
                    </a:p>
                  </a:txBody>
                  <a:tcPr marL="64008" marR="64008" marT="9144" marB="9144" anchor="ctr">
                    <a:solidFill>
                      <a:srgbClr val="D2D5E4"/>
                    </a:solidFill>
                  </a:tcPr>
                </a:tc>
                <a:tc>
                  <a:txBody>
                    <a:bodyPr/>
                    <a:lstStyle/>
                    <a:p>
                      <a:pPr algn="l"/>
                      <a:r>
                        <a:rPr sz="800" b="0">
                          <a:solidFill>
                            <a:srgbClr val="000000"/>
                          </a:solidFill>
                          <a:latin typeface="Arial"/>
                        </a:rPr>
                        <a:t>timestamp</a:t>
                      </a:r>
                    </a:p>
                  </a:txBody>
                  <a:tcPr marL="64008" marR="64008" marT="9144" marB="9144" anchor="ctr">
                    <a:solidFill>
                      <a:srgbClr val="D2D5E4"/>
                    </a:solidFill>
                  </a:tcPr>
                </a:tc>
                <a:tc>
                  <a:txBody>
                    <a:bodyPr/>
                    <a:lstStyle/>
                    <a:p>
                      <a:pPr algn="l"/>
                      <a:r>
                        <a:rPr sz="800" b="0">
                          <a:solidFill>
                            <a:srgbClr val="000000"/>
                          </a:solidFill>
                          <a:latin typeface="Arial"/>
                        </a:rPr>
                        <a:t>—</a:t>
                      </a:r>
                    </a:p>
                  </a:txBody>
                  <a:tcPr marL="64008" marR="64008" marT="9144" marB="9144" anchor="ctr">
                    <a:solidFill>
                      <a:srgbClr val="D2D5E4"/>
                    </a:solidFill>
                  </a:tcPr>
                </a:tc>
                <a:tc>
                  <a:txBody>
                    <a:bodyPr/>
                    <a:lstStyle/>
                    <a:p>
                      <a:pPr algn="l"/>
                      <a:r>
                        <a:rPr sz="800" b="0">
                          <a:solidFill>
                            <a:srgbClr val="000000"/>
                          </a:solidFill>
                          <a:latin typeface="Arial"/>
                        </a:rPr>
                        <a:t>Date and time the restaurant was created.</a:t>
                      </a:r>
                    </a:p>
                  </a:txBody>
                  <a:tcPr marL="64008" marR="64008" marT="9144" marB="9144" anchor="ctr">
                    <a:solidFill>
                      <a:srgbClr val="D2D5E4"/>
                    </a:solidFill>
                  </a:tcPr>
                </a:tc>
                <a:extLst>
                  <a:ext uri="{0D108BD9-81ED-4DB2-BD59-A6C34878D82A}">
                    <a16:rowId xmlns:a16="http://schemas.microsoft.com/office/drawing/2014/main" val="10014"/>
                  </a:ext>
                </a:extLst>
              </a:tr>
              <a:tr h="324612">
                <a:tc>
                  <a:txBody>
                    <a:bodyPr/>
                    <a:lstStyle/>
                    <a:p>
                      <a:pPr algn="l"/>
                      <a:r>
                        <a:rPr sz="800" b="0">
                          <a:solidFill>
                            <a:srgbClr val="000000"/>
                          </a:solidFill>
                          <a:latin typeface="Arial"/>
                        </a:rPr>
                        <a:t>updated_at</a:t>
                      </a:r>
                    </a:p>
                  </a:txBody>
                  <a:tcPr marL="64008" marR="64008" marT="9144" marB="9144" anchor="ctr">
                    <a:solidFill>
                      <a:srgbClr val="EAEBF2"/>
                    </a:solidFill>
                  </a:tcPr>
                </a:tc>
                <a:tc>
                  <a:txBody>
                    <a:bodyPr/>
                    <a:lstStyle/>
                    <a:p>
                      <a:pPr algn="l"/>
                      <a:r>
                        <a:rPr sz="800" b="0">
                          <a:solidFill>
                            <a:srgbClr val="000000"/>
                          </a:solidFill>
                          <a:latin typeface="Arial"/>
                        </a:rPr>
                        <a:t>timestamp</a:t>
                      </a:r>
                    </a:p>
                  </a:txBody>
                  <a:tcPr marL="64008" marR="64008" marT="9144" marB="9144" anchor="ctr">
                    <a:solidFill>
                      <a:srgbClr val="EAEBF2"/>
                    </a:solidFill>
                  </a:tcPr>
                </a:tc>
                <a:tc>
                  <a:txBody>
                    <a:bodyPr/>
                    <a:lstStyle/>
                    <a:p>
                      <a:pPr algn="l"/>
                      <a:r>
                        <a:rPr sz="800" b="0">
                          <a:solidFill>
                            <a:srgbClr val="000000"/>
                          </a:solidFill>
                          <a:latin typeface="Arial"/>
                        </a:rPr>
                        <a:t>—</a:t>
                      </a:r>
                    </a:p>
                  </a:txBody>
                  <a:tcPr marL="64008" marR="64008" marT="9144" marB="9144" anchor="ctr">
                    <a:solidFill>
                      <a:srgbClr val="EAEBF2"/>
                    </a:solidFill>
                  </a:tcPr>
                </a:tc>
                <a:tc>
                  <a:txBody>
                    <a:bodyPr/>
                    <a:lstStyle/>
                    <a:p>
                      <a:pPr algn="l"/>
                      <a:r>
                        <a:rPr sz="800" b="0">
                          <a:solidFill>
                            <a:srgbClr val="000000"/>
                          </a:solidFill>
                          <a:latin typeface="Arial"/>
                        </a:rPr>
                        <a:t>Date and time the restaurant was last updated.</a:t>
                      </a:r>
                    </a:p>
                  </a:txBody>
                  <a:tcPr marL="64008" marR="64008" marT="9144" marB="9144" anchor="ctr">
                    <a:solidFill>
                      <a:srgbClr val="EAEBF2"/>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3.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3063240" y="0"/>
            <a:ext cx="30175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256032"/>
            <a:ext cx="8229600" cy="6327648"/>
          </a:xfrm>
          <a:prstGeom prst="rect">
            <a:avLst/>
          </a:prstGeom>
          <a:solidFill>
            <a:srgbClr val="FFFFFF"/>
          </a:solidFill>
          <a:ln w="10160">
            <a:solidFill>
              <a:srgbClr val="696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47288" y="36576"/>
            <a:ext cx="2249424" cy="438912"/>
          </a:xfrm>
          <a:prstGeom prst="rect">
            <a:avLst/>
          </a:prstGeom>
          <a:solidFill>
            <a:srgbClr val="9C5252"/>
          </a:solidFill>
          <a:ln w="12700">
            <a:solidFill>
              <a:srgbClr val="7E9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00000"/>
                </a:solidFill>
                <a:latin typeface="Times New Roman"/>
              </a:rPr>
              <a:t>Data Dictionary</a:t>
            </a:r>
          </a:p>
        </p:txBody>
      </p:sp>
      <p:sp>
        <p:nvSpPr>
          <p:cNvPr id="6" name="Rectangle 5"/>
          <p:cNvSpPr/>
          <p:nvPr/>
        </p:nvSpPr>
        <p:spPr>
          <a:xfrm>
            <a:off x="3502152" y="832104"/>
            <a:ext cx="1737360" cy="32004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00000"/>
                </a:solidFill>
                <a:latin typeface="Arial"/>
              </a:rPr>
              <a:t>Table : reviews</a:t>
            </a:r>
          </a:p>
        </p:txBody>
      </p:sp>
      <p:sp>
        <p:nvSpPr>
          <p:cNvPr id="7" name="TextBox 6"/>
          <p:cNvSpPr txBox="1"/>
          <p:nvPr/>
        </p:nvSpPr>
        <p:spPr>
          <a:xfrm>
            <a:off x="5312664" y="832104"/>
            <a:ext cx="320040" cy="320040"/>
          </a:xfrm>
          <a:prstGeom prst="rect">
            <a:avLst/>
          </a:prstGeom>
          <a:noFill/>
        </p:spPr>
        <p:txBody>
          <a:bodyPr wrap="none" anchor="ctr">
            <a:spAutoFit/>
          </a:bodyPr>
          <a:lstStyle/>
          <a:p>
            <a:pPr algn="l"/>
            <a:r>
              <a:rPr sz="1100">
                <a:solidFill>
                  <a:srgbClr val="000000"/>
                </a:solidFill>
                <a:latin typeface="Arial"/>
              </a:rPr>
              <a:t>:-</a:t>
            </a:r>
          </a:p>
        </p:txBody>
      </p:sp>
      <p:graphicFrame>
        <p:nvGraphicFramePr>
          <p:cNvPr id="8" name="Table 7"/>
          <p:cNvGraphicFramePr>
            <a:graphicFrameLocks noGrp="1"/>
          </p:cNvGraphicFramePr>
          <p:nvPr/>
        </p:nvGraphicFramePr>
        <p:xfrm>
          <a:off x="1170432" y="1225296"/>
          <a:ext cx="6949440" cy="5193792"/>
        </p:xfrm>
        <a:graphic>
          <a:graphicData uri="http://schemas.openxmlformats.org/drawingml/2006/table">
            <a:tbl>
              <a:tblPr firstRow="1" bandRow="1">
                <a:tableStyleId>{5C22544A-7EE6-4342-B048-85BDC9FD1C3A}</a:tableStyleId>
              </a:tblPr>
              <a:tblGrid>
                <a:gridCol w="1572768">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432816">
                <a:tc>
                  <a:txBody>
                    <a:bodyPr/>
                    <a:lstStyle/>
                    <a:p>
                      <a:pPr algn="l"/>
                      <a:r>
                        <a:rPr sz="1050" b="1">
                          <a:solidFill>
                            <a:srgbClr val="FFFFFF"/>
                          </a:solidFill>
                          <a:latin typeface="Arial"/>
                        </a:rPr>
                        <a:t>Field Name</a:t>
                      </a:r>
                    </a:p>
                  </a:txBody>
                  <a:tcPr marL="64008" marR="64008" marT="9144" marB="9144" anchor="ctr">
                    <a:solidFill>
                      <a:srgbClr val="6076B4"/>
                    </a:solidFill>
                  </a:tcPr>
                </a:tc>
                <a:tc>
                  <a:txBody>
                    <a:bodyPr/>
                    <a:lstStyle/>
                    <a:p>
                      <a:pPr algn="l"/>
                      <a:r>
                        <a:rPr sz="1050" b="1">
                          <a:solidFill>
                            <a:srgbClr val="FFFFFF"/>
                          </a:solidFill>
                          <a:latin typeface="Arial"/>
                        </a:rPr>
                        <a:t>Data Type</a:t>
                      </a:r>
                    </a:p>
                  </a:txBody>
                  <a:tcPr marL="64008" marR="64008" marT="9144" marB="9144" anchor="ctr">
                    <a:solidFill>
                      <a:srgbClr val="6076B4"/>
                    </a:solidFill>
                  </a:tcPr>
                </a:tc>
                <a:tc>
                  <a:txBody>
                    <a:bodyPr/>
                    <a:lstStyle/>
                    <a:p>
                      <a:pPr algn="l"/>
                      <a:r>
                        <a:rPr sz="1050" b="1">
                          <a:solidFill>
                            <a:srgbClr val="FFFFFF"/>
                          </a:solidFill>
                          <a:latin typeface="Arial"/>
                        </a:rPr>
                        <a:t>Key</a:t>
                      </a:r>
                    </a:p>
                  </a:txBody>
                  <a:tcPr marL="64008" marR="64008" marT="9144" marB="9144" anchor="ctr">
                    <a:solidFill>
                      <a:srgbClr val="6076B4"/>
                    </a:solidFill>
                  </a:tcPr>
                </a:tc>
                <a:tc>
                  <a:txBody>
                    <a:bodyPr/>
                    <a:lstStyle/>
                    <a:p>
                      <a:pPr algn="l"/>
                      <a:r>
                        <a:rPr sz="1050" b="1">
                          <a:solidFill>
                            <a:srgbClr val="FFFFFF"/>
                          </a:solidFill>
                          <a:latin typeface="Arial"/>
                        </a:rPr>
                        <a:t>Description</a:t>
                      </a:r>
                    </a:p>
                  </a:txBody>
                  <a:tcPr marL="64008" marR="64008" marT="9144" marB="9144" anchor="ctr">
                    <a:solidFill>
                      <a:srgbClr val="6076B4"/>
                    </a:solidFill>
                  </a:tcPr>
                </a:tc>
                <a:extLst>
                  <a:ext uri="{0D108BD9-81ED-4DB2-BD59-A6C34878D82A}">
                    <a16:rowId xmlns:a16="http://schemas.microsoft.com/office/drawing/2014/main" val="10000"/>
                  </a:ext>
                </a:extLst>
              </a:tr>
              <a:tr h="432816">
                <a:tc>
                  <a:txBody>
                    <a:bodyPr/>
                    <a:lstStyle/>
                    <a:p>
                      <a:pPr algn="l"/>
                      <a:r>
                        <a:rPr sz="850" b="0">
                          <a:solidFill>
                            <a:srgbClr val="000000"/>
                          </a:solidFill>
                          <a:latin typeface="Arial"/>
                        </a:rPr>
                        <a:t>id</a:t>
                      </a:r>
                    </a:p>
                  </a:txBody>
                  <a:tcPr marL="64008" marR="64008" marT="9144" marB="9144" anchor="ctr">
                    <a:solidFill>
                      <a:srgbClr val="EAEBF2"/>
                    </a:solidFill>
                  </a:tcPr>
                </a:tc>
                <a:tc>
                  <a:txBody>
                    <a:bodyPr/>
                    <a:lstStyle/>
                    <a:p>
                      <a:pPr algn="l"/>
                      <a:r>
                        <a:rPr sz="850" b="0">
                          <a:solidFill>
                            <a:srgbClr val="000000"/>
                          </a:solidFill>
                          <a:latin typeface="Arial"/>
                        </a:rPr>
                        <a:t>bigint(20) unsigned</a:t>
                      </a:r>
                    </a:p>
                  </a:txBody>
                  <a:tcPr marL="64008" marR="64008" marT="9144" marB="9144" anchor="ctr">
                    <a:solidFill>
                      <a:srgbClr val="EAEBF2"/>
                    </a:solidFill>
                  </a:tcPr>
                </a:tc>
                <a:tc>
                  <a:txBody>
                    <a:bodyPr/>
                    <a:lstStyle/>
                    <a:p>
                      <a:pPr algn="l"/>
                      <a:r>
                        <a:rPr sz="850" b="0">
                          <a:solidFill>
                            <a:srgbClr val="000000"/>
                          </a:solidFill>
                          <a:latin typeface="Arial"/>
                        </a:rPr>
                        <a:t>PK</a:t>
                      </a:r>
                    </a:p>
                  </a:txBody>
                  <a:tcPr marL="64008" marR="64008" marT="9144" marB="9144" anchor="ctr">
                    <a:solidFill>
                      <a:srgbClr val="EAEBF2"/>
                    </a:solidFill>
                  </a:tcPr>
                </a:tc>
                <a:tc>
                  <a:txBody>
                    <a:bodyPr/>
                    <a:lstStyle/>
                    <a:p>
                      <a:pPr algn="l"/>
                      <a:r>
                        <a:rPr sz="850" b="0">
                          <a:solidFill>
                            <a:srgbClr val="000000"/>
                          </a:solidFill>
                          <a:latin typeface="Arial"/>
                        </a:rPr>
                        <a:t>Unique review ID.</a:t>
                      </a:r>
                    </a:p>
                  </a:txBody>
                  <a:tcPr marL="64008" marR="64008" marT="9144" marB="9144" anchor="ctr">
                    <a:solidFill>
                      <a:srgbClr val="EAEBF2"/>
                    </a:solidFill>
                  </a:tcPr>
                </a:tc>
                <a:extLst>
                  <a:ext uri="{0D108BD9-81ED-4DB2-BD59-A6C34878D82A}">
                    <a16:rowId xmlns:a16="http://schemas.microsoft.com/office/drawing/2014/main" val="10001"/>
                  </a:ext>
                </a:extLst>
              </a:tr>
              <a:tr h="432816">
                <a:tc>
                  <a:txBody>
                    <a:bodyPr/>
                    <a:lstStyle/>
                    <a:p>
                      <a:pPr algn="l"/>
                      <a:r>
                        <a:rPr sz="850" b="0">
                          <a:solidFill>
                            <a:srgbClr val="000000"/>
                          </a:solidFill>
                          <a:latin typeface="Arial"/>
                        </a:rPr>
                        <a:t>restaurant_id</a:t>
                      </a:r>
                    </a:p>
                  </a:txBody>
                  <a:tcPr marL="64008" marR="64008" marT="9144" marB="9144" anchor="ctr">
                    <a:solidFill>
                      <a:srgbClr val="D2D5E4"/>
                    </a:solidFill>
                  </a:tcPr>
                </a:tc>
                <a:tc>
                  <a:txBody>
                    <a:bodyPr/>
                    <a:lstStyle/>
                    <a:p>
                      <a:pPr algn="l"/>
                      <a:r>
                        <a:rPr sz="850" b="0">
                          <a:solidFill>
                            <a:srgbClr val="000000"/>
                          </a:solidFill>
                          <a:latin typeface="Arial"/>
                        </a:rPr>
                        <a:t>bigint(20) unsigned</a:t>
                      </a:r>
                    </a:p>
                  </a:txBody>
                  <a:tcPr marL="64008" marR="64008" marT="9144" marB="9144" anchor="ctr">
                    <a:solidFill>
                      <a:srgbClr val="D2D5E4"/>
                    </a:solidFill>
                  </a:tcPr>
                </a:tc>
                <a:tc>
                  <a:txBody>
                    <a:bodyPr/>
                    <a:lstStyle/>
                    <a:p>
                      <a:pPr algn="l"/>
                      <a:r>
                        <a:rPr sz="850" b="0">
                          <a:solidFill>
                            <a:srgbClr val="000000"/>
                          </a:solidFill>
                          <a:latin typeface="Arial"/>
                        </a:rPr>
                        <a:t>FK/IDX</a:t>
                      </a:r>
                    </a:p>
                  </a:txBody>
                  <a:tcPr marL="64008" marR="64008" marT="9144" marB="9144" anchor="ctr">
                    <a:solidFill>
                      <a:srgbClr val="D2D5E4"/>
                    </a:solidFill>
                  </a:tcPr>
                </a:tc>
                <a:tc>
                  <a:txBody>
                    <a:bodyPr/>
                    <a:lstStyle/>
                    <a:p>
                      <a:pPr algn="l"/>
                      <a:r>
                        <a:rPr sz="850" b="0">
                          <a:solidFill>
                            <a:srgbClr val="000000"/>
                          </a:solidFill>
                          <a:latin typeface="Arial"/>
                        </a:rPr>
                        <a:t>Restaurant being reviewed.</a:t>
                      </a:r>
                    </a:p>
                  </a:txBody>
                  <a:tcPr marL="64008" marR="64008" marT="9144" marB="9144" anchor="ctr">
                    <a:solidFill>
                      <a:srgbClr val="D2D5E4"/>
                    </a:solidFill>
                  </a:tcPr>
                </a:tc>
                <a:extLst>
                  <a:ext uri="{0D108BD9-81ED-4DB2-BD59-A6C34878D82A}">
                    <a16:rowId xmlns:a16="http://schemas.microsoft.com/office/drawing/2014/main" val="10002"/>
                  </a:ext>
                </a:extLst>
              </a:tr>
              <a:tr h="432816">
                <a:tc>
                  <a:txBody>
                    <a:bodyPr/>
                    <a:lstStyle/>
                    <a:p>
                      <a:pPr algn="l"/>
                      <a:r>
                        <a:rPr sz="850" b="0">
                          <a:solidFill>
                            <a:srgbClr val="000000"/>
                          </a:solidFill>
                          <a:latin typeface="Arial"/>
                        </a:rPr>
                        <a:t>customer_id</a:t>
                      </a:r>
                    </a:p>
                  </a:txBody>
                  <a:tcPr marL="64008" marR="64008" marT="9144" marB="9144" anchor="ctr">
                    <a:solidFill>
                      <a:srgbClr val="EAEBF2"/>
                    </a:solidFill>
                  </a:tcPr>
                </a:tc>
                <a:tc>
                  <a:txBody>
                    <a:bodyPr/>
                    <a:lstStyle/>
                    <a:p>
                      <a:pPr algn="l"/>
                      <a:r>
                        <a:rPr sz="850" b="0">
                          <a:solidFill>
                            <a:srgbClr val="000000"/>
                          </a:solidFill>
                          <a:latin typeface="Arial"/>
                        </a:rPr>
                        <a:t>bigint(20) unsigned</a:t>
                      </a:r>
                    </a:p>
                  </a:txBody>
                  <a:tcPr marL="64008" marR="64008" marT="9144" marB="9144" anchor="ctr">
                    <a:solidFill>
                      <a:srgbClr val="EAEBF2"/>
                    </a:solidFill>
                  </a:tcPr>
                </a:tc>
                <a:tc>
                  <a:txBody>
                    <a:bodyPr/>
                    <a:lstStyle/>
                    <a:p>
                      <a:pPr algn="l"/>
                      <a:r>
                        <a:rPr sz="850" b="0">
                          <a:solidFill>
                            <a:srgbClr val="000000"/>
                          </a:solidFill>
                          <a:latin typeface="Arial"/>
                        </a:rPr>
                        <a:t>FK/IDX</a:t>
                      </a:r>
                    </a:p>
                  </a:txBody>
                  <a:tcPr marL="64008" marR="64008" marT="9144" marB="9144" anchor="ctr">
                    <a:solidFill>
                      <a:srgbClr val="EAEBF2"/>
                    </a:solidFill>
                  </a:tcPr>
                </a:tc>
                <a:tc>
                  <a:txBody>
                    <a:bodyPr/>
                    <a:lstStyle/>
                    <a:p>
                      <a:pPr algn="l"/>
                      <a:r>
                        <a:rPr sz="850" b="0">
                          <a:solidFill>
                            <a:srgbClr val="000000"/>
                          </a:solidFill>
                          <a:latin typeface="Arial"/>
                        </a:rPr>
                        <a:t>Customer who submitted the review.</a:t>
                      </a:r>
                    </a:p>
                  </a:txBody>
                  <a:tcPr marL="64008" marR="64008" marT="9144" marB="9144" anchor="ctr">
                    <a:solidFill>
                      <a:srgbClr val="EAEBF2"/>
                    </a:solidFill>
                  </a:tcPr>
                </a:tc>
                <a:extLst>
                  <a:ext uri="{0D108BD9-81ED-4DB2-BD59-A6C34878D82A}">
                    <a16:rowId xmlns:a16="http://schemas.microsoft.com/office/drawing/2014/main" val="10003"/>
                  </a:ext>
                </a:extLst>
              </a:tr>
              <a:tr h="432816">
                <a:tc>
                  <a:txBody>
                    <a:bodyPr/>
                    <a:lstStyle/>
                    <a:p>
                      <a:pPr algn="l"/>
                      <a:r>
                        <a:rPr sz="850" b="0">
                          <a:solidFill>
                            <a:srgbClr val="000000"/>
                          </a:solidFill>
                          <a:latin typeface="Arial"/>
                        </a:rPr>
                        <a:t>order_id</a:t>
                      </a:r>
                    </a:p>
                  </a:txBody>
                  <a:tcPr marL="64008" marR="64008" marT="9144" marB="9144" anchor="ctr">
                    <a:solidFill>
                      <a:srgbClr val="D2D5E4"/>
                    </a:solidFill>
                  </a:tcPr>
                </a:tc>
                <a:tc>
                  <a:txBody>
                    <a:bodyPr/>
                    <a:lstStyle/>
                    <a:p>
                      <a:pPr algn="l"/>
                      <a:r>
                        <a:rPr sz="850" b="0">
                          <a:solidFill>
                            <a:srgbClr val="000000"/>
                          </a:solidFill>
                          <a:latin typeface="Arial"/>
                        </a:rPr>
                        <a:t>bigint(20) unsigned</a:t>
                      </a:r>
                    </a:p>
                  </a:txBody>
                  <a:tcPr marL="64008" marR="64008" marT="9144" marB="9144" anchor="ctr">
                    <a:solidFill>
                      <a:srgbClr val="D2D5E4"/>
                    </a:solidFill>
                  </a:tcPr>
                </a:tc>
                <a:tc>
                  <a:txBody>
                    <a:bodyPr/>
                    <a:lstStyle/>
                    <a:p>
                      <a:pPr algn="l"/>
                      <a:r>
                        <a:rPr sz="850" b="0">
                          <a:solidFill>
                            <a:srgbClr val="000000"/>
                          </a:solidFill>
                          <a:latin typeface="Arial"/>
                        </a:rPr>
                        <a:t>FK/IDX</a:t>
                      </a:r>
                    </a:p>
                  </a:txBody>
                  <a:tcPr marL="64008" marR="64008" marT="9144" marB="9144" anchor="ctr">
                    <a:solidFill>
                      <a:srgbClr val="D2D5E4"/>
                    </a:solidFill>
                  </a:tcPr>
                </a:tc>
                <a:tc>
                  <a:txBody>
                    <a:bodyPr/>
                    <a:lstStyle/>
                    <a:p>
                      <a:pPr algn="l"/>
                      <a:r>
                        <a:rPr sz="850" b="0">
                          <a:solidFill>
                            <a:srgbClr val="000000"/>
                          </a:solidFill>
                          <a:latin typeface="Arial"/>
                        </a:rPr>
                        <a:t>Optional order associated with the review.</a:t>
                      </a:r>
                    </a:p>
                  </a:txBody>
                  <a:tcPr marL="64008" marR="64008" marT="9144" marB="9144" anchor="ctr">
                    <a:solidFill>
                      <a:srgbClr val="D2D5E4"/>
                    </a:solidFill>
                  </a:tcPr>
                </a:tc>
                <a:extLst>
                  <a:ext uri="{0D108BD9-81ED-4DB2-BD59-A6C34878D82A}">
                    <a16:rowId xmlns:a16="http://schemas.microsoft.com/office/drawing/2014/main" val="10004"/>
                  </a:ext>
                </a:extLst>
              </a:tr>
              <a:tr h="432816">
                <a:tc>
                  <a:txBody>
                    <a:bodyPr/>
                    <a:lstStyle/>
                    <a:p>
                      <a:pPr algn="l"/>
                      <a:r>
                        <a:rPr sz="850" b="0">
                          <a:solidFill>
                            <a:srgbClr val="000000"/>
                          </a:solidFill>
                          <a:latin typeface="Arial"/>
                        </a:rPr>
                        <a:t>rating</a:t>
                      </a:r>
                    </a:p>
                  </a:txBody>
                  <a:tcPr marL="64008" marR="64008" marT="9144" marB="9144" anchor="ctr">
                    <a:solidFill>
                      <a:srgbClr val="EAEBF2"/>
                    </a:solidFill>
                  </a:tcPr>
                </a:tc>
                <a:tc>
                  <a:txBody>
                    <a:bodyPr/>
                    <a:lstStyle/>
                    <a:p>
                      <a:pPr algn="l"/>
                      <a:r>
                        <a:rPr sz="850" b="0">
                          <a:solidFill>
                            <a:srgbClr val="000000"/>
                          </a:solidFill>
                          <a:latin typeface="Arial"/>
                        </a:rPr>
                        <a:t>tinyint(3) unsigned</a:t>
                      </a:r>
                    </a:p>
                  </a:txBody>
                  <a:tcPr marL="64008" marR="64008" marT="9144" marB="9144" anchor="ctr">
                    <a:solidFill>
                      <a:srgbClr val="EAEBF2"/>
                    </a:solidFill>
                  </a:tcPr>
                </a:tc>
                <a:tc>
                  <a:txBody>
                    <a:bodyPr/>
                    <a:lstStyle/>
                    <a:p>
                      <a:pPr algn="l"/>
                      <a:r>
                        <a:rPr sz="850" b="0">
                          <a:solidFill>
                            <a:srgbClr val="000000"/>
                          </a:solidFill>
                          <a:latin typeface="Arial"/>
                        </a:rPr>
                        <a:t>—</a:t>
                      </a:r>
                    </a:p>
                  </a:txBody>
                  <a:tcPr marL="64008" marR="64008" marT="9144" marB="9144" anchor="ctr">
                    <a:solidFill>
                      <a:srgbClr val="EAEBF2"/>
                    </a:solidFill>
                  </a:tcPr>
                </a:tc>
                <a:tc>
                  <a:txBody>
                    <a:bodyPr/>
                    <a:lstStyle/>
                    <a:p>
                      <a:pPr algn="l"/>
                      <a:r>
                        <a:rPr sz="850" b="0">
                          <a:solidFill>
                            <a:srgbClr val="000000"/>
                          </a:solidFill>
                          <a:latin typeface="Arial"/>
                        </a:rPr>
                        <a:t>Customer rating.</a:t>
                      </a:r>
                    </a:p>
                  </a:txBody>
                  <a:tcPr marL="64008" marR="64008" marT="9144" marB="9144" anchor="ctr">
                    <a:solidFill>
                      <a:srgbClr val="EAEBF2"/>
                    </a:solidFill>
                  </a:tcPr>
                </a:tc>
                <a:extLst>
                  <a:ext uri="{0D108BD9-81ED-4DB2-BD59-A6C34878D82A}">
                    <a16:rowId xmlns:a16="http://schemas.microsoft.com/office/drawing/2014/main" val="10005"/>
                  </a:ext>
                </a:extLst>
              </a:tr>
              <a:tr h="432816">
                <a:tc>
                  <a:txBody>
                    <a:bodyPr/>
                    <a:lstStyle/>
                    <a:p>
                      <a:pPr algn="l"/>
                      <a:r>
                        <a:rPr sz="850" b="0">
                          <a:solidFill>
                            <a:srgbClr val="000000"/>
                          </a:solidFill>
                          <a:latin typeface="Arial"/>
                        </a:rPr>
                        <a:t>comment</a:t>
                      </a:r>
                    </a:p>
                  </a:txBody>
                  <a:tcPr marL="64008" marR="64008" marT="9144" marB="9144" anchor="ctr">
                    <a:solidFill>
                      <a:srgbClr val="D2D5E4"/>
                    </a:solidFill>
                  </a:tcPr>
                </a:tc>
                <a:tc>
                  <a:txBody>
                    <a:bodyPr/>
                    <a:lstStyle/>
                    <a:p>
                      <a:pPr algn="l"/>
                      <a:r>
                        <a:rPr sz="850" b="0">
                          <a:solidFill>
                            <a:srgbClr val="000000"/>
                          </a:solidFill>
                          <a:latin typeface="Arial"/>
                        </a:rPr>
                        <a:t>text</a:t>
                      </a:r>
                    </a:p>
                  </a:txBody>
                  <a:tcPr marL="64008" marR="64008" marT="9144" marB="9144" anchor="ctr">
                    <a:solidFill>
                      <a:srgbClr val="D2D5E4"/>
                    </a:solidFill>
                  </a:tcPr>
                </a:tc>
                <a:tc>
                  <a:txBody>
                    <a:bodyPr/>
                    <a:lstStyle/>
                    <a:p>
                      <a:pPr algn="l"/>
                      <a:r>
                        <a:rPr sz="850" b="0">
                          <a:solidFill>
                            <a:srgbClr val="000000"/>
                          </a:solidFill>
                          <a:latin typeface="Arial"/>
                        </a:rPr>
                        <a:t>—</a:t>
                      </a:r>
                    </a:p>
                  </a:txBody>
                  <a:tcPr marL="64008" marR="64008" marT="9144" marB="9144" anchor="ctr">
                    <a:solidFill>
                      <a:srgbClr val="D2D5E4"/>
                    </a:solidFill>
                  </a:tcPr>
                </a:tc>
                <a:tc>
                  <a:txBody>
                    <a:bodyPr/>
                    <a:lstStyle/>
                    <a:p>
                      <a:pPr algn="l"/>
                      <a:r>
                        <a:rPr sz="850" b="0">
                          <a:solidFill>
                            <a:srgbClr val="000000"/>
                          </a:solidFill>
                          <a:latin typeface="Arial"/>
                        </a:rPr>
                        <a:t>Customer review comment.</a:t>
                      </a:r>
                    </a:p>
                  </a:txBody>
                  <a:tcPr marL="64008" marR="64008" marT="9144" marB="9144" anchor="ctr">
                    <a:solidFill>
                      <a:srgbClr val="D2D5E4"/>
                    </a:solidFill>
                  </a:tcPr>
                </a:tc>
                <a:extLst>
                  <a:ext uri="{0D108BD9-81ED-4DB2-BD59-A6C34878D82A}">
                    <a16:rowId xmlns:a16="http://schemas.microsoft.com/office/drawing/2014/main" val="10006"/>
                  </a:ext>
                </a:extLst>
              </a:tr>
              <a:tr h="432816">
                <a:tc>
                  <a:txBody>
                    <a:bodyPr/>
                    <a:lstStyle/>
                    <a:p>
                      <a:pPr algn="l"/>
                      <a:r>
                        <a:rPr sz="850" b="0">
                          <a:solidFill>
                            <a:srgbClr val="000000"/>
                          </a:solidFill>
                          <a:latin typeface="Arial"/>
                        </a:rPr>
                        <a:t>restaurant_reply</a:t>
                      </a:r>
                    </a:p>
                  </a:txBody>
                  <a:tcPr marL="64008" marR="64008" marT="9144" marB="9144" anchor="ctr">
                    <a:solidFill>
                      <a:srgbClr val="EAEBF2"/>
                    </a:solidFill>
                  </a:tcPr>
                </a:tc>
                <a:tc>
                  <a:txBody>
                    <a:bodyPr/>
                    <a:lstStyle/>
                    <a:p>
                      <a:pPr algn="l"/>
                      <a:r>
                        <a:rPr sz="850" b="0">
                          <a:solidFill>
                            <a:srgbClr val="000000"/>
                          </a:solidFill>
                          <a:latin typeface="Arial"/>
                        </a:rPr>
                        <a:t>text</a:t>
                      </a:r>
                    </a:p>
                  </a:txBody>
                  <a:tcPr marL="64008" marR="64008" marT="9144" marB="9144" anchor="ctr">
                    <a:solidFill>
                      <a:srgbClr val="EAEBF2"/>
                    </a:solidFill>
                  </a:tcPr>
                </a:tc>
                <a:tc>
                  <a:txBody>
                    <a:bodyPr/>
                    <a:lstStyle/>
                    <a:p>
                      <a:pPr algn="l"/>
                      <a:r>
                        <a:rPr sz="850" b="0">
                          <a:solidFill>
                            <a:srgbClr val="000000"/>
                          </a:solidFill>
                          <a:latin typeface="Arial"/>
                        </a:rPr>
                        <a:t>—</a:t>
                      </a:r>
                    </a:p>
                  </a:txBody>
                  <a:tcPr marL="64008" marR="64008" marT="9144" marB="9144" anchor="ctr">
                    <a:solidFill>
                      <a:srgbClr val="EAEBF2"/>
                    </a:solidFill>
                  </a:tcPr>
                </a:tc>
                <a:tc>
                  <a:txBody>
                    <a:bodyPr/>
                    <a:lstStyle/>
                    <a:p>
                      <a:pPr algn="l"/>
                      <a:r>
                        <a:rPr sz="850" b="0">
                          <a:solidFill>
                            <a:srgbClr val="000000"/>
                          </a:solidFill>
                          <a:latin typeface="Arial"/>
                        </a:rPr>
                        <a:t>Restaurant owner's reply to the review.</a:t>
                      </a:r>
                    </a:p>
                  </a:txBody>
                  <a:tcPr marL="64008" marR="64008" marT="9144" marB="9144" anchor="ctr">
                    <a:solidFill>
                      <a:srgbClr val="EAEBF2"/>
                    </a:solidFill>
                  </a:tcPr>
                </a:tc>
                <a:extLst>
                  <a:ext uri="{0D108BD9-81ED-4DB2-BD59-A6C34878D82A}">
                    <a16:rowId xmlns:a16="http://schemas.microsoft.com/office/drawing/2014/main" val="10007"/>
                  </a:ext>
                </a:extLst>
              </a:tr>
              <a:tr h="432816">
                <a:tc>
                  <a:txBody>
                    <a:bodyPr/>
                    <a:lstStyle/>
                    <a:p>
                      <a:pPr algn="l"/>
                      <a:r>
                        <a:rPr sz="850" b="0">
                          <a:solidFill>
                            <a:srgbClr val="000000"/>
                          </a:solidFill>
                          <a:latin typeface="Arial"/>
                        </a:rPr>
                        <a:t>replied_at</a:t>
                      </a:r>
                    </a:p>
                  </a:txBody>
                  <a:tcPr marL="64008" marR="64008" marT="9144" marB="9144" anchor="ctr">
                    <a:solidFill>
                      <a:srgbClr val="D2D5E4"/>
                    </a:solidFill>
                  </a:tcPr>
                </a:tc>
                <a:tc>
                  <a:txBody>
                    <a:bodyPr/>
                    <a:lstStyle/>
                    <a:p>
                      <a:pPr algn="l"/>
                      <a:r>
                        <a:rPr sz="850" b="0">
                          <a:solidFill>
                            <a:srgbClr val="000000"/>
                          </a:solidFill>
                          <a:latin typeface="Arial"/>
                        </a:rPr>
                        <a:t>timestamp</a:t>
                      </a:r>
                    </a:p>
                  </a:txBody>
                  <a:tcPr marL="64008" marR="64008" marT="9144" marB="9144" anchor="ctr">
                    <a:solidFill>
                      <a:srgbClr val="D2D5E4"/>
                    </a:solidFill>
                  </a:tcPr>
                </a:tc>
                <a:tc>
                  <a:txBody>
                    <a:bodyPr/>
                    <a:lstStyle/>
                    <a:p>
                      <a:pPr algn="l"/>
                      <a:r>
                        <a:rPr sz="850" b="0">
                          <a:solidFill>
                            <a:srgbClr val="000000"/>
                          </a:solidFill>
                          <a:latin typeface="Arial"/>
                        </a:rPr>
                        <a:t>—</a:t>
                      </a:r>
                    </a:p>
                  </a:txBody>
                  <a:tcPr marL="64008" marR="64008" marT="9144" marB="9144" anchor="ctr">
                    <a:solidFill>
                      <a:srgbClr val="D2D5E4"/>
                    </a:solidFill>
                  </a:tcPr>
                </a:tc>
                <a:tc>
                  <a:txBody>
                    <a:bodyPr/>
                    <a:lstStyle/>
                    <a:p>
                      <a:pPr algn="l"/>
                      <a:r>
                        <a:rPr sz="850" b="0">
                          <a:solidFill>
                            <a:srgbClr val="000000"/>
                          </a:solidFill>
                          <a:latin typeface="Arial"/>
                        </a:rPr>
                        <a:t>Date and time the restaurant replied.</a:t>
                      </a:r>
                    </a:p>
                  </a:txBody>
                  <a:tcPr marL="64008" marR="64008" marT="9144" marB="9144" anchor="ctr">
                    <a:solidFill>
                      <a:srgbClr val="D2D5E4"/>
                    </a:solidFill>
                  </a:tcPr>
                </a:tc>
                <a:extLst>
                  <a:ext uri="{0D108BD9-81ED-4DB2-BD59-A6C34878D82A}">
                    <a16:rowId xmlns:a16="http://schemas.microsoft.com/office/drawing/2014/main" val="10008"/>
                  </a:ext>
                </a:extLst>
              </a:tr>
              <a:tr h="432816">
                <a:tc>
                  <a:txBody>
                    <a:bodyPr/>
                    <a:lstStyle/>
                    <a:p>
                      <a:pPr algn="l"/>
                      <a:r>
                        <a:rPr sz="850" b="0">
                          <a:solidFill>
                            <a:srgbClr val="000000"/>
                          </a:solidFill>
                          <a:latin typeface="Arial"/>
                        </a:rPr>
                        <a:t>status</a:t>
                      </a:r>
                    </a:p>
                  </a:txBody>
                  <a:tcPr marL="64008" marR="64008" marT="9144" marB="9144" anchor="ctr">
                    <a:solidFill>
                      <a:srgbClr val="EAEBF2"/>
                    </a:solidFill>
                  </a:tcPr>
                </a:tc>
                <a:tc>
                  <a:txBody>
                    <a:bodyPr/>
                    <a:lstStyle/>
                    <a:p>
                      <a:pPr algn="l"/>
                      <a:r>
                        <a:rPr sz="850" b="0">
                          <a:solidFill>
                            <a:srgbClr val="000000"/>
                          </a:solidFill>
                          <a:latin typeface="Arial"/>
                        </a:rPr>
                        <a:t>enum('pending','approved','hidden')</a:t>
                      </a:r>
                    </a:p>
                  </a:txBody>
                  <a:tcPr marL="64008" marR="64008" marT="9144" marB="9144" anchor="ctr">
                    <a:solidFill>
                      <a:srgbClr val="EAEBF2"/>
                    </a:solidFill>
                  </a:tcPr>
                </a:tc>
                <a:tc>
                  <a:txBody>
                    <a:bodyPr/>
                    <a:lstStyle/>
                    <a:p>
                      <a:pPr algn="l"/>
                      <a:r>
                        <a:rPr sz="850" b="0">
                          <a:solidFill>
                            <a:srgbClr val="000000"/>
                          </a:solidFill>
                          <a:latin typeface="Arial"/>
                        </a:rPr>
                        <a:t>IDX</a:t>
                      </a:r>
                    </a:p>
                  </a:txBody>
                  <a:tcPr marL="64008" marR="64008" marT="9144" marB="9144" anchor="ctr">
                    <a:solidFill>
                      <a:srgbClr val="EAEBF2"/>
                    </a:solidFill>
                  </a:tcPr>
                </a:tc>
                <a:tc>
                  <a:txBody>
                    <a:bodyPr/>
                    <a:lstStyle/>
                    <a:p>
                      <a:pPr algn="l"/>
                      <a:r>
                        <a:rPr sz="850" b="0">
                          <a:solidFill>
                            <a:srgbClr val="000000"/>
                          </a:solidFill>
                          <a:latin typeface="Arial"/>
                        </a:rPr>
                        <a:t>Review moderation status.</a:t>
                      </a:r>
                    </a:p>
                  </a:txBody>
                  <a:tcPr marL="64008" marR="64008" marT="9144" marB="9144" anchor="ctr">
                    <a:solidFill>
                      <a:srgbClr val="EAEBF2"/>
                    </a:solidFill>
                  </a:tcPr>
                </a:tc>
                <a:extLst>
                  <a:ext uri="{0D108BD9-81ED-4DB2-BD59-A6C34878D82A}">
                    <a16:rowId xmlns:a16="http://schemas.microsoft.com/office/drawing/2014/main" val="10009"/>
                  </a:ext>
                </a:extLst>
              </a:tr>
              <a:tr h="432816">
                <a:tc>
                  <a:txBody>
                    <a:bodyPr/>
                    <a:lstStyle/>
                    <a:p>
                      <a:pPr algn="l"/>
                      <a:r>
                        <a:rPr sz="850" b="0">
                          <a:solidFill>
                            <a:srgbClr val="000000"/>
                          </a:solidFill>
                          <a:latin typeface="Arial"/>
                        </a:rPr>
                        <a:t>created_at</a:t>
                      </a:r>
                    </a:p>
                  </a:txBody>
                  <a:tcPr marL="64008" marR="64008" marT="9144" marB="9144" anchor="ctr">
                    <a:solidFill>
                      <a:srgbClr val="D2D5E4"/>
                    </a:solidFill>
                  </a:tcPr>
                </a:tc>
                <a:tc>
                  <a:txBody>
                    <a:bodyPr/>
                    <a:lstStyle/>
                    <a:p>
                      <a:pPr algn="l"/>
                      <a:r>
                        <a:rPr sz="850" b="0">
                          <a:solidFill>
                            <a:srgbClr val="000000"/>
                          </a:solidFill>
                          <a:latin typeface="Arial"/>
                        </a:rPr>
                        <a:t>timestamp</a:t>
                      </a:r>
                    </a:p>
                  </a:txBody>
                  <a:tcPr marL="64008" marR="64008" marT="9144" marB="9144" anchor="ctr">
                    <a:solidFill>
                      <a:srgbClr val="D2D5E4"/>
                    </a:solidFill>
                  </a:tcPr>
                </a:tc>
                <a:tc>
                  <a:txBody>
                    <a:bodyPr/>
                    <a:lstStyle/>
                    <a:p>
                      <a:pPr algn="l"/>
                      <a:r>
                        <a:rPr sz="850" b="0">
                          <a:solidFill>
                            <a:srgbClr val="000000"/>
                          </a:solidFill>
                          <a:latin typeface="Arial"/>
                        </a:rPr>
                        <a:t>—</a:t>
                      </a:r>
                    </a:p>
                  </a:txBody>
                  <a:tcPr marL="64008" marR="64008" marT="9144" marB="9144" anchor="ctr">
                    <a:solidFill>
                      <a:srgbClr val="D2D5E4"/>
                    </a:solidFill>
                  </a:tcPr>
                </a:tc>
                <a:tc>
                  <a:txBody>
                    <a:bodyPr/>
                    <a:lstStyle/>
                    <a:p>
                      <a:pPr algn="l"/>
                      <a:r>
                        <a:rPr sz="850" b="0">
                          <a:solidFill>
                            <a:srgbClr val="000000"/>
                          </a:solidFill>
                          <a:latin typeface="Arial"/>
                        </a:rPr>
                        <a:t>Date and time the review was created.</a:t>
                      </a:r>
                    </a:p>
                  </a:txBody>
                  <a:tcPr marL="64008" marR="64008" marT="9144" marB="9144" anchor="ctr">
                    <a:solidFill>
                      <a:srgbClr val="D2D5E4"/>
                    </a:solidFill>
                  </a:tcPr>
                </a:tc>
                <a:extLst>
                  <a:ext uri="{0D108BD9-81ED-4DB2-BD59-A6C34878D82A}">
                    <a16:rowId xmlns:a16="http://schemas.microsoft.com/office/drawing/2014/main" val="10010"/>
                  </a:ext>
                </a:extLst>
              </a:tr>
              <a:tr h="432816">
                <a:tc>
                  <a:txBody>
                    <a:bodyPr/>
                    <a:lstStyle/>
                    <a:p>
                      <a:pPr algn="l"/>
                      <a:r>
                        <a:rPr sz="850" b="0">
                          <a:solidFill>
                            <a:srgbClr val="000000"/>
                          </a:solidFill>
                          <a:latin typeface="Arial"/>
                        </a:rPr>
                        <a:t>updated_at</a:t>
                      </a:r>
                    </a:p>
                  </a:txBody>
                  <a:tcPr marL="64008" marR="64008" marT="9144" marB="9144" anchor="ctr">
                    <a:solidFill>
                      <a:srgbClr val="EAEBF2"/>
                    </a:solidFill>
                  </a:tcPr>
                </a:tc>
                <a:tc>
                  <a:txBody>
                    <a:bodyPr/>
                    <a:lstStyle/>
                    <a:p>
                      <a:pPr algn="l"/>
                      <a:r>
                        <a:rPr sz="850" b="0">
                          <a:solidFill>
                            <a:srgbClr val="000000"/>
                          </a:solidFill>
                          <a:latin typeface="Arial"/>
                        </a:rPr>
                        <a:t>timestamp</a:t>
                      </a:r>
                    </a:p>
                  </a:txBody>
                  <a:tcPr marL="64008" marR="64008" marT="9144" marB="9144" anchor="ctr">
                    <a:solidFill>
                      <a:srgbClr val="EAEBF2"/>
                    </a:solidFill>
                  </a:tcPr>
                </a:tc>
                <a:tc>
                  <a:txBody>
                    <a:bodyPr/>
                    <a:lstStyle/>
                    <a:p>
                      <a:pPr algn="l"/>
                      <a:r>
                        <a:rPr sz="850" b="0">
                          <a:solidFill>
                            <a:srgbClr val="000000"/>
                          </a:solidFill>
                          <a:latin typeface="Arial"/>
                        </a:rPr>
                        <a:t>—</a:t>
                      </a:r>
                    </a:p>
                  </a:txBody>
                  <a:tcPr marL="64008" marR="64008" marT="9144" marB="9144" anchor="ctr">
                    <a:solidFill>
                      <a:srgbClr val="EAEBF2"/>
                    </a:solidFill>
                  </a:tcPr>
                </a:tc>
                <a:tc>
                  <a:txBody>
                    <a:bodyPr/>
                    <a:lstStyle/>
                    <a:p>
                      <a:pPr algn="l"/>
                      <a:r>
                        <a:rPr sz="850" b="0">
                          <a:solidFill>
                            <a:srgbClr val="000000"/>
                          </a:solidFill>
                          <a:latin typeface="Arial"/>
                        </a:rPr>
                        <a:t>Date and time the review was last updated.</a:t>
                      </a:r>
                    </a:p>
                  </a:txBody>
                  <a:tcPr marL="64008" marR="64008" marT="9144" marB="9144" anchor="ctr">
                    <a:solidFill>
                      <a:srgbClr val="EAEBF2"/>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3.pn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3063240" y="0"/>
            <a:ext cx="30175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256032"/>
            <a:ext cx="8229600" cy="6327648"/>
          </a:xfrm>
          <a:prstGeom prst="rect">
            <a:avLst/>
          </a:prstGeom>
          <a:solidFill>
            <a:srgbClr val="FFFFFF"/>
          </a:solidFill>
          <a:ln w="10160">
            <a:solidFill>
              <a:srgbClr val="696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47288" y="36576"/>
            <a:ext cx="2249424" cy="438912"/>
          </a:xfrm>
          <a:prstGeom prst="rect">
            <a:avLst/>
          </a:prstGeom>
          <a:solidFill>
            <a:srgbClr val="9C5252"/>
          </a:solidFill>
          <a:ln w="12700">
            <a:solidFill>
              <a:srgbClr val="7E9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00000"/>
                </a:solidFill>
                <a:latin typeface="Times New Roman"/>
              </a:rPr>
              <a:t>Data Dictionary</a:t>
            </a:r>
          </a:p>
        </p:txBody>
      </p:sp>
      <p:sp>
        <p:nvSpPr>
          <p:cNvPr id="6" name="Rectangle 5"/>
          <p:cNvSpPr/>
          <p:nvPr/>
        </p:nvSpPr>
        <p:spPr>
          <a:xfrm>
            <a:off x="3502152" y="832104"/>
            <a:ext cx="1737360" cy="32004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00000"/>
                </a:solidFill>
                <a:latin typeface="Arial"/>
              </a:rPr>
              <a:t>Table : roles</a:t>
            </a:r>
          </a:p>
        </p:txBody>
      </p:sp>
      <p:sp>
        <p:nvSpPr>
          <p:cNvPr id="7" name="TextBox 6"/>
          <p:cNvSpPr txBox="1"/>
          <p:nvPr/>
        </p:nvSpPr>
        <p:spPr>
          <a:xfrm>
            <a:off x="5312664" y="832104"/>
            <a:ext cx="320040" cy="320040"/>
          </a:xfrm>
          <a:prstGeom prst="rect">
            <a:avLst/>
          </a:prstGeom>
          <a:noFill/>
        </p:spPr>
        <p:txBody>
          <a:bodyPr wrap="none" anchor="ctr">
            <a:spAutoFit/>
          </a:bodyPr>
          <a:lstStyle/>
          <a:p>
            <a:pPr algn="l"/>
            <a:r>
              <a:rPr sz="1100">
                <a:solidFill>
                  <a:srgbClr val="000000"/>
                </a:solidFill>
                <a:latin typeface="Arial"/>
              </a:rPr>
              <a:t>:-</a:t>
            </a:r>
          </a:p>
        </p:txBody>
      </p:sp>
      <p:graphicFrame>
        <p:nvGraphicFramePr>
          <p:cNvPr id="8" name="Table 7"/>
          <p:cNvGraphicFramePr>
            <a:graphicFrameLocks noGrp="1"/>
          </p:cNvGraphicFramePr>
          <p:nvPr/>
        </p:nvGraphicFramePr>
        <p:xfrm>
          <a:off x="1170432" y="1225296"/>
          <a:ext cx="6949440" cy="5193790"/>
        </p:xfrm>
        <a:graphic>
          <a:graphicData uri="http://schemas.openxmlformats.org/drawingml/2006/table">
            <a:tbl>
              <a:tblPr firstRow="1" bandRow="1">
                <a:tableStyleId>{5C22544A-7EE6-4342-B048-85BDC9FD1C3A}</a:tableStyleId>
              </a:tblPr>
              <a:tblGrid>
                <a:gridCol w="1572768">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741970">
                <a:tc>
                  <a:txBody>
                    <a:bodyPr/>
                    <a:lstStyle/>
                    <a:p>
                      <a:pPr algn="l"/>
                      <a:r>
                        <a:rPr sz="1050" b="1">
                          <a:solidFill>
                            <a:srgbClr val="FFFFFF"/>
                          </a:solidFill>
                          <a:latin typeface="Arial"/>
                        </a:rPr>
                        <a:t>Field Name</a:t>
                      </a:r>
                    </a:p>
                  </a:txBody>
                  <a:tcPr marL="64008" marR="64008" marT="9144" marB="9144" anchor="ctr">
                    <a:solidFill>
                      <a:srgbClr val="6076B4"/>
                    </a:solidFill>
                  </a:tcPr>
                </a:tc>
                <a:tc>
                  <a:txBody>
                    <a:bodyPr/>
                    <a:lstStyle/>
                    <a:p>
                      <a:pPr algn="l"/>
                      <a:r>
                        <a:rPr sz="1050" b="1">
                          <a:solidFill>
                            <a:srgbClr val="FFFFFF"/>
                          </a:solidFill>
                          <a:latin typeface="Arial"/>
                        </a:rPr>
                        <a:t>Data Type</a:t>
                      </a:r>
                    </a:p>
                  </a:txBody>
                  <a:tcPr marL="64008" marR="64008" marT="9144" marB="9144" anchor="ctr">
                    <a:solidFill>
                      <a:srgbClr val="6076B4"/>
                    </a:solidFill>
                  </a:tcPr>
                </a:tc>
                <a:tc>
                  <a:txBody>
                    <a:bodyPr/>
                    <a:lstStyle/>
                    <a:p>
                      <a:pPr algn="l"/>
                      <a:r>
                        <a:rPr sz="1050" b="1">
                          <a:solidFill>
                            <a:srgbClr val="FFFFFF"/>
                          </a:solidFill>
                          <a:latin typeface="Arial"/>
                        </a:rPr>
                        <a:t>Key</a:t>
                      </a:r>
                    </a:p>
                  </a:txBody>
                  <a:tcPr marL="64008" marR="64008" marT="9144" marB="9144" anchor="ctr">
                    <a:solidFill>
                      <a:srgbClr val="6076B4"/>
                    </a:solidFill>
                  </a:tcPr>
                </a:tc>
                <a:tc>
                  <a:txBody>
                    <a:bodyPr/>
                    <a:lstStyle/>
                    <a:p>
                      <a:pPr algn="l"/>
                      <a:r>
                        <a:rPr sz="1050" b="1">
                          <a:solidFill>
                            <a:srgbClr val="FFFFFF"/>
                          </a:solidFill>
                          <a:latin typeface="Arial"/>
                        </a:rPr>
                        <a:t>Description</a:t>
                      </a:r>
                    </a:p>
                  </a:txBody>
                  <a:tcPr marL="64008" marR="64008" marT="9144" marB="9144" anchor="ctr">
                    <a:solidFill>
                      <a:srgbClr val="6076B4"/>
                    </a:solidFill>
                  </a:tcPr>
                </a:tc>
                <a:extLst>
                  <a:ext uri="{0D108BD9-81ED-4DB2-BD59-A6C34878D82A}">
                    <a16:rowId xmlns:a16="http://schemas.microsoft.com/office/drawing/2014/main" val="10000"/>
                  </a:ext>
                </a:extLst>
              </a:tr>
              <a:tr h="741970">
                <a:tc>
                  <a:txBody>
                    <a:bodyPr/>
                    <a:lstStyle/>
                    <a:p>
                      <a:pPr algn="l"/>
                      <a:r>
                        <a:rPr sz="950" b="0">
                          <a:solidFill>
                            <a:srgbClr val="000000"/>
                          </a:solidFill>
                          <a:latin typeface="Arial"/>
                        </a:rPr>
                        <a:t>id</a:t>
                      </a:r>
                    </a:p>
                  </a:txBody>
                  <a:tcPr marL="64008" marR="64008" marT="9144" marB="9144" anchor="ctr">
                    <a:solidFill>
                      <a:srgbClr val="EAEBF2"/>
                    </a:solidFill>
                  </a:tcPr>
                </a:tc>
                <a:tc>
                  <a:txBody>
                    <a:bodyPr/>
                    <a:lstStyle/>
                    <a:p>
                      <a:pPr algn="l"/>
                      <a:r>
                        <a:rPr sz="950" b="0">
                          <a:solidFill>
                            <a:srgbClr val="000000"/>
                          </a:solidFill>
                          <a:latin typeface="Arial"/>
                        </a:rPr>
                        <a:t>bigint(20) unsigned</a:t>
                      </a:r>
                    </a:p>
                  </a:txBody>
                  <a:tcPr marL="64008" marR="64008" marT="9144" marB="9144" anchor="ctr">
                    <a:solidFill>
                      <a:srgbClr val="EAEBF2"/>
                    </a:solidFill>
                  </a:tcPr>
                </a:tc>
                <a:tc>
                  <a:txBody>
                    <a:bodyPr/>
                    <a:lstStyle/>
                    <a:p>
                      <a:pPr algn="l"/>
                      <a:r>
                        <a:rPr sz="950" b="0">
                          <a:solidFill>
                            <a:srgbClr val="000000"/>
                          </a:solidFill>
                          <a:latin typeface="Arial"/>
                        </a:rPr>
                        <a:t>PK</a:t>
                      </a:r>
                    </a:p>
                  </a:txBody>
                  <a:tcPr marL="64008" marR="64008" marT="9144" marB="9144" anchor="ctr">
                    <a:solidFill>
                      <a:srgbClr val="EAEBF2"/>
                    </a:solidFill>
                  </a:tcPr>
                </a:tc>
                <a:tc>
                  <a:txBody>
                    <a:bodyPr/>
                    <a:lstStyle/>
                    <a:p>
                      <a:pPr algn="l"/>
                      <a:r>
                        <a:rPr sz="950" b="0">
                          <a:solidFill>
                            <a:srgbClr val="000000"/>
                          </a:solidFill>
                          <a:latin typeface="Arial"/>
                        </a:rPr>
                        <a:t>Unique role ID.</a:t>
                      </a:r>
                    </a:p>
                  </a:txBody>
                  <a:tcPr marL="64008" marR="64008" marT="9144" marB="9144" anchor="ctr">
                    <a:solidFill>
                      <a:srgbClr val="EAEBF2"/>
                    </a:solidFill>
                  </a:tcPr>
                </a:tc>
                <a:extLst>
                  <a:ext uri="{0D108BD9-81ED-4DB2-BD59-A6C34878D82A}">
                    <a16:rowId xmlns:a16="http://schemas.microsoft.com/office/drawing/2014/main" val="10001"/>
                  </a:ext>
                </a:extLst>
              </a:tr>
              <a:tr h="741970">
                <a:tc>
                  <a:txBody>
                    <a:bodyPr/>
                    <a:lstStyle/>
                    <a:p>
                      <a:pPr algn="l"/>
                      <a:r>
                        <a:rPr sz="950" b="0">
                          <a:solidFill>
                            <a:srgbClr val="000000"/>
                          </a:solidFill>
                          <a:latin typeface="Arial"/>
                        </a:rPr>
                        <a:t>name</a:t>
                      </a:r>
                    </a:p>
                  </a:txBody>
                  <a:tcPr marL="64008" marR="64008" marT="9144" marB="9144" anchor="ctr">
                    <a:solidFill>
                      <a:srgbClr val="D2D5E4"/>
                    </a:solidFill>
                  </a:tcPr>
                </a:tc>
                <a:tc>
                  <a:txBody>
                    <a:bodyPr/>
                    <a:lstStyle/>
                    <a:p>
                      <a:pPr algn="l"/>
                      <a:r>
                        <a:rPr sz="950" b="0">
                          <a:solidFill>
                            <a:srgbClr val="000000"/>
                          </a:solidFill>
                          <a:latin typeface="Arial"/>
                        </a:rPr>
                        <a:t>varchar(50)</a:t>
                      </a:r>
                    </a:p>
                  </a:txBody>
                  <a:tcPr marL="64008" marR="64008" marT="9144" marB="9144" anchor="ctr">
                    <a:solidFill>
                      <a:srgbClr val="D2D5E4"/>
                    </a:solidFill>
                  </a:tcPr>
                </a:tc>
                <a:tc>
                  <a:txBody>
                    <a:bodyPr/>
                    <a:lstStyle/>
                    <a:p>
                      <a:pPr algn="l"/>
                      <a:r>
                        <a:rPr sz="950" b="0">
                          <a:solidFill>
                            <a:srgbClr val="000000"/>
                          </a:solidFill>
                          <a:latin typeface="Arial"/>
                        </a:rPr>
                        <a:t>—</a:t>
                      </a:r>
                    </a:p>
                  </a:txBody>
                  <a:tcPr marL="64008" marR="64008" marT="9144" marB="9144" anchor="ctr">
                    <a:solidFill>
                      <a:srgbClr val="D2D5E4"/>
                    </a:solidFill>
                  </a:tcPr>
                </a:tc>
                <a:tc>
                  <a:txBody>
                    <a:bodyPr/>
                    <a:lstStyle/>
                    <a:p>
                      <a:pPr algn="l"/>
                      <a:r>
                        <a:rPr sz="950" b="0">
                          <a:solidFill>
                            <a:srgbClr val="000000"/>
                          </a:solidFill>
                          <a:latin typeface="Arial"/>
                        </a:rPr>
                        <a:t>Role name such as Super Admin or Restaurant Owner.</a:t>
                      </a:r>
                    </a:p>
                  </a:txBody>
                  <a:tcPr marL="64008" marR="64008" marT="9144" marB="9144" anchor="ctr">
                    <a:solidFill>
                      <a:srgbClr val="D2D5E4"/>
                    </a:solidFill>
                  </a:tcPr>
                </a:tc>
                <a:extLst>
                  <a:ext uri="{0D108BD9-81ED-4DB2-BD59-A6C34878D82A}">
                    <a16:rowId xmlns:a16="http://schemas.microsoft.com/office/drawing/2014/main" val="10002"/>
                  </a:ext>
                </a:extLst>
              </a:tr>
              <a:tr h="741970">
                <a:tc>
                  <a:txBody>
                    <a:bodyPr/>
                    <a:lstStyle/>
                    <a:p>
                      <a:pPr algn="l"/>
                      <a:r>
                        <a:rPr sz="950" b="0">
                          <a:solidFill>
                            <a:srgbClr val="000000"/>
                          </a:solidFill>
                          <a:latin typeface="Arial"/>
                        </a:rPr>
                        <a:t>slug</a:t>
                      </a:r>
                    </a:p>
                  </a:txBody>
                  <a:tcPr marL="64008" marR="64008" marT="9144" marB="9144" anchor="ctr">
                    <a:solidFill>
                      <a:srgbClr val="EAEBF2"/>
                    </a:solidFill>
                  </a:tcPr>
                </a:tc>
                <a:tc>
                  <a:txBody>
                    <a:bodyPr/>
                    <a:lstStyle/>
                    <a:p>
                      <a:pPr algn="l"/>
                      <a:r>
                        <a:rPr sz="950" b="0">
                          <a:solidFill>
                            <a:srgbClr val="000000"/>
                          </a:solidFill>
                          <a:latin typeface="Arial"/>
                        </a:rPr>
                        <a:t>varchar(50)</a:t>
                      </a:r>
                    </a:p>
                  </a:txBody>
                  <a:tcPr marL="64008" marR="64008" marT="9144" marB="9144" anchor="ctr">
                    <a:solidFill>
                      <a:srgbClr val="EAEBF2"/>
                    </a:solidFill>
                  </a:tcPr>
                </a:tc>
                <a:tc>
                  <a:txBody>
                    <a:bodyPr/>
                    <a:lstStyle/>
                    <a:p>
                      <a:pPr algn="l"/>
                      <a:r>
                        <a:rPr sz="950" b="0">
                          <a:solidFill>
                            <a:srgbClr val="000000"/>
                          </a:solidFill>
                          <a:latin typeface="Arial"/>
                        </a:rPr>
                        <a:t>UNI</a:t>
                      </a:r>
                    </a:p>
                  </a:txBody>
                  <a:tcPr marL="64008" marR="64008" marT="9144" marB="9144" anchor="ctr">
                    <a:solidFill>
                      <a:srgbClr val="EAEBF2"/>
                    </a:solidFill>
                  </a:tcPr>
                </a:tc>
                <a:tc>
                  <a:txBody>
                    <a:bodyPr/>
                    <a:lstStyle/>
                    <a:p>
                      <a:pPr algn="l"/>
                      <a:r>
                        <a:rPr sz="950" b="0">
                          <a:solidFill>
                            <a:srgbClr val="000000"/>
                          </a:solidFill>
                          <a:latin typeface="Arial"/>
                        </a:rPr>
                        <a:t>Unique role identifier.</a:t>
                      </a:r>
                    </a:p>
                  </a:txBody>
                  <a:tcPr marL="64008" marR="64008" marT="9144" marB="9144" anchor="ctr">
                    <a:solidFill>
                      <a:srgbClr val="EAEBF2"/>
                    </a:solidFill>
                  </a:tcPr>
                </a:tc>
                <a:extLst>
                  <a:ext uri="{0D108BD9-81ED-4DB2-BD59-A6C34878D82A}">
                    <a16:rowId xmlns:a16="http://schemas.microsoft.com/office/drawing/2014/main" val="10003"/>
                  </a:ext>
                </a:extLst>
              </a:tr>
              <a:tr h="741970">
                <a:tc>
                  <a:txBody>
                    <a:bodyPr/>
                    <a:lstStyle/>
                    <a:p>
                      <a:pPr algn="l"/>
                      <a:r>
                        <a:rPr sz="950" b="0">
                          <a:solidFill>
                            <a:srgbClr val="000000"/>
                          </a:solidFill>
                          <a:latin typeface="Arial"/>
                        </a:rPr>
                        <a:t>description</a:t>
                      </a:r>
                    </a:p>
                  </a:txBody>
                  <a:tcPr marL="64008" marR="64008" marT="9144" marB="9144" anchor="ctr">
                    <a:solidFill>
                      <a:srgbClr val="D2D5E4"/>
                    </a:solidFill>
                  </a:tcPr>
                </a:tc>
                <a:tc>
                  <a:txBody>
                    <a:bodyPr/>
                    <a:lstStyle/>
                    <a:p>
                      <a:pPr algn="l"/>
                      <a:r>
                        <a:rPr sz="950" b="0">
                          <a:solidFill>
                            <a:srgbClr val="000000"/>
                          </a:solidFill>
                          <a:latin typeface="Arial"/>
                        </a:rPr>
                        <a:t>varchar(255)</a:t>
                      </a:r>
                    </a:p>
                  </a:txBody>
                  <a:tcPr marL="64008" marR="64008" marT="9144" marB="9144" anchor="ctr">
                    <a:solidFill>
                      <a:srgbClr val="D2D5E4"/>
                    </a:solidFill>
                  </a:tcPr>
                </a:tc>
                <a:tc>
                  <a:txBody>
                    <a:bodyPr/>
                    <a:lstStyle/>
                    <a:p>
                      <a:pPr algn="l"/>
                      <a:r>
                        <a:rPr sz="950" b="0">
                          <a:solidFill>
                            <a:srgbClr val="000000"/>
                          </a:solidFill>
                          <a:latin typeface="Arial"/>
                        </a:rPr>
                        <a:t>—</a:t>
                      </a:r>
                    </a:p>
                  </a:txBody>
                  <a:tcPr marL="64008" marR="64008" marT="9144" marB="9144" anchor="ctr">
                    <a:solidFill>
                      <a:srgbClr val="D2D5E4"/>
                    </a:solidFill>
                  </a:tcPr>
                </a:tc>
                <a:tc>
                  <a:txBody>
                    <a:bodyPr/>
                    <a:lstStyle/>
                    <a:p>
                      <a:pPr algn="l"/>
                      <a:r>
                        <a:rPr sz="950" b="0">
                          <a:solidFill>
                            <a:srgbClr val="000000"/>
                          </a:solidFill>
                          <a:latin typeface="Arial"/>
                        </a:rPr>
                        <a:t>Description of role permissions.</a:t>
                      </a:r>
                    </a:p>
                  </a:txBody>
                  <a:tcPr marL="64008" marR="64008" marT="9144" marB="9144" anchor="ctr">
                    <a:solidFill>
                      <a:srgbClr val="D2D5E4"/>
                    </a:solidFill>
                  </a:tcPr>
                </a:tc>
                <a:extLst>
                  <a:ext uri="{0D108BD9-81ED-4DB2-BD59-A6C34878D82A}">
                    <a16:rowId xmlns:a16="http://schemas.microsoft.com/office/drawing/2014/main" val="10004"/>
                  </a:ext>
                </a:extLst>
              </a:tr>
              <a:tr h="741970">
                <a:tc>
                  <a:txBody>
                    <a:bodyPr/>
                    <a:lstStyle/>
                    <a:p>
                      <a:pPr algn="l"/>
                      <a:r>
                        <a:rPr sz="950" b="0">
                          <a:solidFill>
                            <a:srgbClr val="000000"/>
                          </a:solidFill>
                          <a:latin typeface="Arial"/>
                        </a:rPr>
                        <a:t>created_at</a:t>
                      </a:r>
                    </a:p>
                  </a:txBody>
                  <a:tcPr marL="64008" marR="64008" marT="9144" marB="9144" anchor="ctr">
                    <a:solidFill>
                      <a:srgbClr val="EAEBF2"/>
                    </a:solidFill>
                  </a:tcPr>
                </a:tc>
                <a:tc>
                  <a:txBody>
                    <a:bodyPr/>
                    <a:lstStyle/>
                    <a:p>
                      <a:pPr algn="l"/>
                      <a:r>
                        <a:rPr sz="950" b="0">
                          <a:solidFill>
                            <a:srgbClr val="000000"/>
                          </a:solidFill>
                          <a:latin typeface="Arial"/>
                        </a:rPr>
                        <a:t>timestamp</a:t>
                      </a:r>
                    </a:p>
                  </a:txBody>
                  <a:tcPr marL="64008" marR="64008" marT="9144" marB="9144" anchor="ctr">
                    <a:solidFill>
                      <a:srgbClr val="EAEBF2"/>
                    </a:solidFill>
                  </a:tcPr>
                </a:tc>
                <a:tc>
                  <a:txBody>
                    <a:bodyPr/>
                    <a:lstStyle/>
                    <a:p>
                      <a:pPr algn="l"/>
                      <a:r>
                        <a:rPr sz="950" b="0">
                          <a:solidFill>
                            <a:srgbClr val="000000"/>
                          </a:solidFill>
                          <a:latin typeface="Arial"/>
                        </a:rPr>
                        <a:t>—</a:t>
                      </a:r>
                    </a:p>
                  </a:txBody>
                  <a:tcPr marL="64008" marR="64008" marT="9144" marB="9144" anchor="ctr">
                    <a:solidFill>
                      <a:srgbClr val="EAEBF2"/>
                    </a:solidFill>
                  </a:tcPr>
                </a:tc>
                <a:tc>
                  <a:txBody>
                    <a:bodyPr/>
                    <a:lstStyle/>
                    <a:p>
                      <a:pPr algn="l"/>
                      <a:r>
                        <a:rPr sz="950" b="0">
                          <a:solidFill>
                            <a:srgbClr val="000000"/>
                          </a:solidFill>
                          <a:latin typeface="Arial"/>
                        </a:rPr>
                        <a:t>Date and time the role was created.</a:t>
                      </a:r>
                    </a:p>
                  </a:txBody>
                  <a:tcPr marL="64008" marR="64008" marT="9144" marB="9144" anchor="ctr">
                    <a:solidFill>
                      <a:srgbClr val="EAEBF2"/>
                    </a:solidFill>
                  </a:tcPr>
                </a:tc>
                <a:extLst>
                  <a:ext uri="{0D108BD9-81ED-4DB2-BD59-A6C34878D82A}">
                    <a16:rowId xmlns:a16="http://schemas.microsoft.com/office/drawing/2014/main" val="10005"/>
                  </a:ext>
                </a:extLst>
              </a:tr>
              <a:tr h="741970">
                <a:tc>
                  <a:txBody>
                    <a:bodyPr/>
                    <a:lstStyle/>
                    <a:p>
                      <a:pPr algn="l"/>
                      <a:r>
                        <a:rPr sz="950" b="0">
                          <a:solidFill>
                            <a:srgbClr val="000000"/>
                          </a:solidFill>
                          <a:latin typeface="Arial"/>
                        </a:rPr>
                        <a:t>updated_at</a:t>
                      </a:r>
                    </a:p>
                  </a:txBody>
                  <a:tcPr marL="64008" marR="64008" marT="9144" marB="9144" anchor="ctr">
                    <a:solidFill>
                      <a:srgbClr val="D2D5E4"/>
                    </a:solidFill>
                  </a:tcPr>
                </a:tc>
                <a:tc>
                  <a:txBody>
                    <a:bodyPr/>
                    <a:lstStyle/>
                    <a:p>
                      <a:pPr algn="l"/>
                      <a:r>
                        <a:rPr sz="950" b="0">
                          <a:solidFill>
                            <a:srgbClr val="000000"/>
                          </a:solidFill>
                          <a:latin typeface="Arial"/>
                        </a:rPr>
                        <a:t>timestamp</a:t>
                      </a:r>
                    </a:p>
                  </a:txBody>
                  <a:tcPr marL="64008" marR="64008" marT="9144" marB="9144" anchor="ctr">
                    <a:solidFill>
                      <a:srgbClr val="D2D5E4"/>
                    </a:solidFill>
                  </a:tcPr>
                </a:tc>
                <a:tc>
                  <a:txBody>
                    <a:bodyPr/>
                    <a:lstStyle/>
                    <a:p>
                      <a:pPr algn="l"/>
                      <a:r>
                        <a:rPr sz="950" b="0">
                          <a:solidFill>
                            <a:srgbClr val="000000"/>
                          </a:solidFill>
                          <a:latin typeface="Arial"/>
                        </a:rPr>
                        <a:t>—</a:t>
                      </a:r>
                    </a:p>
                  </a:txBody>
                  <a:tcPr marL="64008" marR="64008" marT="9144" marB="9144" anchor="ctr">
                    <a:solidFill>
                      <a:srgbClr val="D2D5E4"/>
                    </a:solidFill>
                  </a:tcPr>
                </a:tc>
                <a:tc>
                  <a:txBody>
                    <a:bodyPr/>
                    <a:lstStyle/>
                    <a:p>
                      <a:pPr algn="l"/>
                      <a:r>
                        <a:rPr sz="950" b="0">
                          <a:solidFill>
                            <a:srgbClr val="000000"/>
                          </a:solidFill>
                          <a:latin typeface="Arial"/>
                        </a:rPr>
                        <a:t>Date and time the role was last updated.</a:t>
                      </a:r>
                    </a:p>
                  </a:txBody>
                  <a:tcPr marL="64008" marR="64008" marT="9144" marB="9144" anchor="ctr">
                    <a:solidFill>
                      <a:srgbClr val="D2D5E4"/>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13.png"/>
          <p:cNvPicPr>
            <a:picLocks noChangeAspect="1"/>
          </p:cNvPicPr>
          <p:nvPr/>
        </p:nvPicPr>
        <p:blipFill>
          <a:blip r:embed="rId2"/>
          <a:stretch>
            <a:fillRect/>
          </a:stretch>
        </p:blipFill>
        <p:spPr>
          <a:xfrm>
            <a:off x="0" y="0"/>
            <a:ext cx="9144000" cy="6858000"/>
          </a:xfrm>
          <a:prstGeom prst="rect">
            <a:avLst/>
          </a:prstGeom>
        </p:spPr>
      </p:pic>
      <p:sp>
        <p:nvSpPr>
          <p:cNvPr id="6" name="Rectangle 5"/>
          <p:cNvSpPr/>
          <p:nvPr/>
        </p:nvSpPr>
        <p:spPr>
          <a:xfrm>
            <a:off x="3596900" y="786382"/>
            <a:ext cx="2035804" cy="377664"/>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000000"/>
                </a:solidFill>
                <a:latin typeface="Arial"/>
              </a:rPr>
              <a:t>Table : users</a:t>
            </a:r>
          </a:p>
        </p:txBody>
      </p:sp>
      <p:graphicFrame>
        <p:nvGraphicFramePr>
          <p:cNvPr id="8" name="Table 7"/>
          <p:cNvGraphicFramePr>
            <a:graphicFrameLocks noGrp="1"/>
          </p:cNvGraphicFramePr>
          <p:nvPr>
            <p:extLst>
              <p:ext uri="{D42A27DB-BD31-4B8C-83A1-F6EECF244321}">
                <p14:modId xmlns:p14="http://schemas.microsoft.com/office/powerpoint/2010/main" val="1247262326"/>
              </p:ext>
            </p:extLst>
          </p:nvPr>
        </p:nvGraphicFramePr>
        <p:xfrm>
          <a:off x="1115616" y="1225296"/>
          <a:ext cx="7004257" cy="5193790"/>
        </p:xfrm>
        <a:graphic>
          <a:graphicData uri="http://schemas.openxmlformats.org/drawingml/2006/table">
            <a:tbl>
              <a:tblPr firstRow="1" bandRow="1">
                <a:tableStyleId>{5C22544A-7EE6-4342-B048-85BDC9FD1C3A}</a:tableStyleId>
              </a:tblPr>
              <a:tblGrid>
                <a:gridCol w="1585174">
                  <a:extLst>
                    <a:ext uri="{9D8B030D-6E8A-4147-A177-3AD203B41FA5}">
                      <a16:colId xmlns:a16="http://schemas.microsoft.com/office/drawing/2014/main" val="20000"/>
                    </a:ext>
                  </a:extLst>
                </a:gridCol>
                <a:gridCol w="1732632">
                  <a:extLst>
                    <a:ext uri="{9D8B030D-6E8A-4147-A177-3AD203B41FA5}">
                      <a16:colId xmlns:a16="http://schemas.microsoft.com/office/drawing/2014/main" val="20001"/>
                    </a:ext>
                  </a:extLst>
                </a:gridCol>
                <a:gridCol w="700426">
                  <a:extLst>
                    <a:ext uri="{9D8B030D-6E8A-4147-A177-3AD203B41FA5}">
                      <a16:colId xmlns:a16="http://schemas.microsoft.com/office/drawing/2014/main" val="20002"/>
                    </a:ext>
                  </a:extLst>
                </a:gridCol>
                <a:gridCol w="2986025">
                  <a:extLst>
                    <a:ext uri="{9D8B030D-6E8A-4147-A177-3AD203B41FA5}">
                      <a16:colId xmlns:a16="http://schemas.microsoft.com/office/drawing/2014/main" val="20003"/>
                    </a:ext>
                  </a:extLst>
                </a:gridCol>
              </a:tblGrid>
              <a:tr h="519379">
                <a:tc>
                  <a:txBody>
                    <a:bodyPr/>
                    <a:lstStyle/>
                    <a:p>
                      <a:pPr algn="l"/>
                      <a:r>
                        <a:rPr sz="1050" b="1">
                          <a:solidFill>
                            <a:srgbClr val="FFFFFF"/>
                          </a:solidFill>
                          <a:latin typeface="Arial"/>
                        </a:rPr>
                        <a:t>Field Name</a:t>
                      </a:r>
                    </a:p>
                  </a:txBody>
                  <a:tcPr marL="64008" marR="64008" marT="9144" marB="9144" anchor="ctr">
                    <a:solidFill>
                      <a:srgbClr val="6076B4"/>
                    </a:solidFill>
                  </a:tcPr>
                </a:tc>
                <a:tc>
                  <a:txBody>
                    <a:bodyPr/>
                    <a:lstStyle/>
                    <a:p>
                      <a:pPr algn="l"/>
                      <a:r>
                        <a:rPr sz="1050" b="1">
                          <a:solidFill>
                            <a:srgbClr val="FFFFFF"/>
                          </a:solidFill>
                          <a:latin typeface="Arial"/>
                        </a:rPr>
                        <a:t>Data Type</a:t>
                      </a:r>
                    </a:p>
                  </a:txBody>
                  <a:tcPr marL="64008" marR="64008" marT="9144" marB="9144" anchor="ctr">
                    <a:solidFill>
                      <a:srgbClr val="6076B4"/>
                    </a:solidFill>
                  </a:tcPr>
                </a:tc>
                <a:tc>
                  <a:txBody>
                    <a:bodyPr/>
                    <a:lstStyle/>
                    <a:p>
                      <a:pPr algn="l"/>
                      <a:r>
                        <a:rPr sz="1050" b="1">
                          <a:solidFill>
                            <a:srgbClr val="FFFFFF"/>
                          </a:solidFill>
                          <a:latin typeface="Arial"/>
                        </a:rPr>
                        <a:t>Key</a:t>
                      </a:r>
                    </a:p>
                  </a:txBody>
                  <a:tcPr marL="64008" marR="64008" marT="9144" marB="9144" anchor="ctr">
                    <a:solidFill>
                      <a:srgbClr val="6076B4"/>
                    </a:solidFill>
                  </a:tcPr>
                </a:tc>
                <a:tc>
                  <a:txBody>
                    <a:bodyPr/>
                    <a:lstStyle/>
                    <a:p>
                      <a:pPr algn="l"/>
                      <a:r>
                        <a:rPr sz="1050" b="1">
                          <a:solidFill>
                            <a:srgbClr val="FFFFFF"/>
                          </a:solidFill>
                          <a:latin typeface="Arial"/>
                        </a:rPr>
                        <a:t>Description</a:t>
                      </a:r>
                    </a:p>
                  </a:txBody>
                  <a:tcPr marL="64008" marR="64008" marT="9144" marB="9144" anchor="ctr">
                    <a:solidFill>
                      <a:srgbClr val="6076B4"/>
                    </a:solidFill>
                  </a:tcPr>
                </a:tc>
                <a:extLst>
                  <a:ext uri="{0D108BD9-81ED-4DB2-BD59-A6C34878D82A}">
                    <a16:rowId xmlns:a16="http://schemas.microsoft.com/office/drawing/2014/main" val="10000"/>
                  </a:ext>
                </a:extLst>
              </a:tr>
              <a:tr h="519379">
                <a:tc>
                  <a:txBody>
                    <a:bodyPr/>
                    <a:lstStyle/>
                    <a:p>
                      <a:pPr algn="l"/>
                      <a:r>
                        <a:rPr sz="850" b="0">
                          <a:solidFill>
                            <a:srgbClr val="000000"/>
                          </a:solidFill>
                          <a:latin typeface="Arial"/>
                        </a:rPr>
                        <a:t>id</a:t>
                      </a:r>
                    </a:p>
                  </a:txBody>
                  <a:tcPr marL="64008" marR="64008" marT="9144" marB="9144" anchor="ctr">
                    <a:solidFill>
                      <a:srgbClr val="EAEBF2"/>
                    </a:solidFill>
                  </a:tcPr>
                </a:tc>
                <a:tc>
                  <a:txBody>
                    <a:bodyPr/>
                    <a:lstStyle/>
                    <a:p>
                      <a:pPr algn="l"/>
                      <a:r>
                        <a:rPr sz="850" b="0" dirty="0" err="1">
                          <a:solidFill>
                            <a:srgbClr val="000000"/>
                          </a:solidFill>
                          <a:latin typeface="Arial"/>
                        </a:rPr>
                        <a:t>bigint</a:t>
                      </a:r>
                      <a:r>
                        <a:rPr sz="850" b="0" dirty="0">
                          <a:solidFill>
                            <a:srgbClr val="000000"/>
                          </a:solidFill>
                          <a:latin typeface="Arial"/>
                        </a:rPr>
                        <a:t>(20) unsigned</a:t>
                      </a:r>
                    </a:p>
                  </a:txBody>
                  <a:tcPr marL="64008" marR="64008" marT="9144" marB="9144" anchor="ctr">
                    <a:solidFill>
                      <a:srgbClr val="EAEBF2"/>
                    </a:solidFill>
                  </a:tcPr>
                </a:tc>
                <a:tc>
                  <a:txBody>
                    <a:bodyPr/>
                    <a:lstStyle/>
                    <a:p>
                      <a:pPr algn="l"/>
                      <a:r>
                        <a:rPr sz="850" b="0" dirty="0">
                          <a:solidFill>
                            <a:srgbClr val="000000"/>
                          </a:solidFill>
                          <a:latin typeface="Arial"/>
                        </a:rPr>
                        <a:t>PK</a:t>
                      </a:r>
                    </a:p>
                  </a:txBody>
                  <a:tcPr marL="64008" marR="64008" marT="9144" marB="9144" anchor="ctr">
                    <a:solidFill>
                      <a:srgbClr val="EAEBF2"/>
                    </a:solidFill>
                  </a:tcPr>
                </a:tc>
                <a:tc>
                  <a:txBody>
                    <a:bodyPr/>
                    <a:lstStyle/>
                    <a:p>
                      <a:pPr algn="l"/>
                      <a:r>
                        <a:rPr sz="850" b="0">
                          <a:solidFill>
                            <a:srgbClr val="000000"/>
                          </a:solidFill>
                          <a:latin typeface="Arial"/>
                        </a:rPr>
                        <a:t>Unique user account ID.</a:t>
                      </a:r>
                    </a:p>
                  </a:txBody>
                  <a:tcPr marL="64008" marR="64008" marT="9144" marB="9144" anchor="ctr">
                    <a:solidFill>
                      <a:srgbClr val="EAEBF2"/>
                    </a:solidFill>
                  </a:tcPr>
                </a:tc>
                <a:extLst>
                  <a:ext uri="{0D108BD9-81ED-4DB2-BD59-A6C34878D82A}">
                    <a16:rowId xmlns:a16="http://schemas.microsoft.com/office/drawing/2014/main" val="10001"/>
                  </a:ext>
                </a:extLst>
              </a:tr>
              <a:tr h="519379">
                <a:tc>
                  <a:txBody>
                    <a:bodyPr/>
                    <a:lstStyle/>
                    <a:p>
                      <a:pPr algn="l"/>
                      <a:r>
                        <a:rPr sz="850" b="0">
                          <a:solidFill>
                            <a:srgbClr val="000000"/>
                          </a:solidFill>
                          <a:latin typeface="Arial"/>
                        </a:rPr>
                        <a:t>role_id</a:t>
                      </a:r>
                    </a:p>
                  </a:txBody>
                  <a:tcPr marL="64008" marR="64008" marT="9144" marB="9144" anchor="ctr">
                    <a:solidFill>
                      <a:srgbClr val="D2D5E4"/>
                    </a:solidFill>
                  </a:tcPr>
                </a:tc>
                <a:tc>
                  <a:txBody>
                    <a:bodyPr/>
                    <a:lstStyle/>
                    <a:p>
                      <a:pPr algn="l"/>
                      <a:r>
                        <a:rPr sz="850" b="0">
                          <a:solidFill>
                            <a:srgbClr val="000000"/>
                          </a:solidFill>
                          <a:latin typeface="Arial"/>
                        </a:rPr>
                        <a:t>bigint(20) unsigned</a:t>
                      </a:r>
                    </a:p>
                  </a:txBody>
                  <a:tcPr marL="64008" marR="64008" marT="9144" marB="9144" anchor="ctr">
                    <a:solidFill>
                      <a:srgbClr val="D2D5E4"/>
                    </a:solidFill>
                  </a:tcPr>
                </a:tc>
                <a:tc>
                  <a:txBody>
                    <a:bodyPr/>
                    <a:lstStyle/>
                    <a:p>
                      <a:pPr algn="l"/>
                      <a:r>
                        <a:rPr sz="850" b="0">
                          <a:solidFill>
                            <a:srgbClr val="000000"/>
                          </a:solidFill>
                          <a:latin typeface="Arial"/>
                        </a:rPr>
                        <a:t>FK/IDX</a:t>
                      </a:r>
                    </a:p>
                  </a:txBody>
                  <a:tcPr marL="64008" marR="64008" marT="9144" marB="9144" anchor="ctr">
                    <a:solidFill>
                      <a:srgbClr val="D2D5E4"/>
                    </a:solidFill>
                  </a:tcPr>
                </a:tc>
                <a:tc>
                  <a:txBody>
                    <a:bodyPr/>
                    <a:lstStyle/>
                    <a:p>
                      <a:pPr algn="l"/>
                      <a:r>
                        <a:rPr sz="850" b="0">
                          <a:solidFill>
                            <a:srgbClr val="000000"/>
                          </a:solidFill>
                          <a:latin typeface="Arial"/>
                        </a:rPr>
                        <a:t>Links the user to an authorization role.</a:t>
                      </a:r>
                    </a:p>
                  </a:txBody>
                  <a:tcPr marL="64008" marR="64008" marT="9144" marB="9144" anchor="ctr">
                    <a:solidFill>
                      <a:srgbClr val="D2D5E4"/>
                    </a:solidFill>
                  </a:tcPr>
                </a:tc>
                <a:extLst>
                  <a:ext uri="{0D108BD9-81ED-4DB2-BD59-A6C34878D82A}">
                    <a16:rowId xmlns:a16="http://schemas.microsoft.com/office/drawing/2014/main" val="10002"/>
                  </a:ext>
                </a:extLst>
              </a:tr>
              <a:tr h="519379">
                <a:tc>
                  <a:txBody>
                    <a:bodyPr/>
                    <a:lstStyle/>
                    <a:p>
                      <a:pPr algn="l"/>
                      <a:r>
                        <a:rPr sz="850" b="0">
                          <a:solidFill>
                            <a:srgbClr val="000000"/>
                          </a:solidFill>
                          <a:latin typeface="Arial"/>
                        </a:rPr>
                        <a:t>restaurant_id</a:t>
                      </a:r>
                    </a:p>
                  </a:txBody>
                  <a:tcPr marL="64008" marR="64008" marT="9144" marB="9144" anchor="ctr">
                    <a:solidFill>
                      <a:srgbClr val="EAEBF2"/>
                    </a:solidFill>
                  </a:tcPr>
                </a:tc>
                <a:tc>
                  <a:txBody>
                    <a:bodyPr/>
                    <a:lstStyle/>
                    <a:p>
                      <a:pPr algn="l"/>
                      <a:r>
                        <a:rPr sz="850" b="0">
                          <a:solidFill>
                            <a:srgbClr val="000000"/>
                          </a:solidFill>
                          <a:latin typeface="Arial"/>
                        </a:rPr>
                        <a:t>bigint(20) unsigned</a:t>
                      </a:r>
                    </a:p>
                  </a:txBody>
                  <a:tcPr marL="64008" marR="64008" marT="9144" marB="9144" anchor="ctr">
                    <a:solidFill>
                      <a:srgbClr val="EAEBF2"/>
                    </a:solidFill>
                  </a:tcPr>
                </a:tc>
                <a:tc>
                  <a:txBody>
                    <a:bodyPr/>
                    <a:lstStyle/>
                    <a:p>
                      <a:pPr algn="l"/>
                      <a:r>
                        <a:rPr sz="850" b="0">
                          <a:solidFill>
                            <a:srgbClr val="000000"/>
                          </a:solidFill>
                          <a:latin typeface="Arial"/>
                        </a:rPr>
                        <a:t>FK/IDX</a:t>
                      </a:r>
                    </a:p>
                  </a:txBody>
                  <a:tcPr marL="64008" marR="64008" marT="9144" marB="9144" anchor="ctr">
                    <a:solidFill>
                      <a:srgbClr val="EAEBF2"/>
                    </a:solidFill>
                  </a:tcPr>
                </a:tc>
                <a:tc>
                  <a:txBody>
                    <a:bodyPr/>
                    <a:lstStyle/>
                    <a:p>
                      <a:pPr algn="l"/>
                      <a:r>
                        <a:rPr sz="850" b="0">
                          <a:solidFill>
                            <a:srgbClr val="000000"/>
                          </a:solidFill>
                          <a:latin typeface="Arial"/>
                        </a:rPr>
                        <a:t>Optional restaurant scope for the user.</a:t>
                      </a:r>
                    </a:p>
                  </a:txBody>
                  <a:tcPr marL="64008" marR="64008" marT="9144" marB="9144" anchor="ctr">
                    <a:solidFill>
                      <a:srgbClr val="EAEBF2"/>
                    </a:solidFill>
                  </a:tcPr>
                </a:tc>
                <a:extLst>
                  <a:ext uri="{0D108BD9-81ED-4DB2-BD59-A6C34878D82A}">
                    <a16:rowId xmlns:a16="http://schemas.microsoft.com/office/drawing/2014/main" val="10003"/>
                  </a:ext>
                </a:extLst>
              </a:tr>
              <a:tr h="519379">
                <a:tc>
                  <a:txBody>
                    <a:bodyPr/>
                    <a:lstStyle/>
                    <a:p>
                      <a:pPr algn="l"/>
                      <a:r>
                        <a:rPr sz="850" b="0">
                          <a:solidFill>
                            <a:srgbClr val="000000"/>
                          </a:solidFill>
                          <a:latin typeface="Arial"/>
                        </a:rPr>
                        <a:t>name</a:t>
                      </a:r>
                    </a:p>
                  </a:txBody>
                  <a:tcPr marL="64008" marR="64008" marT="9144" marB="9144" anchor="ctr">
                    <a:solidFill>
                      <a:srgbClr val="D2D5E4"/>
                    </a:solidFill>
                  </a:tcPr>
                </a:tc>
                <a:tc>
                  <a:txBody>
                    <a:bodyPr/>
                    <a:lstStyle/>
                    <a:p>
                      <a:pPr algn="l"/>
                      <a:r>
                        <a:rPr sz="850" b="0">
                          <a:solidFill>
                            <a:srgbClr val="000000"/>
                          </a:solidFill>
                          <a:latin typeface="Arial"/>
                        </a:rPr>
                        <a:t>varchar(120)</a:t>
                      </a:r>
                    </a:p>
                  </a:txBody>
                  <a:tcPr marL="64008" marR="64008" marT="9144" marB="9144" anchor="ctr">
                    <a:solidFill>
                      <a:srgbClr val="D2D5E4"/>
                    </a:solidFill>
                  </a:tcPr>
                </a:tc>
                <a:tc>
                  <a:txBody>
                    <a:bodyPr/>
                    <a:lstStyle/>
                    <a:p>
                      <a:pPr algn="l"/>
                      <a:r>
                        <a:rPr sz="850" b="0">
                          <a:solidFill>
                            <a:srgbClr val="000000"/>
                          </a:solidFill>
                          <a:latin typeface="Arial"/>
                        </a:rPr>
                        <a:t>—</a:t>
                      </a:r>
                    </a:p>
                  </a:txBody>
                  <a:tcPr marL="64008" marR="64008" marT="9144" marB="9144" anchor="ctr">
                    <a:solidFill>
                      <a:srgbClr val="D2D5E4"/>
                    </a:solidFill>
                  </a:tcPr>
                </a:tc>
                <a:tc>
                  <a:txBody>
                    <a:bodyPr/>
                    <a:lstStyle/>
                    <a:p>
                      <a:pPr algn="l"/>
                      <a:r>
                        <a:rPr sz="850" b="0">
                          <a:solidFill>
                            <a:srgbClr val="000000"/>
                          </a:solidFill>
                          <a:latin typeface="Arial"/>
                        </a:rPr>
                        <a:t>User's display name.</a:t>
                      </a:r>
                    </a:p>
                  </a:txBody>
                  <a:tcPr marL="64008" marR="64008" marT="9144" marB="9144" anchor="ctr">
                    <a:solidFill>
                      <a:srgbClr val="D2D5E4"/>
                    </a:solidFill>
                  </a:tcPr>
                </a:tc>
                <a:extLst>
                  <a:ext uri="{0D108BD9-81ED-4DB2-BD59-A6C34878D82A}">
                    <a16:rowId xmlns:a16="http://schemas.microsoft.com/office/drawing/2014/main" val="10004"/>
                  </a:ext>
                </a:extLst>
              </a:tr>
              <a:tr h="519379">
                <a:tc>
                  <a:txBody>
                    <a:bodyPr/>
                    <a:lstStyle/>
                    <a:p>
                      <a:pPr algn="l"/>
                      <a:r>
                        <a:rPr sz="850" b="0">
                          <a:solidFill>
                            <a:srgbClr val="000000"/>
                          </a:solidFill>
                          <a:latin typeface="Arial"/>
                        </a:rPr>
                        <a:t>email</a:t>
                      </a:r>
                    </a:p>
                  </a:txBody>
                  <a:tcPr marL="64008" marR="64008" marT="9144" marB="9144" anchor="ctr">
                    <a:solidFill>
                      <a:srgbClr val="EAEBF2"/>
                    </a:solidFill>
                  </a:tcPr>
                </a:tc>
                <a:tc>
                  <a:txBody>
                    <a:bodyPr/>
                    <a:lstStyle/>
                    <a:p>
                      <a:pPr algn="l"/>
                      <a:r>
                        <a:rPr sz="850" b="0">
                          <a:solidFill>
                            <a:srgbClr val="000000"/>
                          </a:solidFill>
                          <a:latin typeface="Arial"/>
                        </a:rPr>
                        <a:t>varchar(191)</a:t>
                      </a:r>
                    </a:p>
                  </a:txBody>
                  <a:tcPr marL="64008" marR="64008" marT="9144" marB="9144" anchor="ctr">
                    <a:solidFill>
                      <a:srgbClr val="EAEBF2"/>
                    </a:solidFill>
                  </a:tcPr>
                </a:tc>
                <a:tc>
                  <a:txBody>
                    <a:bodyPr/>
                    <a:lstStyle/>
                    <a:p>
                      <a:pPr algn="l"/>
                      <a:r>
                        <a:rPr sz="850" b="0">
                          <a:solidFill>
                            <a:srgbClr val="000000"/>
                          </a:solidFill>
                          <a:latin typeface="Arial"/>
                        </a:rPr>
                        <a:t>UNI</a:t>
                      </a:r>
                    </a:p>
                  </a:txBody>
                  <a:tcPr marL="64008" marR="64008" marT="9144" marB="9144" anchor="ctr">
                    <a:solidFill>
                      <a:srgbClr val="EAEBF2"/>
                    </a:solidFill>
                  </a:tcPr>
                </a:tc>
                <a:tc>
                  <a:txBody>
                    <a:bodyPr/>
                    <a:lstStyle/>
                    <a:p>
                      <a:pPr algn="l"/>
                      <a:r>
                        <a:rPr sz="850" b="0">
                          <a:solidFill>
                            <a:srgbClr val="000000"/>
                          </a:solidFill>
                          <a:latin typeface="Arial"/>
                        </a:rPr>
                        <a:t>Unique login email address.</a:t>
                      </a:r>
                    </a:p>
                  </a:txBody>
                  <a:tcPr marL="64008" marR="64008" marT="9144" marB="9144" anchor="ctr">
                    <a:solidFill>
                      <a:srgbClr val="EAEBF2"/>
                    </a:solidFill>
                  </a:tcPr>
                </a:tc>
                <a:extLst>
                  <a:ext uri="{0D108BD9-81ED-4DB2-BD59-A6C34878D82A}">
                    <a16:rowId xmlns:a16="http://schemas.microsoft.com/office/drawing/2014/main" val="10005"/>
                  </a:ext>
                </a:extLst>
              </a:tr>
              <a:tr h="519379">
                <a:tc>
                  <a:txBody>
                    <a:bodyPr/>
                    <a:lstStyle/>
                    <a:p>
                      <a:pPr algn="l"/>
                      <a:r>
                        <a:rPr sz="850" b="0">
                          <a:solidFill>
                            <a:srgbClr val="000000"/>
                          </a:solidFill>
                          <a:latin typeface="Arial"/>
                        </a:rPr>
                        <a:t>password</a:t>
                      </a:r>
                    </a:p>
                  </a:txBody>
                  <a:tcPr marL="64008" marR="64008" marT="9144" marB="9144" anchor="ctr">
                    <a:solidFill>
                      <a:srgbClr val="D2D5E4"/>
                    </a:solidFill>
                  </a:tcPr>
                </a:tc>
                <a:tc>
                  <a:txBody>
                    <a:bodyPr/>
                    <a:lstStyle/>
                    <a:p>
                      <a:pPr algn="l"/>
                      <a:r>
                        <a:rPr sz="850" b="0">
                          <a:solidFill>
                            <a:srgbClr val="000000"/>
                          </a:solidFill>
                          <a:latin typeface="Arial"/>
                        </a:rPr>
                        <a:t>varchar(255)</a:t>
                      </a:r>
                    </a:p>
                  </a:txBody>
                  <a:tcPr marL="64008" marR="64008" marT="9144" marB="9144" anchor="ctr">
                    <a:solidFill>
                      <a:srgbClr val="D2D5E4"/>
                    </a:solidFill>
                  </a:tcPr>
                </a:tc>
                <a:tc>
                  <a:txBody>
                    <a:bodyPr/>
                    <a:lstStyle/>
                    <a:p>
                      <a:pPr algn="l"/>
                      <a:r>
                        <a:rPr sz="850" b="0">
                          <a:solidFill>
                            <a:srgbClr val="000000"/>
                          </a:solidFill>
                          <a:latin typeface="Arial"/>
                        </a:rPr>
                        <a:t>—</a:t>
                      </a:r>
                    </a:p>
                  </a:txBody>
                  <a:tcPr marL="64008" marR="64008" marT="9144" marB="9144" anchor="ctr">
                    <a:solidFill>
                      <a:srgbClr val="D2D5E4"/>
                    </a:solidFill>
                  </a:tcPr>
                </a:tc>
                <a:tc>
                  <a:txBody>
                    <a:bodyPr/>
                    <a:lstStyle/>
                    <a:p>
                      <a:pPr algn="l"/>
                      <a:r>
                        <a:rPr sz="850" b="0">
                          <a:solidFill>
                            <a:srgbClr val="000000"/>
                          </a:solidFill>
                          <a:latin typeface="Arial"/>
                        </a:rPr>
                        <a:t>Encrypted password value.</a:t>
                      </a:r>
                    </a:p>
                  </a:txBody>
                  <a:tcPr marL="64008" marR="64008" marT="9144" marB="9144" anchor="ctr">
                    <a:solidFill>
                      <a:srgbClr val="D2D5E4"/>
                    </a:solidFill>
                  </a:tcPr>
                </a:tc>
                <a:extLst>
                  <a:ext uri="{0D108BD9-81ED-4DB2-BD59-A6C34878D82A}">
                    <a16:rowId xmlns:a16="http://schemas.microsoft.com/office/drawing/2014/main" val="10006"/>
                  </a:ext>
                </a:extLst>
              </a:tr>
              <a:tr h="519379">
                <a:tc>
                  <a:txBody>
                    <a:bodyPr/>
                    <a:lstStyle/>
                    <a:p>
                      <a:pPr algn="l"/>
                      <a:r>
                        <a:rPr sz="850" b="0">
                          <a:solidFill>
                            <a:srgbClr val="000000"/>
                          </a:solidFill>
                          <a:latin typeface="Arial"/>
                        </a:rPr>
                        <a:t>status</a:t>
                      </a:r>
                    </a:p>
                  </a:txBody>
                  <a:tcPr marL="64008" marR="64008" marT="9144" marB="9144" anchor="ctr">
                    <a:solidFill>
                      <a:srgbClr val="EAEBF2"/>
                    </a:solidFill>
                  </a:tcPr>
                </a:tc>
                <a:tc>
                  <a:txBody>
                    <a:bodyPr/>
                    <a:lstStyle/>
                    <a:p>
                      <a:pPr algn="l"/>
                      <a:r>
                        <a:rPr sz="850" b="0">
                          <a:solidFill>
                            <a:srgbClr val="000000"/>
                          </a:solidFill>
                          <a:latin typeface="Arial"/>
                        </a:rPr>
                        <a:t>enum('active','inactive','suspended')</a:t>
                      </a:r>
                    </a:p>
                  </a:txBody>
                  <a:tcPr marL="64008" marR="64008" marT="9144" marB="9144" anchor="ctr">
                    <a:solidFill>
                      <a:srgbClr val="EAEBF2"/>
                    </a:solidFill>
                  </a:tcPr>
                </a:tc>
                <a:tc>
                  <a:txBody>
                    <a:bodyPr/>
                    <a:lstStyle/>
                    <a:p>
                      <a:pPr algn="l"/>
                      <a:r>
                        <a:rPr sz="850" b="0">
                          <a:solidFill>
                            <a:srgbClr val="000000"/>
                          </a:solidFill>
                          <a:latin typeface="Arial"/>
                        </a:rPr>
                        <a:t>IDX</a:t>
                      </a:r>
                    </a:p>
                  </a:txBody>
                  <a:tcPr marL="64008" marR="64008" marT="9144" marB="9144" anchor="ctr">
                    <a:solidFill>
                      <a:srgbClr val="EAEBF2"/>
                    </a:solidFill>
                  </a:tcPr>
                </a:tc>
                <a:tc>
                  <a:txBody>
                    <a:bodyPr/>
                    <a:lstStyle/>
                    <a:p>
                      <a:pPr algn="l"/>
                      <a:r>
                        <a:rPr sz="850" b="0">
                          <a:solidFill>
                            <a:srgbClr val="000000"/>
                          </a:solidFill>
                          <a:latin typeface="Arial"/>
                        </a:rPr>
                        <a:t>User account status.</a:t>
                      </a:r>
                    </a:p>
                  </a:txBody>
                  <a:tcPr marL="64008" marR="64008" marT="9144" marB="9144" anchor="ctr">
                    <a:solidFill>
                      <a:srgbClr val="EAEBF2"/>
                    </a:solidFill>
                  </a:tcPr>
                </a:tc>
                <a:extLst>
                  <a:ext uri="{0D108BD9-81ED-4DB2-BD59-A6C34878D82A}">
                    <a16:rowId xmlns:a16="http://schemas.microsoft.com/office/drawing/2014/main" val="10007"/>
                  </a:ext>
                </a:extLst>
              </a:tr>
              <a:tr h="519379">
                <a:tc>
                  <a:txBody>
                    <a:bodyPr/>
                    <a:lstStyle/>
                    <a:p>
                      <a:pPr algn="l"/>
                      <a:r>
                        <a:rPr sz="850" b="0">
                          <a:solidFill>
                            <a:srgbClr val="000000"/>
                          </a:solidFill>
                          <a:latin typeface="Arial"/>
                        </a:rPr>
                        <a:t>created_at</a:t>
                      </a:r>
                    </a:p>
                  </a:txBody>
                  <a:tcPr marL="64008" marR="64008" marT="9144" marB="9144" anchor="ctr">
                    <a:solidFill>
                      <a:srgbClr val="D2D5E4"/>
                    </a:solidFill>
                  </a:tcPr>
                </a:tc>
                <a:tc>
                  <a:txBody>
                    <a:bodyPr/>
                    <a:lstStyle/>
                    <a:p>
                      <a:pPr algn="l"/>
                      <a:r>
                        <a:rPr sz="850" b="0">
                          <a:solidFill>
                            <a:srgbClr val="000000"/>
                          </a:solidFill>
                          <a:latin typeface="Arial"/>
                        </a:rPr>
                        <a:t>timestamp</a:t>
                      </a:r>
                    </a:p>
                  </a:txBody>
                  <a:tcPr marL="64008" marR="64008" marT="9144" marB="9144" anchor="ctr">
                    <a:solidFill>
                      <a:srgbClr val="D2D5E4"/>
                    </a:solidFill>
                  </a:tcPr>
                </a:tc>
                <a:tc>
                  <a:txBody>
                    <a:bodyPr/>
                    <a:lstStyle/>
                    <a:p>
                      <a:pPr algn="l"/>
                      <a:r>
                        <a:rPr sz="850" b="0">
                          <a:solidFill>
                            <a:srgbClr val="000000"/>
                          </a:solidFill>
                          <a:latin typeface="Arial"/>
                        </a:rPr>
                        <a:t>—</a:t>
                      </a:r>
                    </a:p>
                  </a:txBody>
                  <a:tcPr marL="64008" marR="64008" marT="9144" marB="9144" anchor="ctr">
                    <a:solidFill>
                      <a:srgbClr val="D2D5E4"/>
                    </a:solidFill>
                  </a:tcPr>
                </a:tc>
                <a:tc>
                  <a:txBody>
                    <a:bodyPr/>
                    <a:lstStyle/>
                    <a:p>
                      <a:pPr algn="l"/>
                      <a:r>
                        <a:rPr sz="850" b="0">
                          <a:solidFill>
                            <a:srgbClr val="000000"/>
                          </a:solidFill>
                          <a:latin typeface="Arial"/>
                        </a:rPr>
                        <a:t>Date and time the user was created.</a:t>
                      </a:r>
                    </a:p>
                  </a:txBody>
                  <a:tcPr marL="64008" marR="64008" marT="9144" marB="9144" anchor="ctr">
                    <a:solidFill>
                      <a:srgbClr val="D2D5E4"/>
                    </a:solidFill>
                  </a:tcPr>
                </a:tc>
                <a:extLst>
                  <a:ext uri="{0D108BD9-81ED-4DB2-BD59-A6C34878D82A}">
                    <a16:rowId xmlns:a16="http://schemas.microsoft.com/office/drawing/2014/main" val="10008"/>
                  </a:ext>
                </a:extLst>
              </a:tr>
              <a:tr h="519379">
                <a:tc>
                  <a:txBody>
                    <a:bodyPr/>
                    <a:lstStyle/>
                    <a:p>
                      <a:pPr algn="l"/>
                      <a:r>
                        <a:rPr sz="850" b="0">
                          <a:solidFill>
                            <a:srgbClr val="000000"/>
                          </a:solidFill>
                          <a:latin typeface="Arial"/>
                        </a:rPr>
                        <a:t>updated_at</a:t>
                      </a:r>
                    </a:p>
                  </a:txBody>
                  <a:tcPr marL="64008" marR="64008" marT="9144" marB="9144" anchor="ctr">
                    <a:solidFill>
                      <a:srgbClr val="EAEBF2"/>
                    </a:solidFill>
                  </a:tcPr>
                </a:tc>
                <a:tc>
                  <a:txBody>
                    <a:bodyPr/>
                    <a:lstStyle/>
                    <a:p>
                      <a:pPr algn="l"/>
                      <a:r>
                        <a:rPr sz="850" b="0">
                          <a:solidFill>
                            <a:srgbClr val="000000"/>
                          </a:solidFill>
                          <a:latin typeface="Arial"/>
                        </a:rPr>
                        <a:t>timestamp</a:t>
                      </a:r>
                    </a:p>
                  </a:txBody>
                  <a:tcPr marL="64008" marR="64008" marT="9144" marB="9144" anchor="ctr">
                    <a:solidFill>
                      <a:srgbClr val="EAEBF2"/>
                    </a:solidFill>
                  </a:tcPr>
                </a:tc>
                <a:tc>
                  <a:txBody>
                    <a:bodyPr/>
                    <a:lstStyle/>
                    <a:p>
                      <a:pPr algn="l"/>
                      <a:r>
                        <a:rPr sz="850" b="0" dirty="0">
                          <a:solidFill>
                            <a:srgbClr val="000000"/>
                          </a:solidFill>
                          <a:latin typeface="Arial"/>
                        </a:rPr>
                        <a:t>—</a:t>
                      </a:r>
                    </a:p>
                  </a:txBody>
                  <a:tcPr marL="64008" marR="64008" marT="9144" marB="9144" anchor="ctr">
                    <a:solidFill>
                      <a:srgbClr val="EAEBF2"/>
                    </a:solidFill>
                  </a:tcPr>
                </a:tc>
                <a:tc>
                  <a:txBody>
                    <a:bodyPr/>
                    <a:lstStyle/>
                    <a:p>
                      <a:pPr algn="l"/>
                      <a:r>
                        <a:rPr sz="850" b="0" dirty="0">
                          <a:solidFill>
                            <a:srgbClr val="000000"/>
                          </a:solidFill>
                          <a:latin typeface="Arial"/>
                        </a:rPr>
                        <a:t>Date and time the user was last updated.</a:t>
                      </a:r>
                    </a:p>
                  </a:txBody>
                  <a:tcPr marL="64008" marR="64008" marT="9144" marB="9144" anchor="ctr">
                    <a:solidFill>
                      <a:srgbClr val="EAEBF2"/>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6064" y="116632"/>
            <a:ext cx="7024744" cy="1143000"/>
          </a:xfrm>
        </p:spPr>
        <p:txBody>
          <a:bodyPr wrap="square"/>
          <a:lstStyle/>
          <a:p>
            <a:pPr algn="ctr"/>
            <a:r>
              <a:rPr sz="2800" b="1" dirty="0">
                <a:solidFill>
                  <a:srgbClr val="232323"/>
                </a:solidFill>
                <a:latin typeface="Times New Roman" panose="02020603050405020304" pitchFamily="18" charset="0"/>
                <a:cs typeface="Times New Roman" panose="02020603050405020304" pitchFamily="18" charset="0"/>
              </a:rPr>
              <a:t>Roles &amp; Responsibilities</a:t>
            </a:r>
          </a:p>
        </p:txBody>
      </p:sp>
      <p:sp>
        <p:nvSpPr>
          <p:cNvPr id="3" name="Content Placeholder 2"/>
          <p:cNvSpPr>
            <a:spLocks noGrp="1"/>
          </p:cNvSpPr>
          <p:nvPr>
            <p:ph idx="1"/>
          </p:nvPr>
        </p:nvSpPr>
        <p:spPr>
          <a:xfrm>
            <a:off x="919778" y="1403648"/>
            <a:ext cx="6777317" cy="3508977"/>
          </a:xfrm>
        </p:spPr>
        <p:txBody>
          <a:bodyPr wrap="square">
            <a:noAutofit/>
          </a:bodyPr>
          <a:lstStyle/>
          <a:p>
            <a:pPr marL="68580" indent="0">
              <a:spcAft>
                <a:spcPts val="800"/>
              </a:spcAft>
              <a:buNone/>
              <a:defRPr sz="1700" b="1">
                <a:solidFill>
                  <a:srgbClr val="3A5B91"/>
                </a:solidFill>
                <a:latin typeface="Arial"/>
              </a:defRPr>
            </a:pPr>
            <a:endParaRPr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6E622BE2-50B4-E132-0189-CD70B03D66EB}"/>
              </a:ext>
            </a:extLst>
          </p:cNvPr>
          <p:cNvGraphicFramePr>
            <a:graphicFrameLocks noGrp="1"/>
          </p:cNvGraphicFramePr>
          <p:nvPr>
            <p:extLst>
              <p:ext uri="{D42A27DB-BD31-4B8C-83A1-F6EECF244321}">
                <p14:modId xmlns:p14="http://schemas.microsoft.com/office/powerpoint/2010/main" val="2638720447"/>
              </p:ext>
            </p:extLst>
          </p:nvPr>
        </p:nvGraphicFramePr>
        <p:xfrm>
          <a:off x="901320" y="1389043"/>
          <a:ext cx="7322901" cy="4550297"/>
        </p:xfrm>
        <a:graphic>
          <a:graphicData uri="http://schemas.openxmlformats.org/drawingml/2006/table">
            <a:tbl>
              <a:tblPr>
                <a:tableStyleId>{5C22544A-7EE6-4342-B048-85BDC9FD1C3A}</a:tableStyleId>
              </a:tblPr>
              <a:tblGrid>
                <a:gridCol w="2440967">
                  <a:extLst>
                    <a:ext uri="{9D8B030D-6E8A-4147-A177-3AD203B41FA5}">
                      <a16:colId xmlns:a16="http://schemas.microsoft.com/office/drawing/2014/main" val="1754451455"/>
                    </a:ext>
                  </a:extLst>
                </a:gridCol>
                <a:gridCol w="2440967">
                  <a:extLst>
                    <a:ext uri="{9D8B030D-6E8A-4147-A177-3AD203B41FA5}">
                      <a16:colId xmlns:a16="http://schemas.microsoft.com/office/drawing/2014/main" val="1528112186"/>
                    </a:ext>
                  </a:extLst>
                </a:gridCol>
                <a:gridCol w="2440967">
                  <a:extLst>
                    <a:ext uri="{9D8B030D-6E8A-4147-A177-3AD203B41FA5}">
                      <a16:colId xmlns:a16="http://schemas.microsoft.com/office/drawing/2014/main" val="2382435774"/>
                    </a:ext>
                  </a:extLst>
                </a:gridCol>
              </a:tblGrid>
              <a:tr h="566247">
                <a:tc>
                  <a:txBody>
                    <a:bodyPr/>
                    <a:lstStyle/>
                    <a:p>
                      <a:pPr indent="0" algn="l">
                        <a:buNone/>
                      </a:pPr>
                      <a:r>
                        <a:rPr lang="en-IN" sz="1400" dirty="0">
                          <a:effectLst/>
                          <a:latin typeface="Times New Roman" panose="02020603050405020304" pitchFamily="18" charset="0"/>
                          <a:cs typeface="Times New Roman" panose="02020603050405020304" pitchFamily="18" charset="0"/>
                        </a:rPr>
                        <a:t>Parameter</a:t>
                      </a:r>
                      <a:endParaRPr lang="en-IN" sz="1400" b="0" i="0" dirty="0">
                        <a:solidFill>
                          <a:srgbClr val="CCCCCC"/>
                        </a:solidFill>
                        <a:effectLst/>
                        <a:latin typeface="Times New Roman" panose="02020603050405020304" pitchFamily="18" charset="0"/>
                        <a:cs typeface="Times New Roman" panose="02020603050405020304" pitchFamily="18" charset="0"/>
                      </a:endParaRPr>
                    </a:p>
                  </a:txBody>
                  <a:tcPr anchor="ctr"/>
                </a:tc>
                <a:tc>
                  <a:txBody>
                    <a:bodyPr/>
                    <a:lstStyle/>
                    <a:p>
                      <a:pPr indent="0" algn="l">
                        <a:buNone/>
                      </a:pPr>
                      <a:r>
                        <a:rPr lang="en-IN" sz="1400" dirty="0">
                          <a:effectLst/>
                          <a:latin typeface="Times New Roman" panose="02020603050405020304" pitchFamily="18" charset="0"/>
                          <a:cs typeface="Times New Roman" panose="02020603050405020304" pitchFamily="18" charset="0"/>
                        </a:rPr>
                        <a:t>Gunjan Dhaduk [Roll No: 19]</a:t>
                      </a:r>
                      <a:endParaRPr lang="en-IN" sz="1400" b="0" i="0" dirty="0">
                        <a:solidFill>
                          <a:srgbClr val="CCCCCC"/>
                        </a:solidFill>
                        <a:effectLst/>
                        <a:latin typeface="Times New Roman" panose="02020603050405020304" pitchFamily="18" charset="0"/>
                        <a:cs typeface="Times New Roman" panose="02020603050405020304" pitchFamily="18" charset="0"/>
                      </a:endParaRPr>
                    </a:p>
                  </a:txBody>
                  <a:tcPr anchor="ctr"/>
                </a:tc>
                <a:tc>
                  <a:txBody>
                    <a:bodyPr/>
                    <a:lstStyle/>
                    <a:p>
                      <a:pPr indent="0" algn="l">
                        <a:buNone/>
                      </a:pPr>
                      <a:r>
                        <a:rPr lang="en-IN" sz="1400">
                          <a:effectLst/>
                          <a:latin typeface="Times New Roman" panose="02020603050405020304" pitchFamily="18" charset="0"/>
                          <a:cs typeface="Times New Roman" panose="02020603050405020304" pitchFamily="18" charset="0"/>
                        </a:rPr>
                        <a:t>Jisna Saji [Roll No: 32]</a:t>
                      </a:r>
                      <a:endParaRPr lang="en-IN" sz="1400" b="0" i="0">
                        <a:solidFill>
                          <a:srgbClr val="CCCCCC"/>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13547385"/>
                  </a:ext>
                </a:extLst>
              </a:tr>
              <a:tr h="1233368">
                <a:tc>
                  <a:txBody>
                    <a:bodyPr/>
                    <a:lstStyle/>
                    <a:p>
                      <a:pPr indent="0" algn="l">
                        <a:buNone/>
                      </a:pPr>
                      <a:r>
                        <a:rPr lang="en-IN" sz="1400" dirty="0">
                          <a:effectLst/>
                          <a:latin typeface="Times New Roman" panose="02020603050405020304" pitchFamily="18" charset="0"/>
                          <a:cs typeface="Times New Roman" panose="02020603050405020304" pitchFamily="18" charset="0"/>
                        </a:rPr>
                        <a:t>Designation / Title</a:t>
                      </a:r>
                      <a:endParaRPr lang="en-IN" sz="1400" b="0" i="0" dirty="0">
                        <a:solidFill>
                          <a:srgbClr val="CCCCCC"/>
                        </a:solidFill>
                        <a:effectLst/>
                        <a:latin typeface="Times New Roman" panose="02020603050405020304" pitchFamily="18" charset="0"/>
                        <a:cs typeface="Times New Roman" panose="02020603050405020304" pitchFamily="18" charset="0"/>
                      </a:endParaRPr>
                    </a:p>
                  </a:txBody>
                  <a:tcPr anchor="ctr"/>
                </a:tc>
                <a:tc>
                  <a:txBody>
                    <a:bodyPr/>
                    <a:lstStyle/>
                    <a:p>
                      <a:pPr indent="0" algn="l">
                        <a:buNone/>
                      </a:pPr>
                      <a:r>
                        <a:rPr lang="en-IN" sz="1400" dirty="0">
                          <a:effectLst/>
                          <a:latin typeface="Times New Roman" panose="02020603050405020304" pitchFamily="18" charset="0"/>
                          <a:cs typeface="Times New Roman" panose="02020603050405020304" pitchFamily="18" charset="0"/>
                        </a:rPr>
                        <a:t>Lead Full-Stack Developer &amp; Software Architect</a:t>
                      </a:r>
                      <a:endParaRPr lang="en-IN" sz="1400" b="0" i="0" dirty="0">
                        <a:solidFill>
                          <a:srgbClr val="CCCCCC"/>
                        </a:solidFill>
                        <a:effectLst/>
                        <a:latin typeface="Times New Roman" panose="02020603050405020304" pitchFamily="18" charset="0"/>
                        <a:cs typeface="Times New Roman" panose="02020603050405020304" pitchFamily="18" charset="0"/>
                      </a:endParaRPr>
                    </a:p>
                  </a:txBody>
                  <a:tcPr anchor="ctr"/>
                </a:tc>
                <a:tc>
                  <a:txBody>
                    <a:bodyPr/>
                    <a:lstStyle/>
                    <a:p>
                      <a:pPr indent="0" algn="l">
                        <a:buNone/>
                      </a:pPr>
                      <a:r>
                        <a:rPr lang="en-IN" sz="1400">
                          <a:effectLst/>
                          <a:latin typeface="Times New Roman" panose="02020603050405020304" pitchFamily="18" charset="0"/>
                          <a:cs typeface="Times New Roman" panose="02020603050405020304" pitchFamily="18" charset="0"/>
                        </a:rPr>
                        <a:t>System Analyst, Documentation Lead &amp; QA Coordinator</a:t>
                      </a:r>
                      <a:endParaRPr lang="en-IN" sz="1400" b="0" i="0">
                        <a:solidFill>
                          <a:srgbClr val="CCCCCC"/>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97754986"/>
                  </a:ext>
                </a:extLst>
              </a:tr>
              <a:tr h="916894">
                <a:tc>
                  <a:txBody>
                    <a:bodyPr/>
                    <a:lstStyle/>
                    <a:p>
                      <a:pPr indent="0" algn="l">
                        <a:buNone/>
                      </a:pPr>
                      <a:r>
                        <a:rPr lang="en-IN" sz="1400" dirty="0">
                          <a:effectLst/>
                          <a:latin typeface="Times New Roman" panose="02020603050405020304" pitchFamily="18" charset="0"/>
                          <a:cs typeface="Times New Roman" panose="02020603050405020304" pitchFamily="18" charset="0"/>
                        </a:rPr>
                        <a:t>Primary Domain</a:t>
                      </a:r>
                      <a:endParaRPr lang="en-IN" sz="1400" b="0" i="0" dirty="0">
                        <a:solidFill>
                          <a:srgbClr val="CCCCCC"/>
                        </a:solidFill>
                        <a:effectLst/>
                        <a:latin typeface="Times New Roman" panose="02020603050405020304" pitchFamily="18" charset="0"/>
                        <a:cs typeface="Times New Roman" panose="02020603050405020304" pitchFamily="18" charset="0"/>
                      </a:endParaRPr>
                    </a:p>
                  </a:txBody>
                  <a:tcPr anchor="ctr"/>
                </a:tc>
                <a:tc>
                  <a:txBody>
                    <a:bodyPr/>
                    <a:lstStyle/>
                    <a:p>
                      <a:pPr indent="0" algn="l">
                        <a:buNone/>
                      </a:pPr>
                      <a:r>
                        <a:rPr lang="en-IN" sz="1400" dirty="0">
                          <a:effectLst/>
                          <a:latin typeface="Times New Roman" panose="02020603050405020304" pitchFamily="18" charset="0"/>
                          <a:cs typeface="Times New Roman" panose="02020603050405020304" pitchFamily="18" charset="0"/>
                        </a:rPr>
                        <a:t>System Architecture, Coding, Logic &amp; Database</a:t>
                      </a:r>
                      <a:endParaRPr lang="en-IN" sz="1400" b="0" i="0" dirty="0">
                        <a:solidFill>
                          <a:srgbClr val="CCCCCC"/>
                        </a:solidFill>
                        <a:effectLst/>
                        <a:latin typeface="Times New Roman" panose="02020603050405020304" pitchFamily="18" charset="0"/>
                        <a:cs typeface="Times New Roman" panose="02020603050405020304" pitchFamily="18" charset="0"/>
                      </a:endParaRPr>
                    </a:p>
                  </a:txBody>
                  <a:tcPr anchor="ctr"/>
                </a:tc>
                <a:tc>
                  <a:txBody>
                    <a:bodyPr/>
                    <a:lstStyle/>
                    <a:p>
                      <a:pPr indent="0" algn="l">
                        <a:buNone/>
                      </a:pPr>
                      <a:r>
                        <a:rPr lang="en-IN" sz="1400">
                          <a:effectLst/>
                          <a:latin typeface="Times New Roman" panose="02020603050405020304" pitchFamily="18" charset="0"/>
                          <a:cs typeface="Times New Roman" panose="02020603050405020304" pitchFamily="18" charset="0"/>
                        </a:rPr>
                        <a:t>Research, Project Documentation, Diagrams &amp; QA Testing</a:t>
                      </a:r>
                      <a:endParaRPr lang="en-IN" sz="1400" b="0" i="0">
                        <a:solidFill>
                          <a:srgbClr val="CCCCCC"/>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957340118"/>
                  </a:ext>
                </a:extLst>
              </a:tr>
              <a:tr h="916894">
                <a:tc>
                  <a:txBody>
                    <a:bodyPr/>
                    <a:lstStyle/>
                    <a:p>
                      <a:pPr indent="0" algn="l">
                        <a:buNone/>
                      </a:pPr>
                      <a:r>
                        <a:rPr lang="en-IN" sz="1400">
                          <a:effectLst/>
                          <a:latin typeface="Times New Roman" panose="02020603050405020304" pitchFamily="18" charset="0"/>
                          <a:cs typeface="Times New Roman" panose="02020603050405020304" pitchFamily="18" charset="0"/>
                        </a:rPr>
                        <a:t>Key Deliverables</a:t>
                      </a:r>
                      <a:endParaRPr lang="en-IN" sz="1400" b="0" i="0">
                        <a:solidFill>
                          <a:srgbClr val="CCCCCC"/>
                        </a:solidFill>
                        <a:effectLst/>
                        <a:latin typeface="Times New Roman" panose="02020603050405020304" pitchFamily="18" charset="0"/>
                        <a:cs typeface="Times New Roman" panose="02020603050405020304" pitchFamily="18" charset="0"/>
                      </a:endParaRPr>
                    </a:p>
                  </a:txBody>
                  <a:tcPr anchor="ctr"/>
                </a:tc>
                <a:tc>
                  <a:txBody>
                    <a:bodyPr/>
                    <a:lstStyle/>
                    <a:p>
                      <a:pPr indent="0" algn="l">
                        <a:buNone/>
                      </a:pPr>
                      <a:r>
                        <a:rPr lang="en-IN" sz="1400" dirty="0">
                          <a:effectLst/>
                          <a:latin typeface="Times New Roman" panose="02020603050405020304" pitchFamily="18" charset="0"/>
                          <a:cs typeface="Times New Roman" panose="02020603050405020304" pitchFamily="18" charset="0"/>
                        </a:rPr>
                        <a:t>Working Web App, MVC Engine, APIs, KDS Kanban</a:t>
                      </a:r>
                      <a:endParaRPr lang="en-IN" sz="1400" b="0" i="0" dirty="0">
                        <a:solidFill>
                          <a:srgbClr val="CCCCCC"/>
                        </a:solidFill>
                        <a:effectLst/>
                        <a:latin typeface="Times New Roman" panose="02020603050405020304" pitchFamily="18" charset="0"/>
                        <a:cs typeface="Times New Roman" panose="02020603050405020304" pitchFamily="18" charset="0"/>
                      </a:endParaRPr>
                    </a:p>
                  </a:txBody>
                  <a:tcPr anchor="ctr"/>
                </a:tc>
                <a:tc>
                  <a:txBody>
                    <a:bodyPr/>
                    <a:lstStyle/>
                    <a:p>
                      <a:pPr indent="0" algn="l">
                        <a:buNone/>
                      </a:pPr>
                      <a:r>
                        <a:rPr lang="en-IN" sz="1400" dirty="0">
                          <a:effectLst/>
                          <a:latin typeface="Times New Roman" panose="02020603050405020304" pitchFamily="18" charset="0"/>
                          <a:cs typeface="Times New Roman" panose="02020603050405020304" pitchFamily="18" charset="0"/>
                        </a:rPr>
                        <a:t>Final Project Report, IEEE Research Paper, UML/DFD, Test Suite</a:t>
                      </a:r>
                      <a:endParaRPr lang="en-IN" sz="1400" b="0" i="0" dirty="0">
                        <a:solidFill>
                          <a:srgbClr val="CCCCCC"/>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63030877"/>
                  </a:ext>
                </a:extLst>
              </a:tr>
              <a:tr h="916894">
                <a:tc>
                  <a:txBody>
                    <a:bodyPr/>
                    <a:lstStyle/>
                    <a:p>
                      <a:pPr indent="0" algn="l">
                        <a:buNone/>
                      </a:pPr>
                      <a:r>
                        <a:rPr lang="en-IN" sz="1400">
                          <a:effectLst/>
                          <a:latin typeface="Times New Roman" panose="02020603050405020304" pitchFamily="18" charset="0"/>
                          <a:cs typeface="Times New Roman" panose="02020603050405020304" pitchFamily="18" charset="0"/>
                        </a:rPr>
                        <a:t>Core Technologies</a:t>
                      </a:r>
                      <a:endParaRPr lang="en-IN" sz="1400" b="0" i="0">
                        <a:solidFill>
                          <a:srgbClr val="CCCCCC"/>
                        </a:solidFill>
                        <a:effectLst/>
                        <a:latin typeface="Times New Roman" panose="02020603050405020304" pitchFamily="18" charset="0"/>
                        <a:cs typeface="Times New Roman" panose="02020603050405020304" pitchFamily="18" charset="0"/>
                      </a:endParaRPr>
                    </a:p>
                  </a:txBody>
                  <a:tcPr anchor="ctr"/>
                </a:tc>
                <a:tc>
                  <a:txBody>
                    <a:bodyPr/>
                    <a:lstStyle/>
                    <a:p>
                      <a:pPr indent="0" algn="l">
                        <a:buNone/>
                      </a:pPr>
                      <a:r>
                        <a:rPr lang="en-IN" sz="1400" dirty="0">
                          <a:effectLst/>
                          <a:latin typeface="Times New Roman" panose="02020603050405020304" pitchFamily="18" charset="0"/>
                          <a:cs typeface="Times New Roman" panose="02020603050405020304" pitchFamily="18" charset="0"/>
                        </a:rPr>
                        <a:t>PHP 8, MySQL/PDO, JavaScript ES6+, Bootstrap 5</a:t>
                      </a:r>
                      <a:endParaRPr lang="en-IN" sz="1400" b="0" i="0" dirty="0">
                        <a:solidFill>
                          <a:srgbClr val="CCCCCC"/>
                        </a:solidFill>
                        <a:effectLst/>
                        <a:latin typeface="Times New Roman" panose="02020603050405020304" pitchFamily="18" charset="0"/>
                        <a:cs typeface="Times New Roman" panose="02020603050405020304" pitchFamily="18" charset="0"/>
                      </a:endParaRPr>
                    </a:p>
                  </a:txBody>
                  <a:tcPr anchor="ctr"/>
                </a:tc>
                <a:tc>
                  <a:txBody>
                    <a:bodyPr/>
                    <a:lstStyle/>
                    <a:p>
                      <a:pPr indent="0" algn="l">
                        <a:buNone/>
                      </a:pPr>
                      <a:r>
                        <a:rPr lang="en-IN" sz="1400" dirty="0">
                          <a:effectLst/>
                          <a:latin typeface="Times New Roman" panose="02020603050405020304" pitchFamily="18" charset="0"/>
                          <a:cs typeface="Times New Roman" panose="02020603050405020304" pitchFamily="18" charset="0"/>
                        </a:rPr>
                        <a:t>MS Word, MS Visio/Draw.io, MS PowerPoint, QA Manual Testing</a:t>
                      </a:r>
                      <a:endParaRPr lang="en-IN" sz="1400" b="0" i="0" dirty="0">
                        <a:solidFill>
                          <a:srgbClr val="CCCCCC"/>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26615536"/>
                  </a:ext>
                </a:extLst>
              </a:tr>
            </a:tbl>
          </a:graphicData>
        </a:graphic>
      </p:graphicFrame>
    </p:spTree>
    <p:extLst>
      <p:ext uri="{BB962C8B-B14F-4D97-AF65-F5344CB8AC3E}">
        <p14:creationId xmlns:p14="http://schemas.microsoft.com/office/powerpoint/2010/main" val="3099234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764704"/>
            <a:ext cx="7589520" cy="461665"/>
          </a:xfrm>
          <a:prstGeom prst="rect">
            <a:avLst/>
          </a:prstGeom>
          <a:noFill/>
        </p:spPr>
        <p:txBody>
          <a:bodyPr wrap="square">
            <a:spAutoFit/>
          </a:bodyPr>
          <a:lstStyle/>
          <a:p>
            <a:pPr algn="ctr"/>
            <a:r>
              <a:rPr sz="2400" b="1" dirty="0">
                <a:solidFill>
                  <a:srgbClr val="3A5B91"/>
                </a:solidFill>
                <a:latin typeface="Times New Roman" panose="02020603050405020304" pitchFamily="18" charset="0"/>
                <a:cs typeface="Times New Roman" panose="02020603050405020304" pitchFamily="18" charset="0"/>
              </a:rPr>
              <a:t>E-R Diagram – Database Relationship Chart</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647564" y="1340768"/>
            <a:ext cx="7848872" cy="4896544"/>
          </a:xfrm>
          <a:prstGeom prst="rect">
            <a:avLst/>
          </a:prstGeom>
        </p:spPr>
      </p:pic>
    </p:spTree>
    <p:extLst>
      <p:ext uri="{BB962C8B-B14F-4D97-AF65-F5344CB8AC3E}">
        <p14:creationId xmlns:p14="http://schemas.microsoft.com/office/powerpoint/2010/main" val="2442366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75576A-A05B-45E2-11DB-102F3291160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87624" y="836712"/>
            <a:ext cx="6768752" cy="5472608"/>
          </a:xfrm>
          <a:prstGeom prst="rect">
            <a:avLst/>
          </a:prstGeom>
        </p:spPr>
      </p:pic>
    </p:spTree>
    <p:extLst>
      <p:ext uri="{BB962C8B-B14F-4D97-AF65-F5344CB8AC3E}">
        <p14:creationId xmlns:p14="http://schemas.microsoft.com/office/powerpoint/2010/main" val="41767821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502" y="692696"/>
            <a:ext cx="7040880" cy="461665"/>
          </a:xfrm>
          <a:prstGeom prst="rect">
            <a:avLst/>
          </a:prstGeom>
          <a:noFill/>
        </p:spPr>
        <p:txBody>
          <a:bodyPr wrap="square">
            <a:spAutoFit/>
          </a:bodyPr>
          <a:lstStyle/>
          <a:p>
            <a:pPr algn="ctr"/>
            <a:r>
              <a:rPr sz="2400" b="1" dirty="0">
                <a:solidFill>
                  <a:srgbClr val="3A5B91"/>
                </a:solidFill>
                <a:latin typeface="Times New Roman" panose="02020603050405020304" pitchFamily="18" charset="0"/>
                <a:cs typeface="Times New Roman" panose="02020603050405020304" pitchFamily="18" charset="0"/>
              </a:rPr>
              <a:t>Activity Diagram</a:t>
            </a:r>
          </a:p>
        </p:txBody>
      </p:sp>
      <p:pic>
        <p:nvPicPr>
          <p:cNvPr id="3" name="Picture 2" descr="Customer QR Menu &amp; Ordering Activity Diagram.drawio.png"/>
          <p:cNvPicPr>
            <a:picLocks noChangeAspect="1"/>
          </p:cNvPicPr>
          <p:nvPr/>
        </p:nvPicPr>
        <p:blipFill>
          <a:blip r:embed="rId2"/>
          <a:stretch>
            <a:fillRect/>
          </a:stretch>
        </p:blipFill>
        <p:spPr>
          <a:xfrm>
            <a:off x="3491880" y="1268759"/>
            <a:ext cx="1656184" cy="5176029"/>
          </a:xfrm>
          <a:prstGeom prst="rect">
            <a:avLst/>
          </a:prstGeom>
        </p:spPr>
      </p:pic>
      <p:pic>
        <p:nvPicPr>
          <p:cNvPr id="5" name="Picture 4">
            <a:extLst>
              <a:ext uri="{FF2B5EF4-FFF2-40B4-BE49-F238E27FC236}">
                <a16:creationId xmlns:a16="http://schemas.microsoft.com/office/drawing/2014/main" id="{DED35312-F0F6-6D37-889B-9FB3F97B4268}"/>
              </a:ext>
            </a:extLst>
          </p:cNvPr>
          <p:cNvPicPr>
            <a:picLocks noChangeAspect="1"/>
          </p:cNvPicPr>
          <p:nvPr/>
        </p:nvPicPr>
        <p:blipFill>
          <a:blip r:embed="rId3"/>
          <a:stretch>
            <a:fillRect/>
          </a:stretch>
        </p:blipFill>
        <p:spPr>
          <a:xfrm>
            <a:off x="467544" y="1238062"/>
            <a:ext cx="8208912" cy="5287281"/>
          </a:xfrm>
          <a:prstGeom prst="rect">
            <a:avLst/>
          </a:prstGeom>
        </p:spPr>
      </p:pic>
    </p:spTree>
    <p:extLst>
      <p:ext uri="{BB962C8B-B14F-4D97-AF65-F5344CB8AC3E}">
        <p14:creationId xmlns:p14="http://schemas.microsoft.com/office/powerpoint/2010/main" val="4138881090"/>
      </p:ext>
    </p:extLst>
  </p:cSld>
  <p:clrMapOvr>
    <a:masterClrMapping/>
  </p:clrMapOvr>
  <mc:AlternateContent xmlns:mc="http://schemas.openxmlformats.org/markup-compatibility/2006" xmlns:p14="http://schemas.microsoft.com/office/powerpoint/2010/main">
    <mc:Choice Requires="p14">
      <p:transition p14:dur="0" advTm="5000"/>
    </mc:Choice>
    <mc:Fallback xmlns="">
      <p:transition advTm="5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1560" y="836712"/>
            <a:ext cx="7040880" cy="523220"/>
          </a:xfrm>
          <a:prstGeom prst="rect">
            <a:avLst/>
          </a:prstGeom>
          <a:noFill/>
        </p:spPr>
        <p:txBody>
          <a:bodyPr wrap="square">
            <a:spAutoFit/>
          </a:bodyPr>
          <a:lstStyle/>
          <a:p>
            <a:pPr algn="ctr"/>
            <a:r>
              <a:rPr sz="2800" b="1" dirty="0">
                <a:solidFill>
                  <a:srgbClr val="3A5B91"/>
                </a:solidFill>
                <a:latin typeface="Times New Roman" panose="02020603050405020304" pitchFamily="18" charset="0"/>
                <a:cs typeface="Times New Roman" panose="02020603050405020304" pitchFamily="18" charset="0"/>
              </a:rPr>
              <a:t>DFD – Context Diagram</a:t>
            </a:r>
          </a:p>
        </p:txBody>
      </p:sp>
      <p:pic>
        <p:nvPicPr>
          <p:cNvPr id="4" name="Picture 3">
            <a:extLst>
              <a:ext uri="{FF2B5EF4-FFF2-40B4-BE49-F238E27FC236}">
                <a16:creationId xmlns:a16="http://schemas.microsoft.com/office/drawing/2014/main" id="{92EA056A-A302-D6EA-7AFE-F3748DB60BD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146509" y="1391900"/>
            <a:ext cx="6850981" cy="4845412"/>
          </a:xfrm>
          <a:prstGeom prst="rect">
            <a:avLst/>
          </a:prstGeom>
        </p:spPr>
      </p:pic>
    </p:spTree>
    <p:extLst>
      <p:ext uri="{BB962C8B-B14F-4D97-AF65-F5344CB8AC3E}">
        <p14:creationId xmlns:p14="http://schemas.microsoft.com/office/powerpoint/2010/main" val="3372653069"/>
      </p:ext>
    </p:extLst>
  </p:cSld>
  <p:clrMapOvr>
    <a:masterClrMapping/>
  </p:clrMapOvr>
  <mc:AlternateContent xmlns:mc="http://schemas.openxmlformats.org/markup-compatibility/2006" xmlns:p14="http://schemas.microsoft.com/office/powerpoint/2010/main">
    <mc:Choice Requires="p14">
      <p:transition p14:dur="10" advTm="5000"/>
    </mc:Choice>
    <mc:Fallback xmlns="">
      <p:transition advTm="5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82606" y="814532"/>
            <a:ext cx="7040880" cy="523220"/>
          </a:xfrm>
          <a:prstGeom prst="rect">
            <a:avLst/>
          </a:prstGeom>
          <a:noFill/>
        </p:spPr>
        <p:txBody>
          <a:bodyPr wrap="square">
            <a:spAutoFit/>
          </a:bodyPr>
          <a:lstStyle/>
          <a:p>
            <a:pPr algn="ctr"/>
            <a:r>
              <a:rPr sz="2800" b="1" dirty="0">
                <a:solidFill>
                  <a:srgbClr val="3A5B91"/>
                </a:solidFill>
                <a:latin typeface="Times New Roman" panose="02020603050405020304" pitchFamily="18" charset="0"/>
                <a:cs typeface="Times New Roman" panose="02020603050405020304" pitchFamily="18" charset="0"/>
              </a:rPr>
              <a:t>DFD – Level 1</a:t>
            </a:r>
          </a:p>
        </p:txBody>
      </p:sp>
      <p:pic>
        <p:nvPicPr>
          <p:cNvPr id="5" name="Picture 4">
            <a:extLst>
              <a:ext uri="{FF2B5EF4-FFF2-40B4-BE49-F238E27FC236}">
                <a16:creationId xmlns:a16="http://schemas.microsoft.com/office/drawing/2014/main" id="{E4C8CB4B-2FCE-C696-2C21-7F2C0E5E7DE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2606" y="1340768"/>
            <a:ext cx="7178787" cy="5077255"/>
          </a:xfrm>
          <a:prstGeom prst="rect">
            <a:avLst/>
          </a:prstGeom>
        </p:spPr>
      </p:pic>
    </p:spTree>
    <p:extLst>
      <p:ext uri="{BB962C8B-B14F-4D97-AF65-F5344CB8AC3E}">
        <p14:creationId xmlns:p14="http://schemas.microsoft.com/office/powerpoint/2010/main" val="3391887224"/>
      </p:ext>
    </p:extLst>
  </p:cSld>
  <p:clrMapOvr>
    <a:masterClrMapping/>
  </p:clrMapOvr>
  <mc:AlternateContent xmlns:mc="http://schemas.openxmlformats.org/markup-compatibility/2006" xmlns:p14="http://schemas.microsoft.com/office/powerpoint/2010/main">
    <mc:Choice Requires="p14">
      <p:transition p14:dur="0" advTm="5000"/>
    </mc:Choice>
    <mc:Fallback xmlns="">
      <p:transition advTm="5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3AC2FC20-1C3E-152F-2617-CA78DC03B67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3998" y="3717032"/>
            <a:ext cx="4068002" cy="2579620"/>
          </a:xfrm>
          <a:prstGeom prst="rect">
            <a:avLst/>
          </a:prstGeom>
        </p:spPr>
      </p:pic>
      <p:pic>
        <p:nvPicPr>
          <p:cNvPr id="19" name="Picture 18">
            <a:extLst>
              <a:ext uri="{FF2B5EF4-FFF2-40B4-BE49-F238E27FC236}">
                <a16:creationId xmlns:a16="http://schemas.microsoft.com/office/drawing/2014/main" id="{2BA414F4-ED06-8359-EBA5-C24FBF5650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3997" y="1138476"/>
            <a:ext cx="2648039" cy="2578556"/>
          </a:xfrm>
          <a:prstGeom prst="rect">
            <a:avLst/>
          </a:prstGeom>
        </p:spPr>
      </p:pic>
      <p:sp>
        <p:nvSpPr>
          <p:cNvPr id="3" name="TextBox 2">
            <a:extLst>
              <a:ext uri="{FF2B5EF4-FFF2-40B4-BE49-F238E27FC236}">
                <a16:creationId xmlns:a16="http://schemas.microsoft.com/office/drawing/2014/main" id="{D1B36656-0B7B-0A94-7771-639C3EBEDE54}"/>
              </a:ext>
            </a:extLst>
          </p:cNvPr>
          <p:cNvSpPr txBox="1"/>
          <p:nvPr/>
        </p:nvSpPr>
        <p:spPr>
          <a:xfrm>
            <a:off x="971600" y="692696"/>
            <a:ext cx="7040880" cy="523220"/>
          </a:xfrm>
          <a:prstGeom prst="rect">
            <a:avLst/>
          </a:prstGeom>
          <a:noFill/>
        </p:spPr>
        <p:txBody>
          <a:bodyPr wrap="square">
            <a:spAutoFit/>
          </a:bodyPr>
          <a:lstStyle/>
          <a:p>
            <a:pPr algn="ctr"/>
            <a:r>
              <a:rPr sz="2800" b="1" dirty="0">
                <a:solidFill>
                  <a:srgbClr val="3A5B91"/>
                </a:solidFill>
                <a:latin typeface="Times New Roman" panose="02020603050405020304" pitchFamily="18" charset="0"/>
                <a:cs typeface="Times New Roman" panose="02020603050405020304" pitchFamily="18" charset="0"/>
              </a:rPr>
              <a:t>DFD – Level </a:t>
            </a:r>
            <a:r>
              <a:rPr lang="en-US" sz="2800" b="1" dirty="0">
                <a:solidFill>
                  <a:srgbClr val="3A5B91"/>
                </a:solidFill>
                <a:latin typeface="Times New Roman" panose="02020603050405020304" pitchFamily="18" charset="0"/>
                <a:cs typeface="Times New Roman" panose="02020603050405020304" pitchFamily="18" charset="0"/>
              </a:rPr>
              <a:t>2</a:t>
            </a:r>
            <a:endParaRPr sz="2800" b="1" dirty="0">
              <a:solidFill>
                <a:srgbClr val="3A5B9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87FA83C-0D6A-C8AC-85DB-B04D91A4027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15579" y="1138476"/>
            <a:ext cx="2642288" cy="2578556"/>
          </a:xfrm>
          <a:prstGeom prst="rect">
            <a:avLst/>
          </a:prstGeom>
        </p:spPr>
      </p:pic>
      <p:pic>
        <p:nvPicPr>
          <p:cNvPr id="7" name="Picture 6">
            <a:extLst>
              <a:ext uri="{FF2B5EF4-FFF2-40B4-BE49-F238E27FC236}">
                <a16:creationId xmlns:a16="http://schemas.microsoft.com/office/drawing/2014/main" id="{3BB8D665-32CD-3D8B-CE34-A77F6CD97B2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72000" y="3717032"/>
            <a:ext cx="4085867" cy="2579620"/>
          </a:xfrm>
          <a:prstGeom prst="rect">
            <a:avLst/>
          </a:prstGeom>
        </p:spPr>
      </p:pic>
      <p:pic>
        <p:nvPicPr>
          <p:cNvPr id="15" name="Picture 14">
            <a:extLst>
              <a:ext uri="{FF2B5EF4-FFF2-40B4-BE49-F238E27FC236}">
                <a16:creationId xmlns:a16="http://schemas.microsoft.com/office/drawing/2014/main" id="{ADCAEF31-9D0F-CE34-D8D5-438883036C2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47241" y="1138476"/>
            <a:ext cx="2649517" cy="2578556"/>
          </a:xfrm>
          <a:prstGeom prst="rect">
            <a:avLst/>
          </a:prstGeom>
        </p:spPr>
      </p:pic>
    </p:spTree>
    <p:extLst>
      <p:ext uri="{BB962C8B-B14F-4D97-AF65-F5344CB8AC3E}">
        <p14:creationId xmlns:p14="http://schemas.microsoft.com/office/powerpoint/2010/main" val="2013556864"/>
      </p:ext>
    </p:extLst>
  </p:cSld>
  <p:clrMapOvr>
    <a:masterClrMapping/>
  </p:clrMapOvr>
  <p:transition advTm="5000">
    <p:wheel spokes="2"/>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1560" y="673403"/>
            <a:ext cx="7040880" cy="461665"/>
          </a:xfrm>
          <a:prstGeom prst="rect">
            <a:avLst/>
          </a:prstGeom>
          <a:noFill/>
        </p:spPr>
        <p:txBody>
          <a:bodyPr wrap="square">
            <a:spAutoFit/>
          </a:bodyPr>
          <a:lstStyle/>
          <a:p>
            <a:pPr algn="ctr"/>
            <a:r>
              <a:rPr sz="2400" b="1" dirty="0">
                <a:solidFill>
                  <a:srgbClr val="3A5B91"/>
                </a:solidFill>
                <a:latin typeface="Times New Roman" panose="02020603050405020304" pitchFamily="18" charset="0"/>
                <a:cs typeface="Times New Roman" panose="02020603050405020304" pitchFamily="18" charset="0"/>
              </a:rPr>
              <a:t>Process Flow Diagram</a:t>
            </a:r>
          </a:p>
        </p:txBody>
      </p:sp>
      <p:pic>
        <p:nvPicPr>
          <p:cNvPr id="9" name="Picture 8">
            <a:extLst>
              <a:ext uri="{FF2B5EF4-FFF2-40B4-BE49-F238E27FC236}">
                <a16:creationId xmlns:a16="http://schemas.microsoft.com/office/drawing/2014/main" id="{46E0EBB4-DEBC-60A7-29E8-ED0A74AE66EF}"/>
              </a:ext>
            </a:extLst>
          </p:cNvPr>
          <p:cNvPicPr>
            <a:picLocks noChangeAspect="1"/>
          </p:cNvPicPr>
          <p:nvPr/>
        </p:nvPicPr>
        <p:blipFill>
          <a:blip r:embed="rId2">
            <a:extLst>
              <a:ext uri="{28A0092B-C50C-407E-A947-70E740481C1C}">
                <a14:useLocalDpi xmlns:a14="http://schemas.microsoft.com/office/drawing/2010/main" val="0"/>
              </a:ext>
            </a:extLst>
          </a:blip>
          <a:srcRect t="4078" b="7571"/>
          <a:stretch>
            <a:fillRect/>
          </a:stretch>
        </p:blipFill>
        <p:spPr>
          <a:xfrm>
            <a:off x="539552" y="1124744"/>
            <a:ext cx="8064896" cy="5328591"/>
          </a:xfrm>
          <a:prstGeom prst="rect">
            <a:avLst/>
          </a:prstGeom>
        </p:spPr>
      </p:pic>
    </p:spTree>
    <p:extLst>
      <p:ext uri="{BB962C8B-B14F-4D97-AF65-F5344CB8AC3E}">
        <p14:creationId xmlns:p14="http://schemas.microsoft.com/office/powerpoint/2010/main" val="1919646332"/>
      </p:ext>
    </p:extLst>
  </p:cSld>
  <p:clrMapOvr>
    <a:masterClrMapping/>
  </p:clrMapOvr>
  <mc:AlternateContent xmlns:mc="http://schemas.openxmlformats.org/markup-compatibility/2006" xmlns:p14="http://schemas.microsoft.com/office/powerpoint/2010/main">
    <mc:Choice Requires="p14">
      <p:transition p14:dur="0" advTm="5000"/>
    </mc:Choice>
    <mc:Fallback xmlns="">
      <p:transition advTm="5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1559" y="764704"/>
            <a:ext cx="7040880" cy="523220"/>
          </a:xfrm>
          <a:prstGeom prst="rect">
            <a:avLst/>
          </a:prstGeom>
          <a:noFill/>
        </p:spPr>
        <p:txBody>
          <a:bodyPr wrap="square">
            <a:spAutoFit/>
          </a:bodyPr>
          <a:lstStyle/>
          <a:p>
            <a:pPr algn="ctr"/>
            <a:r>
              <a:rPr sz="2800" b="1" dirty="0">
                <a:solidFill>
                  <a:srgbClr val="3A5B91"/>
                </a:solidFill>
                <a:latin typeface="Times New Roman" panose="02020603050405020304" pitchFamily="18" charset="0"/>
                <a:cs typeface="Times New Roman" panose="02020603050405020304" pitchFamily="18" charset="0"/>
              </a:rPr>
              <a:t>SDLC</a:t>
            </a:r>
          </a:p>
        </p:txBody>
      </p:sp>
      <p:pic>
        <p:nvPicPr>
          <p:cNvPr id="4" name="Picture 3">
            <a:extLst>
              <a:ext uri="{FF2B5EF4-FFF2-40B4-BE49-F238E27FC236}">
                <a16:creationId xmlns:a16="http://schemas.microsoft.com/office/drawing/2014/main" id="{7B576956-F450-E278-D65F-88EB3BC48E6E}"/>
              </a:ext>
            </a:extLst>
          </p:cNvPr>
          <p:cNvPicPr>
            <a:picLocks noChangeAspect="1"/>
          </p:cNvPicPr>
          <p:nvPr/>
        </p:nvPicPr>
        <p:blipFill>
          <a:blip r:embed="rId2"/>
          <a:stretch>
            <a:fillRect/>
          </a:stretch>
        </p:blipFill>
        <p:spPr>
          <a:xfrm>
            <a:off x="791579" y="1287924"/>
            <a:ext cx="7560840" cy="4938188"/>
          </a:xfrm>
          <a:prstGeom prst="rect">
            <a:avLst/>
          </a:prstGeom>
        </p:spPr>
      </p:pic>
    </p:spTree>
    <p:extLst>
      <p:ext uri="{BB962C8B-B14F-4D97-AF65-F5344CB8AC3E}">
        <p14:creationId xmlns:p14="http://schemas.microsoft.com/office/powerpoint/2010/main" val="4031927809"/>
      </p:ext>
    </p:extLst>
  </p:cSld>
  <p:clrMapOvr>
    <a:masterClrMapping/>
  </p:clrMapOvr>
  <mc:AlternateContent xmlns:mc="http://schemas.openxmlformats.org/markup-compatibility/2006" xmlns:p14="http://schemas.microsoft.com/office/powerpoint/2010/main">
    <mc:Choice Requires="p14">
      <p:transition p14:dur="0" advTm="5000"/>
    </mc:Choice>
    <mc:Fallback xmlns="">
      <p:transition advTm="5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vidssave.com Hamster baby boo 720P">
            <a:hlinkClick r:id="" action="ppaction://media"/>
            <a:extLst>
              <a:ext uri="{FF2B5EF4-FFF2-40B4-BE49-F238E27FC236}">
                <a16:creationId xmlns:a16="http://schemas.microsoft.com/office/drawing/2014/main" id="{B623C7EC-7733-492D-28DB-80DF6A560F71}"/>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467544" y="1196752"/>
            <a:ext cx="8208912" cy="4464496"/>
          </a:xfrm>
        </p:spPr>
      </p:pic>
    </p:spTree>
    <p:extLst>
      <p:ext uri="{BB962C8B-B14F-4D97-AF65-F5344CB8AC3E}">
        <p14:creationId xmlns:p14="http://schemas.microsoft.com/office/powerpoint/2010/main" val="610855369"/>
      </p:ext>
    </p:extLst>
  </p:cSld>
  <p:clrMapOvr>
    <a:masterClrMapping/>
  </p:clrMapOvr>
  <mc:AlternateContent xmlns:mc="http://schemas.openxmlformats.org/markup-compatibility/2006" xmlns:p14="http://schemas.microsoft.com/office/powerpoint/2010/main">
    <mc:Choice Requires="p14">
      <p:transition p14:dur="0" advTm="5000"/>
    </mc:Choice>
    <mc:Fallback xmlns="">
      <p:transition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76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1155</TotalTime>
  <Words>3764</Words>
  <Application>Microsoft Office PowerPoint</Application>
  <PresentationFormat>On-screen Show (4:3)</PresentationFormat>
  <Paragraphs>1040</Paragraphs>
  <Slides>35</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Century Gothic</vt:lpstr>
      <vt:lpstr>Times New Roman</vt:lpstr>
      <vt:lpstr>Wingdings 2</vt:lpstr>
      <vt:lpstr>Austin</vt:lpstr>
      <vt:lpstr>Project Progress Report Presentation </vt:lpstr>
      <vt:lpstr>Content</vt:lpstr>
      <vt:lpstr>Introduction</vt:lpstr>
      <vt:lpstr>Proposed Technology</vt:lpstr>
      <vt:lpstr>Preliminary Investigation</vt:lpstr>
      <vt:lpstr>PowerPoint Presentation</vt:lpstr>
      <vt:lpstr>Feasibility Study</vt:lpstr>
      <vt:lpstr>Requirement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Project on “xyz”</dc:title>
  <dc:creator>Admin</dc:creator>
  <cp:lastModifiedBy>Gunjan Patel</cp:lastModifiedBy>
  <cp:revision>128</cp:revision>
  <dcterms:created xsi:type="dcterms:W3CDTF">2017-11-15T06:52:35Z</dcterms:created>
  <dcterms:modified xsi:type="dcterms:W3CDTF">2026-10-09T03:56:56Z</dcterms:modified>
</cp:coreProperties>
</file>